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6" r:id="rId2"/>
    <p:sldId id="2061" r:id="rId3"/>
    <p:sldId id="288" r:id="rId4"/>
    <p:sldId id="289" r:id="rId5"/>
    <p:sldId id="260" r:id="rId6"/>
    <p:sldId id="293" r:id="rId7"/>
    <p:sldId id="317" r:id="rId8"/>
    <p:sldId id="273" r:id="rId9"/>
    <p:sldId id="320" r:id="rId10"/>
    <p:sldId id="274" r:id="rId11"/>
    <p:sldId id="275" r:id="rId12"/>
    <p:sldId id="271" r:id="rId13"/>
    <p:sldId id="281" r:id="rId14"/>
    <p:sldId id="282" r:id="rId15"/>
    <p:sldId id="283" r:id="rId16"/>
    <p:sldId id="284" r:id="rId17"/>
    <p:sldId id="285" r:id="rId18"/>
    <p:sldId id="290" r:id="rId19"/>
    <p:sldId id="291" r:id="rId20"/>
    <p:sldId id="292" r:id="rId21"/>
    <p:sldId id="321" r:id="rId22"/>
    <p:sldId id="294" r:id="rId23"/>
    <p:sldId id="295" r:id="rId24"/>
    <p:sldId id="296" r:id="rId25"/>
    <p:sldId id="2063" r:id="rId26"/>
    <p:sldId id="297" r:id="rId27"/>
    <p:sldId id="267" r:id="rId28"/>
    <p:sldId id="2064" r:id="rId29"/>
    <p:sldId id="2065" r:id="rId30"/>
    <p:sldId id="2066" r:id="rId31"/>
    <p:sldId id="2067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2F2F2"/>
    <a:srgbClr val="EC7C30"/>
    <a:srgbClr val="0E60AC"/>
    <a:srgbClr val="EB7020"/>
    <a:srgbClr val="FBE6E1"/>
    <a:srgbClr val="FCEDEA"/>
    <a:srgbClr val="D8EBFC"/>
    <a:srgbClr val="DA64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0"/>
            <a:ext cx="3641036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814192"/>
            <a:ext cx="4509370" cy="5235878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3600"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23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4" name="Title 15"/>
          <p:cNvSpPr>
            <a:spLocks noGrp="1"/>
          </p:cNvSpPr>
          <p:nvPr>
            <p:ph type="title" hasCustomPrompt="1"/>
          </p:nvPr>
        </p:nvSpPr>
        <p:spPr>
          <a:xfrm>
            <a:off x="4968465" y="1610316"/>
            <a:ext cx="6385335" cy="2024109"/>
          </a:xfrm>
          <a:prstGeom prst="rect">
            <a:avLst/>
          </a:prstGeom>
        </p:spPr>
        <p:txBody>
          <a:bodyPr anchor="t"/>
          <a:lstStyle>
            <a:lvl1pPr>
              <a:defRPr sz="5400" b="1" baseline="0">
                <a:solidFill>
                  <a:srgbClr val="0E60AC"/>
                </a:solidFill>
                <a:latin typeface="Tw Cen MT" panose="020B0602020104020603" pitchFamily="34" charset="0"/>
              </a:defRPr>
            </a:lvl1pPr>
          </a:lstStyle>
          <a:p>
            <a:r>
              <a:rPr lang="en-US" dirty="0"/>
              <a:t>Nama Mata </a:t>
            </a:r>
            <a:r>
              <a:rPr lang="en-US" dirty="0" err="1"/>
              <a:t>Kuliah</a:t>
            </a:r>
            <a:endParaRPr lang="en-US" dirty="0"/>
          </a:p>
        </p:txBody>
      </p:sp>
      <p:sp>
        <p:nvSpPr>
          <p:cNvPr id="15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4968465" y="4539512"/>
            <a:ext cx="6385335" cy="1212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aseline="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</a:defRPr>
            </a:lvl1pPr>
          </a:lstStyle>
          <a:p>
            <a:pPr lvl="0"/>
            <a:r>
              <a:rPr lang="en-US" dirty="0" err="1"/>
              <a:t>Topik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RPS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15" hasCustomPrompt="1"/>
          </p:nvPr>
        </p:nvSpPr>
        <p:spPr>
          <a:xfrm>
            <a:off x="4968465" y="4034457"/>
            <a:ext cx="3642135" cy="425950"/>
          </a:xfrm>
        </p:spPr>
        <p:txBody>
          <a:bodyPr>
            <a:noAutofit/>
          </a:bodyPr>
          <a:lstStyle>
            <a:lvl1pPr marL="0" indent="0">
              <a:buNone/>
              <a:defRPr sz="2800" b="1" baseline="0">
                <a:solidFill>
                  <a:srgbClr val="EC7C30"/>
                </a:solidFill>
              </a:defRPr>
            </a:lvl1pPr>
          </a:lstStyle>
          <a:p>
            <a:pPr lvl="0"/>
            <a:r>
              <a:rPr lang="en-US" dirty="0" err="1"/>
              <a:t>Sesi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…</a:t>
            </a:r>
          </a:p>
        </p:txBody>
      </p:sp>
      <p:sp>
        <p:nvSpPr>
          <p:cNvPr id="19" name="Rounded Rectangle 18"/>
          <p:cNvSpPr/>
          <p:nvPr userDrawn="1"/>
        </p:nvSpPr>
        <p:spPr>
          <a:xfrm>
            <a:off x="4968465" y="3811581"/>
            <a:ext cx="1659545" cy="45719"/>
          </a:xfrm>
          <a:prstGeom prst="roundRect">
            <a:avLst/>
          </a:prstGeom>
          <a:solidFill>
            <a:srgbClr val="EC7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16" hasCustomPrompt="1"/>
          </p:nvPr>
        </p:nvSpPr>
        <p:spPr>
          <a:xfrm>
            <a:off x="4968464" y="1105261"/>
            <a:ext cx="3642135" cy="425950"/>
          </a:xfrm>
        </p:spPr>
        <p:txBody>
          <a:bodyPr>
            <a:noAutofit/>
          </a:bodyPr>
          <a:lstStyle>
            <a:lvl1pPr marL="0" indent="0">
              <a:buNone/>
              <a:defRPr sz="2800" b="1" baseline="0">
                <a:solidFill>
                  <a:srgbClr val="EC7C30"/>
                </a:solidFill>
              </a:defRPr>
            </a:lvl1pPr>
          </a:lstStyle>
          <a:p>
            <a:pPr lvl="0"/>
            <a:r>
              <a:rPr lang="en-US" dirty="0" err="1"/>
              <a:t>Kode</a:t>
            </a:r>
            <a:r>
              <a:rPr lang="en-US" dirty="0"/>
              <a:t> Mata </a:t>
            </a:r>
            <a:r>
              <a:rPr lang="en-US" dirty="0" err="1"/>
              <a:t>Kuliah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498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 flipH="1">
            <a:off x="7384744" y="0"/>
            <a:ext cx="4807256" cy="6858000"/>
          </a:xfrm>
          <a:prstGeom prst="flowChartDelay">
            <a:avLst/>
          </a:prstGeo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3600"/>
            </a:lvl1pPr>
          </a:lstStyle>
          <a:p>
            <a:r>
              <a:rPr lang="en-US" dirty="0"/>
              <a:t>Insert Picture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159779" y="171572"/>
            <a:ext cx="1971606" cy="729735"/>
            <a:chOff x="648649" y="653143"/>
            <a:chExt cx="2138362" cy="791455"/>
          </a:xfrm>
        </p:grpSpPr>
        <p:sp>
          <p:nvSpPr>
            <p:cNvPr id="4" name="Rounded Rectangle 3"/>
            <p:cNvSpPr/>
            <p:nvPr userDrawn="1"/>
          </p:nvSpPr>
          <p:spPr>
            <a:xfrm>
              <a:off x="648649" y="653143"/>
              <a:ext cx="2138362" cy="79145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" name="Picture 2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</p:spPr>
        </p:pic>
      </p:grpSp>
      <p:sp>
        <p:nvSpPr>
          <p:cNvPr id="12" name="Title 15"/>
          <p:cNvSpPr>
            <a:spLocks noGrp="1"/>
          </p:cNvSpPr>
          <p:nvPr>
            <p:ph type="title" hasCustomPrompt="1"/>
          </p:nvPr>
        </p:nvSpPr>
        <p:spPr>
          <a:xfrm>
            <a:off x="588970" y="1773946"/>
            <a:ext cx="6385335" cy="2024109"/>
          </a:xfrm>
          <a:prstGeom prst="rect">
            <a:avLst/>
          </a:prstGeom>
        </p:spPr>
        <p:txBody>
          <a:bodyPr anchor="t"/>
          <a:lstStyle>
            <a:lvl1pPr>
              <a:defRPr sz="5400" b="1" baseline="0"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r>
              <a:rPr lang="en-US" dirty="0"/>
              <a:t>Nama Mata </a:t>
            </a:r>
            <a:r>
              <a:rPr lang="en-US" dirty="0" err="1"/>
              <a:t>Kuliah</a:t>
            </a:r>
            <a:endParaRPr lang="en-US" dirty="0"/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588970" y="4703142"/>
            <a:ext cx="6385335" cy="1212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aseline="0"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pPr lvl="0"/>
            <a:r>
              <a:rPr lang="en-US" dirty="0" err="1"/>
              <a:t>Topik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RPS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15" hasCustomPrompt="1"/>
          </p:nvPr>
        </p:nvSpPr>
        <p:spPr>
          <a:xfrm>
            <a:off x="588970" y="4198087"/>
            <a:ext cx="3642135" cy="425950"/>
          </a:xfrm>
        </p:spPr>
        <p:txBody>
          <a:bodyPr>
            <a:noAutofit/>
          </a:bodyPr>
          <a:lstStyle>
            <a:lvl1pPr marL="0" indent="0">
              <a:buNone/>
              <a:defRPr sz="2800" b="1" baseline="0">
                <a:solidFill>
                  <a:srgbClr val="FFC000"/>
                </a:solidFill>
              </a:defRPr>
            </a:lvl1pPr>
          </a:lstStyle>
          <a:p>
            <a:pPr lvl="0"/>
            <a:r>
              <a:rPr lang="en-US" dirty="0" err="1"/>
              <a:t>Sesi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…</a:t>
            </a:r>
          </a:p>
        </p:txBody>
      </p:sp>
      <p:sp>
        <p:nvSpPr>
          <p:cNvPr id="17" name="Rounded Rectangle 16"/>
          <p:cNvSpPr/>
          <p:nvPr userDrawn="1"/>
        </p:nvSpPr>
        <p:spPr>
          <a:xfrm>
            <a:off x="588970" y="3975211"/>
            <a:ext cx="1659545" cy="4571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16" hasCustomPrompt="1"/>
          </p:nvPr>
        </p:nvSpPr>
        <p:spPr>
          <a:xfrm>
            <a:off x="588969" y="1268891"/>
            <a:ext cx="3642135" cy="425950"/>
          </a:xfrm>
        </p:spPr>
        <p:txBody>
          <a:bodyPr>
            <a:noAutofit/>
          </a:bodyPr>
          <a:lstStyle>
            <a:lvl1pPr marL="0" indent="0">
              <a:buNone/>
              <a:defRPr sz="2800" b="1" baseline="0">
                <a:solidFill>
                  <a:srgbClr val="FFC000"/>
                </a:solidFill>
              </a:defRPr>
            </a:lvl1pPr>
          </a:lstStyle>
          <a:p>
            <a:pPr lvl="0"/>
            <a:r>
              <a:rPr lang="en-US" dirty="0" err="1"/>
              <a:t>Kode</a:t>
            </a:r>
            <a:r>
              <a:rPr lang="en-US" dirty="0"/>
              <a:t> Mata </a:t>
            </a:r>
            <a:r>
              <a:rPr lang="en-US" dirty="0" err="1"/>
              <a:t>Kuliah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475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en Pengamp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3641036" cy="6858000"/>
          </a:xfrm>
          <a:prstGeom prst="rect">
            <a:avLst/>
          </a:prstGeom>
          <a:solidFill>
            <a:srgbClr val="EB7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1745563" y="1842892"/>
            <a:ext cx="3063907" cy="306390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800" baseline="0"/>
            </a:lvl1pPr>
          </a:lstStyle>
          <a:p>
            <a:r>
              <a:rPr lang="en-US" dirty="0" err="1"/>
              <a:t>Foto</a:t>
            </a:r>
            <a:r>
              <a:rPr lang="en-US" dirty="0"/>
              <a:t> </a:t>
            </a:r>
            <a:r>
              <a:rPr lang="en-US" dirty="0" err="1"/>
              <a:t>Dosen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5154979" y="2275496"/>
            <a:ext cx="6198821" cy="406777"/>
          </a:xfrm>
        </p:spPr>
        <p:txBody>
          <a:bodyPr/>
          <a:lstStyle>
            <a:lvl1pPr marL="0" indent="0">
              <a:buNone/>
              <a:defRPr b="1" baseline="0">
                <a:solidFill>
                  <a:srgbClr val="0E60AC"/>
                </a:solidFill>
              </a:defRPr>
            </a:lvl1pPr>
          </a:lstStyle>
          <a:p>
            <a:pPr lvl="0"/>
            <a:r>
              <a:rPr lang="en-US" dirty="0"/>
              <a:t>Nama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Gelar</a:t>
            </a:r>
            <a:r>
              <a:rPr lang="en-US" dirty="0"/>
              <a:t> </a:t>
            </a:r>
            <a:r>
              <a:rPr lang="en-US" dirty="0" err="1"/>
              <a:t>Dosen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4" name="Title 1"/>
          <p:cNvSpPr txBox="1">
            <a:spLocks/>
          </p:cNvSpPr>
          <p:nvPr userDrawn="1"/>
        </p:nvSpPr>
        <p:spPr>
          <a:xfrm>
            <a:off x="5164108" y="1988095"/>
            <a:ext cx="3127989" cy="273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r>
              <a:rPr lang="en-US" sz="2000" dirty="0" err="1"/>
              <a:t>Dosen</a:t>
            </a:r>
            <a:r>
              <a:rPr lang="en-US" sz="2000" dirty="0"/>
              <a:t> </a:t>
            </a:r>
            <a:r>
              <a:rPr lang="en-US" sz="2000" dirty="0" err="1"/>
              <a:t>Koordinator</a:t>
            </a:r>
            <a:r>
              <a:rPr lang="en-US" sz="2000" dirty="0"/>
              <a:t>: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5154979" y="3176643"/>
            <a:ext cx="6198821" cy="406777"/>
          </a:xfrm>
        </p:spPr>
        <p:txBody>
          <a:bodyPr/>
          <a:lstStyle>
            <a:lvl1pPr marL="0" indent="0">
              <a:buNone/>
              <a:defRPr b="1" baseline="0">
                <a:solidFill>
                  <a:srgbClr val="0E60AC"/>
                </a:solidFill>
              </a:defRPr>
            </a:lvl1pPr>
          </a:lstStyle>
          <a:p>
            <a:pPr lvl="0"/>
            <a:r>
              <a:rPr lang="en-US" dirty="0"/>
              <a:t>NID</a:t>
            </a:r>
          </a:p>
        </p:txBody>
      </p:sp>
      <p:sp>
        <p:nvSpPr>
          <p:cNvPr id="16" name="Title 1"/>
          <p:cNvSpPr txBox="1">
            <a:spLocks/>
          </p:cNvSpPr>
          <p:nvPr userDrawn="1"/>
        </p:nvSpPr>
        <p:spPr>
          <a:xfrm>
            <a:off x="5164108" y="2889242"/>
            <a:ext cx="3127989" cy="273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r>
              <a:rPr lang="en-US" sz="2000" dirty="0"/>
              <a:t>NID: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5154979" y="4077790"/>
            <a:ext cx="6198821" cy="406777"/>
          </a:xfrm>
        </p:spPr>
        <p:txBody>
          <a:bodyPr/>
          <a:lstStyle>
            <a:lvl1pPr marL="0" indent="0">
              <a:buNone/>
              <a:defRPr b="1" baseline="0">
                <a:solidFill>
                  <a:srgbClr val="0E60AC"/>
                </a:solidFill>
              </a:defRPr>
            </a:lvl1pPr>
          </a:lstStyle>
          <a:p>
            <a:pPr lvl="0"/>
            <a:r>
              <a:rPr lang="en-US" dirty="0"/>
              <a:t>E-mail</a:t>
            </a:r>
          </a:p>
        </p:txBody>
      </p:sp>
      <p:sp>
        <p:nvSpPr>
          <p:cNvPr id="18" name="Title 1"/>
          <p:cNvSpPr txBox="1">
            <a:spLocks/>
          </p:cNvSpPr>
          <p:nvPr userDrawn="1"/>
        </p:nvSpPr>
        <p:spPr>
          <a:xfrm>
            <a:off x="5164108" y="3790389"/>
            <a:ext cx="3127989" cy="273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r>
              <a:rPr lang="en-US" sz="2000" dirty="0"/>
              <a:t>E-mail:</a:t>
            </a:r>
          </a:p>
        </p:txBody>
      </p:sp>
    </p:spTree>
    <p:extLst>
      <p:ext uri="{BB962C8B-B14F-4D97-AF65-F5344CB8AC3E}">
        <p14:creationId xmlns:p14="http://schemas.microsoft.com/office/powerpoint/2010/main" val="432422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k (Sebelum U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640237" y="1899390"/>
            <a:ext cx="2542295" cy="1567543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801277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01277" y="1962504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3432142" y="1899390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593182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3593182" y="1962504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6226616" y="1899390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387656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6387656" y="1962504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9018521" y="1899390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9179561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9179561" y="1962504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640237" y="3771083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801277" y="4266643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801277" y="3834197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3432142" y="3771083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16" hasCustomPrompt="1"/>
          </p:nvPr>
        </p:nvSpPr>
        <p:spPr>
          <a:xfrm>
            <a:off x="3593182" y="4266643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23" name="TextBox 22"/>
          <p:cNvSpPr txBox="1"/>
          <p:nvPr userDrawn="1"/>
        </p:nvSpPr>
        <p:spPr>
          <a:xfrm>
            <a:off x="3593182" y="3834197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6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6226616" y="3771083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387656" y="4266643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26" name="TextBox 25"/>
          <p:cNvSpPr txBox="1"/>
          <p:nvPr userDrawn="1"/>
        </p:nvSpPr>
        <p:spPr>
          <a:xfrm>
            <a:off x="6387656" y="3834197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9018521" y="3771083"/>
            <a:ext cx="2542295" cy="1567543"/>
          </a:xfrm>
          <a:prstGeom prst="rect">
            <a:avLst/>
          </a:prstGeom>
          <a:solidFill>
            <a:srgbClr val="EB7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 userDrawn="1"/>
        </p:nvSpPr>
        <p:spPr>
          <a:xfrm>
            <a:off x="9179561" y="4139355"/>
            <a:ext cx="18827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chemeClr val="bg1"/>
                </a:solidFill>
              </a:rPr>
              <a:t>Ujian</a:t>
            </a:r>
            <a:r>
              <a:rPr lang="en-US" sz="2400" b="1" dirty="0">
                <a:solidFill>
                  <a:schemeClr val="bg1"/>
                </a:solidFill>
              </a:rPr>
              <a:t> Tengah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Semester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571756" y="804529"/>
            <a:ext cx="382489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err="1"/>
              <a:t>Topik</a:t>
            </a:r>
            <a:r>
              <a:rPr lang="en-US" sz="3600" b="1" dirty="0"/>
              <a:t> </a:t>
            </a:r>
            <a:r>
              <a:rPr lang="en-US" sz="3600" b="1" dirty="0" err="1"/>
              <a:t>Sebelum</a:t>
            </a:r>
            <a:r>
              <a:rPr lang="en-US" sz="3600" b="1" dirty="0"/>
              <a:t> UTS</a:t>
            </a:r>
          </a:p>
        </p:txBody>
      </p:sp>
    </p:spTree>
    <p:extLst>
      <p:ext uri="{BB962C8B-B14F-4D97-AF65-F5344CB8AC3E}">
        <p14:creationId xmlns:p14="http://schemas.microsoft.com/office/powerpoint/2010/main" val="772457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k (Sebelum UA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640237" y="1899390"/>
            <a:ext cx="2542295" cy="1567543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801277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01277" y="1962504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3432142" y="1899390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593182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3593182" y="1962504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9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6226616" y="1899390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387656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6387656" y="1962504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9018521" y="1899390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9179561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9179561" y="1962504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11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640237" y="3771083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801277" y="4266643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801277" y="3834197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12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3432142" y="3771083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16" hasCustomPrompt="1"/>
          </p:nvPr>
        </p:nvSpPr>
        <p:spPr>
          <a:xfrm>
            <a:off x="3593182" y="4266643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23" name="TextBox 22"/>
          <p:cNvSpPr txBox="1"/>
          <p:nvPr userDrawn="1"/>
        </p:nvSpPr>
        <p:spPr>
          <a:xfrm>
            <a:off x="3593182" y="3834197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13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6226616" y="3771083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387656" y="4266643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26" name="TextBox 25"/>
          <p:cNvSpPr txBox="1"/>
          <p:nvPr userDrawn="1"/>
        </p:nvSpPr>
        <p:spPr>
          <a:xfrm>
            <a:off x="6387656" y="3834197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14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9018521" y="3771083"/>
            <a:ext cx="2542295" cy="1567543"/>
          </a:xfrm>
          <a:prstGeom prst="rect">
            <a:avLst/>
          </a:prstGeom>
          <a:solidFill>
            <a:srgbClr val="EB7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 userDrawn="1"/>
        </p:nvSpPr>
        <p:spPr>
          <a:xfrm>
            <a:off x="9179561" y="4139355"/>
            <a:ext cx="16466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chemeClr val="bg1"/>
                </a:solidFill>
              </a:rPr>
              <a:t>Ujian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Akhir</a:t>
            </a:r>
            <a:endParaRPr lang="en-US" sz="2400" b="1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Semester</a:t>
            </a:r>
          </a:p>
        </p:txBody>
      </p:sp>
      <p:sp>
        <p:nvSpPr>
          <p:cNvPr id="28" name="Rectangle 27"/>
          <p:cNvSpPr/>
          <p:nvPr userDrawn="1"/>
        </p:nvSpPr>
        <p:spPr>
          <a:xfrm>
            <a:off x="571756" y="804529"/>
            <a:ext cx="39118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err="1"/>
              <a:t>Topik</a:t>
            </a:r>
            <a:r>
              <a:rPr lang="en-US" sz="3600" b="1" dirty="0"/>
              <a:t> </a:t>
            </a:r>
            <a:r>
              <a:rPr lang="en-US" sz="3600" b="1" dirty="0" err="1"/>
              <a:t>Sebelum</a:t>
            </a:r>
            <a:r>
              <a:rPr lang="en-US" sz="3600" b="1" dirty="0"/>
              <a:t> UAS</a:t>
            </a:r>
          </a:p>
        </p:txBody>
      </p:sp>
    </p:spTree>
    <p:extLst>
      <p:ext uri="{BB962C8B-B14F-4D97-AF65-F5344CB8AC3E}">
        <p14:creationId xmlns:p14="http://schemas.microsoft.com/office/powerpoint/2010/main" val="3891212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ndahulua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 userDrawn="1"/>
        </p:nvSpPr>
        <p:spPr>
          <a:xfrm>
            <a:off x="1282045" y="716437"/>
            <a:ext cx="5555504" cy="51847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4" name="Oval 3"/>
          <p:cNvSpPr/>
          <p:nvPr userDrawn="1"/>
        </p:nvSpPr>
        <p:spPr>
          <a:xfrm>
            <a:off x="838200" y="584453"/>
            <a:ext cx="754930" cy="75493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654410" y="569942"/>
            <a:ext cx="327352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err="1"/>
              <a:t>Pendahuluan</a:t>
            </a:r>
            <a:endParaRPr lang="en-US" sz="4400" b="1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077" y="544975"/>
            <a:ext cx="665176" cy="762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902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juan Pembelajar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 userDrawn="1"/>
        </p:nvSpPr>
        <p:spPr>
          <a:xfrm>
            <a:off x="1282044" y="716437"/>
            <a:ext cx="5910035" cy="51847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4" name="Oval 3"/>
          <p:cNvSpPr/>
          <p:nvPr userDrawn="1"/>
        </p:nvSpPr>
        <p:spPr>
          <a:xfrm>
            <a:off x="838200" y="584453"/>
            <a:ext cx="754930" cy="75493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654410" y="569942"/>
            <a:ext cx="553767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err="1"/>
              <a:t>Capaian</a:t>
            </a:r>
            <a:r>
              <a:rPr lang="en-US" sz="4400" b="1" dirty="0"/>
              <a:t> </a:t>
            </a:r>
            <a:r>
              <a:rPr lang="en-US" sz="4400" b="1" dirty="0" err="1"/>
              <a:t>Pembelajaran</a:t>
            </a:r>
            <a:endParaRPr lang="en-US" sz="4400" b="1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475" y="649446"/>
            <a:ext cx="791900" cy="632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365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mponen Penilai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 userDrawn="1"/>
        </p:nvSpPr>
        <p:spPr>
          <a:xfrm>
            <a:off x="1282045" y="716437"/>
            <a:ext cx="5555504" cy="51847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4" name="Oval 3"/>
          <p:cNvSpPr/>
          <p:nvPr userDrawn="1"/>
        </p:nvSpPr>
        <p:spPr>
          <a:xfrm>
            <a:off x="838200" y="584453"/>
            <a:ext cx="754930" cy="75493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654410" y="569942"/>
            <a:ext cx="506876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err="1"/>
              <a:t>Komponen</a:t>
            </a:r>
            <a:r>
              <a:rPr lang="en-US" sz="4400" b="1" dirty="0"/>
              <a:t> </a:t>
            </a:r>
            <a:r>
              <a:rPr lang="en-US" sz="4400" b="1" dirty="0" err="1"/>
              <a:t>Penilaian</a:t>
            </a:r>
            <a:endParaRPr lang="en-US" sz="4400" b="1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012" y="616587"/>
            <a:ext cx="589305" cy="675421"/>
          </a:xfrm>
          <a:prstGeom prst="rect">
            <a:avLst/>
          </a:prstGeom>
        </p:spPr>
      </p:pic>
      <p:sp>
        <p:nvSpPr>
          <p:cNvPr id="12" name="Table Placeholder 11"/>
          <p:cNvSpPr>
            <a:spLocks noGrp="1"/>
          </p:cNvSpPr>
          <p:nvPr>
            <p:ph type="tbl" sz="quarter" idx="13"/>
          </p:nvPr>
        </p:nvSpPr>
        <p:spPr>
          <a:xfrm>
            <a:off x="3774122" y="1943100"/>
            <a:ext cx="4836478" cy="322834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865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Topi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824826"/>
            <a:ext cx="9144000" cy="176884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 err="1"/>
              <a:t>Judul</a:t>
            </a:r>
            <a:r>
              <a:rPr lang="en-US" dirty="0"/>
              <a:t> Sub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1524000" y="2843408"/>
            <a:ext cx="9144000" cy="3376417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</a:lstStyle>
          <a:p>
            <a:r>
              <a:rPr lang="en-US" dirty="0"/>
              <a:t>Insert Picture</a:t>
            </a:r>
          </a:p>
        </p:txBody>
      </p:sp>
    </p:spTree>
    <p:extLst>
      <p:ext uri="{BB962C8B-B14F-4D97-AF65-F5344CB8AC3E}">
        <p14:creationId xmlns:p14="http://schemas.microsoft.com/office/powerpoint/2010/main" val="3272612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Top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3641036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824603" y="2217851"/>
            <a:ext cx="5529197" cy="1920647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dirty="0" err="1"/>
              <a:t>Judul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Sub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499621"/>
            <a:ext cx="5316718" cy="5856730"/>
          </a:xfrm>
          <a:prstGeom prst="flowChartDelay">
            <a:avLst/>
          </a:prstGeo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2800"/>
            </a:lvl1pPr>
          </a:lstStyle>
          <a:p>
            <a:r>
              <a:rPr lang="en-US" dirty="0"/>
              <a:t>Insert Picture</a:t>
            </a:r>
          </a:p>
        </p:txBody>
      </p:sp>
    </p:spTree>
    <p:extLst>
      <p:ext uri="{BB962C8B-B14F-4D97-AF65-F5344CB8AC3E}">
        <p14:creationId xmlns:p14="http://schemas.microsoft.com/office/powerpoint/2010/main" val="2575350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389699"/>
            <a:ext cx="10515600" cy="1617924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185341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5">
                    <a:lumMod val="1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>
                <a:latin typeface="Tw Cen MT" panose="020B06020201040206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417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498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72239"/>
            <a:ext cx="5157787" cy="650450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rgbClr val="0E60AC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772239"/>
            <a:ext cx="5183188" cy="650450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rgbClr val="0E60AC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288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60120"/>
            <a:ext cx="10515600" cy="193167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071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201"/>
            <a:ext cx="10515600" cy="105706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215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4873658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107481"/>
            <a:ext cx="5900448" cy="480070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802081" y="886379"/>
            <a:ext cx="3751066" cy="1218156"/>
          </a:xfrm>
        </p:spPr>
        <p:txBody>
          <a:bodyPr anchor="b"/>
          <a:lstStyle>
            <a:lvl1pPr>
              <a:defRPr sz="3200">
                <a:solidFill>
                  <a:srgbClr val="FFC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802081" y="2264241"/>
            <a:ext cx="3751066" cy="3643945"/>
          </a:xfrm>
        </p:spPr>
        <p:txBody>
          <a:bodyPr>
            <a:normAutofit/>
          </a:bodyPr>
          <a:lstStyle>
            <a:lvl1pPr marL="0" indent="0" algn="just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78998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487365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1061967" y="466091"/>
            <a:ext cx="4066216" cy="2843046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35825" y="526915"/>
            <a:ext cx="3918815" cy="27105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817139" y="867524"/>
            <a:ext cx="4740881" cy="1218156"/>
          </a:xfrm>
        </p:spPr>
        <p:txBody>
          <a:bodyPr anchor="t"/>
          <a:lstStyle>
            <a:lvl1pPr>
              <a:defRPr sz="3200">
                <a:solidFill>
                  <a:srgbClr val="0E60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7139" y="2245386"/>
            <a:ext cx="4740881" cy="3643945"/>
          </a:xfrm>
        </p:spPr>
        <p:txBody>
          <a:bodyPr>
            <a:normAutofit/>
          </a:bodyPr>
          <a:lstStyle>
            <a:lvl1pPr marL="0" indent="0" algn="just">
              <a:buNone/>
              <a:defRPr sz="2000">
                <a:solidFill>
                  <a:schemeClr val="accent5">
                    <a:lumMod val="1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1061967" y="3560439"/>
            <a:ext cx="4066216" cy="2843046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idx="13"/>
          </p:nvPr>
        </p:nvSpPr>
        <p:spPr>
          <a:xfrm>
            <a:off x="1135825" y="3621263"/>
            <a:ext cx="3918815" cy="27105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318134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4873658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69929" y="886379"/>
            <a:ext cx="4888191" cy="502180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918477" y="886379"/>
            <a:ext cx="5280565" cy="1218156"/>
          </a:xfrm>
        </p:spPr>
        <p:txBody>
          <a:bodyPr anchor="t"/>
          <a:lstStyle>
            <a:lvl1pPr>
              <a:defRPr sz="3200">
                <a:solidFill>
                  <a:srgbClr val="0E60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5918477" y="2264241"/>
            <a:ext cx="5280565" cy="3643945"/>
          </a:xfrm>
        </p:spPr>
        <p:txBody>
          <a:bodyPr>
            <a:normAutofit/>
          </a:bodyPr>
          <a:lstStyle>
            <a:lvl1pPr marL="0" indent="0" algn="just">
              <a:buNone/>
              <a:defRPr sz="2000">
                <a:solidFill>
                  <a:schemeClr val="accent5">
                    <a:lumMod val="2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93957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Uraian Mate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40080"/>
            <a:ext cx="10515600" cy="98462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838200" y="1759637"/>
            <a:ext cx="10515600" cy="4351338"/>
          </a:xfrm>
        </p:spPr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471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770701" y="1491242"/>
            <a:ext cx="3356431" cy="34056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770701" y="605658"/>
            <a:ext cx="10851171" cy="701457"/>
          </a:xfrm>
        </p:spPr>
        <p:txBody>
          <a:bodyPr anchor="t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518071" y="1491242"/>
            <a:ext cx="3356431" cy="3405612"/>
          </a:xfrm>
        </p:spPr>
        <p:txBody>
          <a:bodyPr/>
          <a:lstStyle>
            <a:lvl1pPr marL="0" marR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</a:t>
            </a:r>
          </a:p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8265441" y="1491242"/>
            <a:ext cx="3356431" cy="3405612"/>
          </a:xfrm>
        </p:spPr>
        <p:txBody>
          <a:bodyPr/>
          <a:lstStyle>
            <a:lvl1pPr marL="0" marR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</a:t>
            </a:r>
          </a:p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770700" y="5080981"/>
            <a:ext cx="3356432" cy="1046442"/>
          </a:xfrm>
        </p:spPr>
        <p:txBody>
          <a:bodyPr>
            <a:normAutofit/>
          </a:bodyPr>
          <a:lstStyle>
            <a:lvl1pPr marL="0" indent="0" algn="ctr">
              <a:buNone/>
              <a:defRPr sz="2000" b="0" baseline="0">
                <a:solidFill>
                  <a:schemeClr val="accent5">
                    <a:lumMod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Text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4518071" y="5080981"/>
            <a:ext cx="3356432" cy="1046442"/>
          </a:xfrm>
        </p:spPr>
        <p:txBody>
          <a:bodyPr>
            <a:normAutofit/>
          </a:bodyPr>
          <a:lstStyle>
            <a:lvl1pPr marL="0" indent="0" algn="ctr">
              <a:buNone/>
              <a:defRPr sz="2000" b="0" baseline="0">
                <a:solidFill>
                  <a:schemeClr val="accent5">
                    <a:lumMod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Text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8265441" y="5080981"/>
            <a:ext cx="3356432" cy="1046442"/>
          </a:xfrm>
        </p:spPr>
        <p:txBody>
          <a:bodyPr>
            <a:normAutofit/>
          </a:bodyPr>
          <a:lstStyle>
            <a:lvl1pPr marL="0" indent="0" algn="ctr">
              <a:buNone/>
              <a:defRPr sz="2000" b="0" baseline="0">
                <a:solidFill>
                  <a:schemeClr val="accent5">
                    <a:lumMod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Text</a:t>
            </a:r>
          </a:p>
        </p:txBody>
      </p:sp>
    </p:spTree>
    <p:extLst>
      <p:ext uri="{BB962C8B-B14F-4D97-AF65-F5344CB8AC3E}">
        <p14:creationId xmlns:p14="http://schemas.microsoft.com/office/powerpoint/2010/main" val="3503587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930198" y="688159"/>
            <a:ext cx="8495847" cy="390944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1930197" y="4751111"/>
            <a:ext cx="8495850" cy="1451728"/>
          </a:xfrm>
        </p:spPr>
        <p:txBody>
          <a:bodyPr>
            <a:normAutofit/>
          </a:bodyPr>
          <a:lstStyle>
            <a:lvl1pPr marL="0" indent="0" algn="just">
              <a:buNone/>
              <a:defRPr sz="2000" b="0" baseline="0">
                <a:solidFill>
                  <a:schemeClr val="accent5">
                    <a:lumMod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Text</a:t>
            </a:r>
          </a:p>
        </p:txBody>
      </p:sp>
    </p:spTree>
    <p:extLst>
      <p:ext uri="{BB962C8B-B14F-4D97-AF65-F5344CB8AC3E}">
        <p14:creationId xmlns:p14="http://schemas.microsoft.com/office/powerpoint/2010/main" val="125753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ert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76887" y="404617"/>
            <a:ext cx="9184670" cy="701457"/>
          </a:xfrm>
        </p:spPr>
        <p:txBody>
          <a:bodyPr anchor="t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Media Placeholder 3"/>
          <p:cNvSpPr>
            <a:spLocks noGrp="1"/>
          </p:cNvSpPr>
          <p:nvPr>
            <p:ph type="media" sz="quarter" idx="13" hasCustomPrompt="1"/>
          </p:nvPr>
        </p:nvSpPr>
        <p:spPr>
          <a:xfrm>
            <a:off x="1576887" y="1319017"/>
            <a:ext cx="9184670" cy="5166377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Insert Video</a:t>
            </a:r>
          </a:p>
        </p:txBody>
      </p:sp>
    </p:spTree>
    <p:extLst>
      <p:ext uri="{BB962C8B-B14F-4D97-AF65-F5344CB8AC3E}">
        <p14:creationId xmlns:p14="http://schemas.microsoft.com/office/powerpoint/2010/main" val="3836173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934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tih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 userDrawn="1"/>
        </p:nvSpPr>
        <p:spPr>
          <a:xfrm>
            <a:off x="1282045" y="716437"/>
            <a:ext cx="5555504" cy="51847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4" name="Oval 3"/>
          <p:cNvSpPr/>
          <p:nvPr userDrawn="1"/>
        </p:nvSpPr>
        <p:spPr>
          <a:xfrm>
            <a:off x="838200" y="584453"/>
            <a:ext cx="754930" cy="75493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654410" y="569942"/>
            <a:ext cx="192398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err="1"/>
              <a:t>Latihan</a:t>
            </a:r>
            <a:endParaRPr lang="en-US" sz="4400" b="1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419" y="581911"/>
            <a:ext cx="650450" cy="745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634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ftar Pusta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 userDrawn="1"/>
        </p:nvSpPr>
        <p:spPr>
          <a:xfrm>
            <a:off x="1282045" y="716437"/>
            <a:ext cx="5555504" cy="51847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4" name="Oval 3"/>
          <p:cNvSpPr/>
          <p:nvPr userDrawn="1"/>
        </p:nvSpPr>
        <p:spPr>
          <a:xfrm>
            <a:off x="838200" y="584453"/>
            <a:ext cx="754930" cy="75493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1654410" y="569942"/>
            <a:ext cx="364074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 err="1"/>
              <a:t>Daftar</a:t>
            </a:r>
            <a:r>
              <a:rPr lang="en-US" sz="4400" b="1" dirty="0"/>
              <a:t> </a:t>
            </a:r>
            <a:r>
              <a:rPr lang="en-US" sz="4400" b="1" dirty="0" err="1"/>
              <a:t>Pustaka</a:t>
            </a:r>
            <a:endParaRPr lang="en-US" sz="4400" b="1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17" y="661014"/>
            <a:ext cx="606720" cy="62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947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nut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usiness people  clapping their hands at the meeting Premium Photo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8530"/>
          <a:stretch/>
        </p:blipFill>
        <p:spPr bwMode="auto">
          <a:xfrm>
            <a:off x="2790216" y="-5350"/>
            <a:ext cx="9401784" cy="686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/>
          <p:cNvSpPr/>
          <p:nvPr userDrawn="1"/>
        </p:nvSpPr>
        <p:spPr>
          <a:xfrm>
            <a:off x="0" y="0"/>
            <a:ext cx="3641036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 userDrawn="1"/>
        </p:nvSpPr>
        <p:spPr>
          <a:xfrm>
            <a:off x="1500193" y="1347793"/>
            <a:ext cx="4162414" cy="4162414"/>
          </a:xfrm>
          <a:prstGeom prst="ellipse">
            <a:avLst/>
          </a:prstGeom>
          <a:solidFill>
            <a:srgbClr val="EB7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2333732" y="2541902"/>
            <a:ext cx="3048000" cy="1768845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Terima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Kasih</a:t>
            </a:r>
            <a:r>
              <a:rPr lang="en-US" dirty="0"/>
              <a:t>.</a:t>
            </a:r>
          </a:p>
        </p:txBody>
      </p:sp>
      <p:grpSp>
        <p:nvGrpSpPr>
          <p:cNvPr id="7" name="Group 6"/>
          <p:cNvGrpSpPr/>
          <p:nvPr userDrawn="1"/>
        </p:nvGrpSpPr>
        <p:grpSpPr>
          <a:xfrm>
            <a:off x="159779" y="171572"/>
            <a:ext cx="1971606" cy="729735"/>
            <a:chOff x="648649" y="653143"/>
            <a:chExt cx="2138362" cy="791455"/>
          </a:xfrm>
        </p:grpSpPr>
        <p:sp>
          <p:nvSpPr>
            <p:cNvPr id="9" name="Rounded Rectangle 8"/>
            <p:cNvSpPr/>
            <p:nvPr userDrawn="1"/>
          </p:nvSpPr>
          <p:spPr>
            <a:xfrm>
              <a:off x="648649" y="653143"/>
              <a:ext cx="2138362" cy="79145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/>
            <p:cNvPicPr>
              <a:picLocks noChangeAspect="1"/>
            </p:cNvPicPr>
            <p:nvPr userDrawn="1"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29877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7824193" y="6495421"/>
            <a:ext cx="4129617" cy="333375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www.esaunggul.ac.id</a:t>
            </a:r>
          </a:p>
        </p:txBody>
      </p:sp>
    </p:spTree>
    <p:extLst>
      <p:ext uri="{BB962C8B-B14F-4D97-AF65-F5344CB8AC3E}">
        <p14:creationId xmlns:p14="http://schemas.microsoft.com/office/powerpoint/2010/main" val="93095594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392" y="764704"/>
            <a:ext cx="10972800" cy="926976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381" y="1916832"/>
            <a:ext cx="10657184" cy="4176464"/>
          </a:xfrm>
          <a:prstGeom prst="rect">
            <a:avLst/>
          </a:prstGeom>
        </p:spPr>
        <p:txBody>
          <a:bodyPr/>
          <a:lstStyle>
            <a:lvl1pPr marL="342900" indent="-342900" algn="l">
              <a:buFont typeface="Courier New" panose="02070309020205020404" pitchFamily="49" charset="0"/>
              <a:buChar char="o"/>
              <a:defRPr sz="240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42416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70264"/>
            <a:ext cx="12110720" cy="140073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991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5963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9" name="Group 8"/>
          <p:cNvGrpSpPr/>
          <p:nvPr userDrawn="1"/>
        </p:nvGrpSpPr>
        <p:grpSpPr>
          <a:xfrm>
            <a:off x="10071739" y="152987"/>
            <a:ext cx="1971606" cy="729735"/>
            <a:chOff x="648649" y="653143"/>
            <a:chExt cx="2138362" cy="791455"/>
          </a:xfrm>
        </p:grpSpPr>
        <p:sp>
          <p:nvSpPr>
            <p:cNvPr id="10" name="Rounded Rectangle 9"/>
            <p:cNvSpPr/>
            <p:nvPr userDrawn="1"/>
          </p:nvSpPr>
          <p:spPr>
            <a:xfrm>
              <a:off x="648649" y="653143"/>
              <a:ext cx="2138362" cy="79145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/>
            <p:cNvPicPr>
              <a:picLocks noChangeAspect="1"/>
            </p:cNvPicPr>
            <p:nvPr userDrawn="1"/>
          </p:nvPicPr>
          <p:blipFill rotWithShape="1">
            <a:blip r:embed="rId3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08886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80" r:id="rId2"/>
    <p:sldLayoutId id="2147483664" r:id="rId3"/>
    <p:sldLayoutId id="2147483676" r:id="rId4"/>
    <p:sldLayoutId id="2147483677" r:id="rId5"/>
    <p:sldLayoutId id="2147483674" r:id="rId6"/>
    <p:sldLayoutId id="2147483671" r:id="rId7"/>
    <p:sldLayoutId id="2147483675" r:id="rId8"/>
    <p:sldLayoutId id="2147483649" r:id="rId9"/>
    <p:sldLayoutId id="2147483665" r:id="rId10"/>
    <p:sldLayoutId id="2147483651" r:id="rId11"/>
    <p:sldLayoutId id="2147483652" r:id="rId12"/>
    <p:sldLayoutId id="2147483653" r:id="rId13"/>
    <p:sldLayoutId id="2147483654" r:id="rId14"/>
    <p:sldLayoutId id="2147483650" r:id="rId15"/>
    <p:sldLayoutId id="2147483657" r:id="rId16"/>
    <p:sldLayoutId id="2147483668" r:id="rId17"/>
    <p:sldLayoutId id="2147483678" r:id="rId18"/>
    <p:sldLayoutId id="2147483681" r:id="rId19"/>
    <p:sldLayoutId id="2147483666" r:id="rId20"/>
    <p:sldLayoutId id="2147483669" r:id="rId21"/>
    <p:sldLayoutId id="2147483667" r:id="rId22"/>
    <p:sldLayoutId id="2147483655" r:id="rId23"/>
    <p:sldLayoutId id="2147483672" r:id="rId24"/>
    <p:sldLayoutId id="2147483673" r:id="rId25"/>
    <p:sldLayoutId id="2147483663" r:id="rId26"/>
    <p:sldLayoutId id="2147483682" r:id="rId27"/>
    <p:sldLayoutId id="2147483683" r:id="rId2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E60AC"/>
          </a:solidFill>
          <a:latin typeface="Tw Cen MT" panose="020B0602020104020603" pitchFamily="34" charset="0"/>
          <a:ea typeface="+mj-ea"/>
          <a:cs typeface="+mj-cs"/>
        </a:defRPr>
      </a:lvl1pPr>
    </p:titleStyle>
    <p:bodyStyle>
      <a:lvl1pPr marL="514350" indent="-514350" algn="just" defTabSz="914400" rtl="0" eaLnBrk="1" latinLnBrk="0" hangingPunct="1">
        <a:lnSpc>
          <a:spcPct val="90000"/>
        </a:lnSpc>
        <a:spcBef>
          <a:spcPts val="1000"/>
        </a:spcBef>
        <a:buFont typeface="+mj-lt"/>
        <a:buAutoNum type="arabicPeriod"/>
        <a:defRPr sz="2200" kern="1200">
          <a:solidFill>
            <a:schemeClr val="accent5">
              <a:lumMod val="10000"/>
            </a:schemeClr>
          </a:solidFill>
          <a:latin typeface="Tw Cen MT" panose="020B0602020104020603" pitchFamily="34" charset="0"/>
          <a:ea typeface="+mn-ea"/>
          <a:cs typeface="+mn-cs"/>
        </a:defRPr>
      </a:lvl1pPr>
      <a:lvl2pPr marL="914400" indent="-457200" algn="just" defTabSz="914400" rtl="0" eaLnBrk="1" latinLnBrk="0" hangingPunct="1">
        <a:lnSpc>
          <a:spcPct val="90000"/>
        </a:lnSpc>
        <a:spcBef>
          <a:spcPts val="500"/>
        </a:spcBef>
        <a:buFont typeface="+mj-lt"/>
        <a:buAutoNum type="alphaLcPeriod"/>
        <a:defRPr sz="2200" kern="1200">
          <a:solidFill>
            <a:schemeClr val="accent5">
              <a:lumMod val="10000"/>
            </a:schemeClr>
          </a:solidFill>
          <a:latin typeface="Tw Cen MT" panose="020B0602020104020603" pitchFamily="34" charset="0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accent5">
              <a:lumMod val="10000"/>
            </a:schemeClr>
          </a:solidFill>
          <a:latin typeface="Tw Cen MT" panose="020B0602020104020603" pitchFamily="34" charset="0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accent5">
              <a:lumMod val="10000"/>
            </a:schemeClr>
          </a:solidFill>
          <a:latin typeface="Tw Cen MT" panose="020B0602020104020603" pitchFamily="34" charset="0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accent5">
              <a:lumMod val="10000"/>
            </a:schemeClr>
          </a:solidFill>
          <a:latin typeface="Tw Cen MT" panose="020B06020201040206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STRUKTUR DATA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ARRAY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 err="1"/>
              <a:t>Sesi</a:t>
            </a:r>
            <a:r>
              <a:rPr lang="en-US" dirty="0"/>
              <a:t> 2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CSF204</a:t>
            </a:r>
            <a:endParaRPr lang="en-US" dirty="0"/>
          </a:p>
        </p:txBody>
      </p:sp>
      <p:pic>
        <p:nvPicPr>
          <p:cNvPr id="24" name="Picture Placeholder 23" descr="A screen shot of a computer screen&#10;&#10;Description automatically generated">
            <a:extLst>
              <a:ext uri="{FF2B5EF4-FFF2-40B4-BE49-F238E27FC236}">
                <a16:creationId xmlns:a16="http://schemas.microsoft.com/office/drawing/2014/main" id="{DCBEFD39-E249-1A6A-95EE-8CB2C06E1E6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74" r="3297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168331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5154979" y="2248625"/>
            <a:ext cx="6198821" cy="406777"/>
          </a:xfrm>
        </p:spPr>
        <p:txBody>
          <a:bodyPr/>
          <a:lstStyle/>
          <a:p>
            <a:r>
              <a:rPr lang="en-US" dirty="0"/>
              <a:t>Dr. Rahmat Budiarsa, </a:t>
            </a:r>
            <a:r>
              <a:rPr lang="en-US" dirty="0" err="1"/>
              <a:t>S.Kom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D49BF15-A3C7-8807-54BE-DD9F243DEA0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D"/>
              <a:t>rahmat.budiarsa@esaunggul.ac.id</a:t>
            </a:r>
          </a:p>
          <a:p>
            <a:endParaRPr lang="en-ID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55CCF90-E809-9E7D-836F-C4D3D4F3AFC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ID" dirty="0"/>
              <a:t>8482</a:t>
            </a:r>
          </a:p>
          <a:p>
            <a:endParaRPr lang="en-ID" dirty="0"/>
          </a:p>
        </p:txBody>
      </p:sp>
      <p:pic>
        <p:nvPicPr>
          <p:cNvPr id="26" name="Picture Placeholder 25" descr="A person in a suit and tie&#10;&#10;AI-generated content may be incorrect.">
            <a:extLst>
              <a:ext uri="{FF2B5EF4-FFF2-40B4-BE49-F238E27FC236}">
                <a16:creationId xmlns:a16="http://schemas.microsoft.com/office/drawing/2014/main" id="{DE1D53B0-E00D-EA8D-1E4A-F8F7FAC420B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8" b="200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110284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sz="2000" i="1" dirty="0">
                <a:latin typeface="+mj-lt"/>
              </a:rPr>
              <a:t>Introduction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en-US" sz="2000" i="1" dirty="0">
                <a:latin typeface="+mj-lt"/>
              </a:rPr>
              <a:t>Array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000" i="1" dirty="0">
                <a:latin typeface="+mj-lt"/>
              </a:rPr>
              <a:t>Struct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sz="2000" i="1" dirty="0">
                <a:latin typeface="+mj-lt"/>
              </a:rPr>
              <a:t>Searching Algorithm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en-US" sz="2000" i="1" dirty="0">
                <a:latin typeface="+mj-lt"/>
              </a:rPr>
              <a:t>Sorting Algorithm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en-US" sz="2000" i="1" dirty="0">
                <a:latin typeface="+mj-lt"/>
              </a:rPr>
              <a:t>Pointer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r>
              <a:rPr lang="en-US" sz="2000" dirty="0" err="1">
                <a:latin typeface="+mj-lt"/>
              </a:rPr>
              <a:t>Fungsi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Rekursif</a:t>
            </a:r>
            <a:endParaRPr lang="en-US" sz="2000" dirty="0">
              <a:latin typeface="+mj-l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399186" y="1867301"/>
            <a:ext cx="2531165" cy="1588168"/>
          </a:xfrm>
          <a:prstGeom prst="rect">
            <a:avLst/>
          </a:prstGeom>
          <a:noFill/>
          <a:ln w="57150">
            <a:solidFill>
              <a:srgbClr val="0E60A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146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sz="2000" i="1" dirty="0">
                <a:latin typeface="+mj-lt"/>
              </a:rPr>
              <a:t>Linked List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en-US" sz="2000" i="1" dirty="0">
                <a:latin typeface="+mj-lt"/>
              </a:rPr>
              <a:t>Stack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000" i="1" dirty="0">
                <a:latin typeface="+mj-lt"/>
              </a:rPr>
              <a:t>Queue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 sz="2000" i="1" dirty="0">
                <a:latin typeface="+mj-lt"/>
              </a:rPr>
              <a:t>Tree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+mj-lt"/>
              </a:rPr>
              <a:t>Graph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+mj-lt"/>
              </a:rPr>
              <a:t>BFS dan DFS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r>
              <a:rPr lang="en-US" sz="2000" i="1" dirty="0">
                <a:latin typeface="+mj-lt"/>
              </a:rPr>
              <a:t>Dynamic Programming</a:t>
            </a:r>
          </a:p>
        </p:txBody>
      </p:sp>
    </p:spTree>
    <p:extLst>
      <p:ext uri="{BB962C8B-B14F-4D97-AF65-F5344CB8AC3E}">
        <p14:creationId xmlns:p14="http://schemas.microsoft.com/office/powerpoint/2010/main" val="3558819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fontAlgn="base">
              <a:buNone/>
            </a:pPr>
            <a:r>
              <a:rPr lang="en-US" sz="2800" dirty="0" err="1">
                <a:latin typeface="+mj-lt"/>
              </a:rPr>
              <a:t>Mahasiswa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mempu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Menerapkan</a:t>
            </a:r>
            <a:r>
              <a:rPr lang="en-US" sz="2800" dirty="0">
                <a:latin typeface="+mj-lt"/>
              </a:rPr>
              <a:t> konsep </a:t>
            </a:r>
            <a:r>
              <a:rPr lang="en-US" sz="2800" dirty="0" err="1">
                <a:latin typeface="+mj-lt"/>
              </a:rPr>
              <a:t>tipe</a:t>
            </a:r>
            <a:r>
              <a:rPr lang="en-US" sz="2800" dirty="0">
                <a:latin typeface="+mj-lt"/>
              </a:rPr>
              <a:t> data array </a:t>
            </a:r>
            <a:r>
              <a:rPr lang="en-US" sz="2800" dirty="0" err="1">
                <a:latin typeface="+mj-lt"/>
              </a:rPr>
              <a:t>untuk</a:t>
            </a:r>
            <a:r>
              <a:rPr lang="en-US" sz="2800" dirty="0">
                <a:latin typeface="+mj-lt"/>
              </a:rPr>
              <a:t> data </a:t>
            </a:r>
            <a:r>
              <a:rPr lang="en-US" sz="2800" dirty="0" err="1">
                <a:latin typeface="+mj-lt"/>
              </a:rPr>
              <a:t>majemuk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homogen</a:t>
            </a:r>
            <a:r>
              <a:rPr lang="en-US" sz="2800" dirty="0"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06059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5824603" y="2217852"/>
            <a:ext cx="5529197" cy="1532346"/>
          </a:xfrm>
        </p:spPr>
        <p:txBody>
          <a:bodyPr anchor="b">
            <a:noAutofit/>
          </a:bodyPr>
          <a:lstStyle/>
          <a:p>
            <a:r>
              <a:rPr lang="en-US" sz="5400" dirty="0" err="1"/>
              <a:t>Apa</a:t>
            </a:r>
            <a:r>
              <a:rPr lang="en-US" sz="5400" dirty="0"/>
              <a:t> </a:t>
            </a:r>
            <a:r>
              <a:rPr lang="en-US" sz="5400" dirty="0" err="1"/>
              <a:t>Itu</a:t>
            </a:r>
            <a:r>
              <a:rPr lang="en-US" sz="5400" dirty="0"/>
              <a:t> Array?</a:t>
            </a:r>
          </a:p>
        </p:txBody>
      </p:sp>
      <p:pic>
        <p:nvPicPr>
          <p:cNvPr id="5" name="Picture Placeholder 4" descr="Text&#10;&#10;Description automatically generated">
            <a:extLst>
              <a:ext uri="{FF2B5EF4-FFF2-40B4-BE49-F238E27FC236}">
                <a16:creationId xmlns:a16="http://schemas.microsoft.com/office/drawing/2014/main" id="{2B4AD9BE-9B9F-7040-FD80-C540101A13B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2" t="2739" r="61995" b="6098"/>
          <a:stretch/>
        </p:blipFill>
        <p:spPr>
          <a:xfrm>
            <a:off x="0" y="500063"/>
            <a:ext cx="5316538" cy="5856287"/>
          </a:xfrm>
          <a:prstGeom prst="flowChartDelay">
            <a:avLst/>
          </a:prstGeom>
        </p:spPr>
      </p:pic>
    </p:spTree>
    <p:extLst>
      <p:ext uri="{BB962C8B-B14F-4D97-AF65-F5344CB8AC3E}">
        <p14:creationId xmlns:p14="http://schemas.microsoft.com/office/powerpoint/2010/main" val="1522710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9B0FA-104D-E44E-BED2-7D095103E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Pendahuluan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124EF-7C8F-D94B-A343-FA1274ADA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71601"/>
            <a:ext cx="10972800" cy="4525963"/>
          </a:xfrm>
        </p:spPr>
        <p:txBody>
          <a:bodyPr/>
          <a:lstStyle/>
          <a:p>
            <a:pPr marL="0" indent="0">
              <a:buNone/>
            </a:pPr>
            <a:r>
              <a:rPr lang="en-ID" sz="2400" dirty="0" err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Apa</a:t>
            </a:r>
            <a:r>
              <a:rPr lang="en-ID" sz="24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yang </a:t>
            </a:r>
            <a:r>
              <a:rPr lang="en-ID" sz="2400" dirty="0" err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akan</a:t>
            </a:r>
            <a:r>
              <a:rPr lang="en-ID" sz="24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kamu</a:t>
            </a:r>
            <a:r>
              <a:rPr lang="en-ID" sz="24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lakukan</a:t>
            </a:r>
            <a:r>
              <a:rPr lang="en-ID" sz="24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jika</a:t>
            </a:r>
            <a:r>
              <a:rPr lang="en-ID" sz="24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diminta</a:t>
            </a:r>
            <a:r>
              <a:rPr lang="en-ID" sz="24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untuk</a:t>
            </a:r>
            <a:r>
              <a:rPr lang="en-ID" sz="24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menyimpan</a:t>
            </a:r>
            <a:r>
              <a:rPr lang="en-ID" sz="24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banyak</a:t>
            </a:r>
            <a:r>
              <a:rPr lang="en-ID" sz="24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data di program? </a:t>
            </a:r>
            <a:r>
              <a:rPr lang="en-ID" sz="2400" dirty="0" err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Misalkan</a:t>
            </a:r>
            <a:r>
              <a:rPr lang="en-ID" sz="24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kita</a:t>
            </a:r>
            <a:r>
              <a:rPr lang="en-ID" sz="24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ingin</a:t>
            </a:r>
            <a:r>
              <a:rPr lang="en-ID" sz="24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menyimpan</a:t>
            </a:r>
            <a:r>
              <a:rPr lang="en-ID" sz="24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nama-nama</a:t>
            </a:r>
            <a:r>
              <a:rPr lang="en-ID" sz="24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teman</a:t>
            </a:r>
            <a:r>
              <a:rPr lang="en-ID" sz="24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untuk</a:t>
            </a:r>
            <a:r>
              <a:rPr lang="en-ID" sz="24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data </a:t>
            </a:r>
            <a:r>
              <a:rPr lang="en-ID" sz="2400" dirty="0" err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kontak</a:t>
            </a:r>
            <a:r>
              <a:rPr lang="en-ID" sz="24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. </a:t>
            </a:r>
            <a:r>
              <a:rPr lang="en-ID" sz="2400" dirty="0" err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Mungkin</a:t>
            </a:r>
            <a:r>
              <a:rPr lang="en-ID" sz="24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saja</a:t>
            </a:r>
            <a:r>
              <a:rPr lang="en-ID" sz="24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, </a:t>
            </a:r>
            <a:r>
              <a:rPr lang="en-ID" sz="2400" dirty="0" err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kita</a:t>
            </a:r>
            <a:r>
              <a:rPr lang="en-ID" sz="24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akan</a:t>
            </a:r>
            <a:r>
              <a:rPr lang="en-ID" sz="24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menyimpannya</a:t>
            </a:r>
            <a:r>
              <a:rPr lang="en-ID" sz="24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seperti</a:t>
            </a:r>
            <a:r>
              <a:rPr lang="en-ID" sz="24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ini</a:t>
            </a:r>
            <a:r>
              <a:rPr lang="en-ID" sz="24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:</a:t>
            </a:r>
          </a:p>
          <a:p>
            <a:pPr marL="0" indent="0">
              <a:buNone/>
            </a:pPr>
            <a:r>
              <a:rPr lang="en-ID" dirty="0"/>
              <a:t/>
            </a:r>
            <a:br>
              <a:rPr lang="en-ID" dirty="0"/>
            </a:br>
            <a:endParaRPr lang="en-US" dirty="0"/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2D1FF599-52F6-7447-9D81-56569CAEB7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677" y="2709924"/>
            <a:ext cx="8990553" cy="2057399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FE87747-CD30-B1EF-0042-39910B2BF88D}"/>
              </a:ext>
            </a:extLst>
          </p:cNvPr>
          <p:cNvSpPr txBox="1">
            <a:spLocks/>
          </p:cNvSpPr>
          <p:nvPr/>
        </p:nvSpPr>
        <p:spPr>
          <a:xfrm>
            <a:off x="609600" y="4954819"/>
            <a:ext cx="10972800" cy="755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514350" indent="-51435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defRPr sz="2200" kern="1200">
                <a:solidFill>
                  <a:schemeClr val="tx1"/>
                </a:solidFill>
                <a:latin typeface="Tw Cen MT" panose="020B0602020104020603" pitchFamily="34" charset="0"/>
                <a:ea typeface="+mn-ea"/>
                <a:cs typeface="+mn-cs"/>
              </a:defRPr>
            </a:lvl1pPr>
            <a:lvl2pPr marL="914400" indent="-4572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lphaLcPeriod"/>
              <a:defRPr sz="220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D" sz="24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Hal </a:t>
            </a:r>
            <a:r>
              <a:rPr lang="en-ID" sz="2400" dirty="0" err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ini</a:t>
            </a:r>
            <a:r>
              <a:rPr lang="en-ID" sz="24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boleh-boleh</a:t>
            </a:r>
            <a:r>
              <a:rPr lang="en-ID" sz="24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saja</a:t>
            </a:r>
            <a:r>
              <a:rPr lang="en-ID" sz="24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, Akan </a:t>
            </a:r>
            <a:r>
              <a:rPr lang="en-ID" sz="2400" dirty="0" err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tetapi</a:t>
            </a:r>
            <a:r>
              <a:rPr lang="en-ID" sz="24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, </a:t>
            </a:r>
            <a:r>
              <a:rPr lang="en-ID" sz="2400" dirty="0" err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masalahnya</a:t>
            </a:r>
            <a:r>
              <a:rPr lang="en-ID" sz="24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: </a:t>
            </a:r>
            <a:r>
              <a:rPr lang="en-ID" sz="2400" dirty="0" err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Bagaimana</a:t>
            </a:r>
            <a:r>
              <a:rPr lang="en-ID" sz="24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nanti</a:t>
            </a:r>
            <a:r>
              <a:rPr lang="en-ID" sz="24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kalau</a:t>
            </a:r>
            <a:r>
              <a:rPr lang="en-ID" sz="24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ada</a:t>
            </a:r>
            <a:r>
              <a:rPr lang="en-ID" sz="24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banyak</a:t>
            </a:r>
            <a:r>
              <a:rPr lang="en-ID" sz="24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sekali</a:t>
            </a:r>
            <a:r>
              <a:rPr lang="en-ID" sz="24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data, </a:t>
            </a:r>
            <a:r>
              <a:rPr lang="en-ID" sz="2400" dirty="0" err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pasti</a:t>
            </a:r>
            <a:r>
              <a:rPr lang="en-ID" sz="24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capek</a:t>
            </a:r>
            <a:r>
              <a:rPr lang="en-ID" sz="24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bikin</a:t>
            </a:r>
            <a:r>
              <a:rPr lang="en-ID" sz="24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variabel</a:t>
            </a:r>
            <a:r>
              <a:rPr lang="en-ID" sz="24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terus</a:t>
            </a:r>
            <a:r>
              <a:rPr lang="en-ID" sz="24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? Karena </a:t>
            </a:r>
            <a:r>
              <a:rPr lang="en-ID" sz="2400" dirty="0" err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itu</a:t>
            </a:r>
            <a:r>
              <a:rPr lang="en-ID" sz="24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, </a:t>
            </a:r>
            <a:r>
              <a:rPr lang="en-ID" sz="2400" dirty="0" err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kita</a:t>
            </a:r>
            <a:r>
              <a:rPr lang="en-ID" sz="24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ID" sz="2400" dirty="0" err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membutuhkan</a:t>
            </a:r>
            <a:r>
              <a:rPr lang="en-ID" sz="24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Array.</a:t>
            </a:r>
          </a:p>
          <a:p>
            <a:endParaRPr lang="en-US" sz="2400" dirty="0">
              <a:solidFill>
                <a:srgbClr val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77000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 bwMode="auto">
          <a:xfrm>
            <a:off x="901831" y="488368"/>
            <a:ext cx="8229600" cy="65013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en-US" sz="4000" dirty="0">
                <a:latin typeface="+mj-lt"/>
                <a:cs typeface="Arial" charset="0"/>
              </a:rPr>
              <a:t>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901831" y="1219522"/>
            <a:ext cx="10522382" cy="4176712"/>
          </a:xfrm>
        </p:spPr>
        <p:txBody>
          <a:bodyPr/>
          <a:lstStyle/>
          <a:p>
            <a:pPr marL="0" indent="0">
              <a:buNone/>
            </a:pPr>
            <a:r>
              <a:rPr lang="en-ID" b="1" dirty="0" err="1">
                <a:solidFill>
                  <a:srgbClr val="000000"/>
                </a:solidFill>
                <a:latin typeface="+mj-lt"/>
              </a:rPr>
              <a:t>Apa</a:t>
            </a:r>
            <a:r>
              <a:rPr lang="en-ID" b="1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ID" b="1" dirty="0" err="1">
                <a:solidFill>
                  <a:srgbClr val="000000"/>
                </a:solidFill>
                <a:latin typeface="+mj-lt"/>
              </a:rPr>
              <a:t>itu</a:t>
            </a:r>
            <a:r>
              <a:rPr lang="en-ID" b="1" dirty="0">
                <a:solidFill>
                  <a:srgbClr val="000000"/>
                </a:solidFill>
                <a:latin typeface="+mj-lt"/>
              </a:rPr>
              <a:t> Array?</a:t>
            </a:r>
          </a:p>
          <a:p>
            <a:pPr marL="457200" indent="-457200" algn="just">
              <a:buFont typeface="+mj-lt"/>
              <a:buAutoNum type="alphaLcPeriod"/>
            </a:pPr>
            <a:r>
              <a:rPr lang="en-ID" dirty="0">
                <a:solidFill>
                  <a:srgbClr val="000000"/>
                </a:solidFill>
                <a:latin typeface="+mj-lt"/>
              </a:rPr>
              <a:t>Array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merupakan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struktur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data yang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digunakan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untuk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 </a:t>
            </a:r>
            <a:r>
              <a:rPr lang="en-ID" b="1" dirty="0" err="1">
                <a:solidFill>
                  <a:srgbClr val="000000"/>
                </a:solidFill>
                <a:latin typeface="+mj-lt"/>
              </a:rPr>
              <a:t>menyimpan</a:t>
            </a:r>
            <a:r>
              <a:rPr lang="en-ID" b="1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ID" b="1" dirty="0" err="1">
                <a:solidFill>
                  <a:srgbClr val="000000"/>
                </a:solidFill>
                <a:latin typeface="+mj-lt"/>
              </a:rPr>
              <a:t>sekumpulan</a:t>
            </a:r>
            <a:r>
              <a:rPr lang="en-ID" b="1" dirty="0">
                <a:solidFill>
                  <a:srgbClr val="000000"/>
                </a:solidFill>
                <a:latin typeface="+mj-lt"/>
              </a:rPr>
              <a:t> data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 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dalam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satu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tempat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.</a:t>
            </a:r>
          </a:p>
          <a:p>
            <a:pPr marL="457200" indent="-457200">
              <a:buFont typeface="+mj-lt"/>
              <a:buAutoNum type="alphaLcPeriod"/>
            </a:pPr>
            <a:r>
              <a:rPr lang="en-ID" dirty="0" err="1">
                <a:solidFill>
                  <a:srgbClr val="000000"/>
                </a:solidFill>
                <a:latin typeface="+mj-lt"/>
              </a:rPr>
              <a:t>Setiap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data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dalam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Array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memiliki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indeks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,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sehingga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kita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akan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mudah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memprosesnya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.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Indeks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array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selalu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dimulai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dari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angka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nol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(0).</a:t>
            </a:r>
          </a:p>
          <a:p>
            <a:pPr marL="457200" indent="-457200">
              <a:buFont typeface="+mj-lt"/>
              <a:buAutoNum type="alphaLcPeriod"/>
            </a:pPr>
            <a:r>
              <a:rPr lang="en-ID" dirty="0">
                <a:solidFill>
                  <a:srgbClr val="000000"/>
                </a:solidFill>
                <a:latin typeface="+mj-lt"/>
              </a:rPr>
              <a:t>Pada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teori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struktur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data,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ukuran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array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akan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bergantung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dari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banyaknya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data yang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disimpan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di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dalamnya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.</a:t>
            </a:r>
          </a:p>
          <a:p>
            <a:pPr marL="457200" indent="-457200">
              <a:buFont typeface="+mj-lt"/>
              <a:buAutoNum type="alphaLcPeriod"/>
            </a:pPr>
            <a:endParaRPr lang="en-ID" dirty="0">
              <a:solidFill>
                <a:srgbClr val="000000"/>
              </a:solidFill>
              <a:latin typeface="+mj-lt"/>
            </a:endParaRPr>
          </a:p>
          <a:p>
            <a:endParaRPr lang="en-US" altLang="id-ID" sz="2000" dirty="0">
              <a:solidFill>
                <a:srgbClr val="000000"/>
              </a:solidFill>
              <a:latin typeface="+mj-lt"/>
            </a:endParaRPr>
          </a:p>
        </p:txBody>
      </p:sp>
      <p:pic>
        <p:nvPicPr>
          <p:cNvPr id="4" name="Picture 3" descr="Text&#10;&#10;Description automatically generated with low confidence">
            <a:extLst>
              <a:ext uri="{FF2B5EF4-FFF2-40B4-BE49-F238E27FC236}">
                <a16:creationId xmlns:a16="http://schemas.microsoft.com/office/drawing/2014/main" id="{6CD16EFD-223F-5A46-8C07-765E462AE7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946" y="4278634"/>
            <a:ext cx="9503455" cy="135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864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1053994" y="1256356"/>
            <a:ext cx="9884082" cy="41767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id-ID" b="1" dirty="0">
                <a:solidFill>
                  <a:srgbClr val="000000"/>
                </a:solidFill>
                <a:latin typeface="+mj-lt"/>
              </a:rPr>
              <a:t>Sifat - </a:t>
            </a:r>
            <a:r>
              <a:rPr lang="en-US" altLang="id-ID" b="1" dirty="0" err="1">
                <a:solidFill>
                  <a:srgbClr val="000000"/>
                </a:solidFill>
                <a:latin typeface="+mj-lt"/>
              </a:rPr>
              <a:t>sifat</a:t>
            </a:r>
            <a:r>
              <a:rPr lang="en-US" altLang="id-ID" b="1" dirty="0">
                <a:solidFill>
                  <a:srgbClr val="000000"/>
                </a:solidFill>
                <a:latin typeface="+mj-lt"/>
              </a:rPr>
              <a:t> Array</a:t>
            </a:r>
            <a:endParaRPr lang="en-US" altLang="id-ID" dirty="0">
              <a:solidFill>
                <a:srgbClr val="000000"/>
              </a:solidFill>
              <a:latin typeface="+mj-lt"/>
            </a:endParaRPr>
          </a:p>
          <a:p>
            <a:pPr lvl="1"/>
            <a:r>
              <a:rPr lang="en-US" altLang="id-ID" sz="24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Homogen</a:t>
            </a:r>
            <a:endParaRPr lang="en-US" altLang="id-ID" sz="2400" dirty="0">
              <a:solidFill>
                <a:srgbClr val="000000"/>
              </a:solidFill>
              <a:latin typeface="+mj-lt"/>
              <a:cs typeface="Arial" panose="020B0604020202020204" pitchFamily="34" charset="0"/>
            </a:endParaRPr>
          </a:p>
          <a:p>
            <a:pPr marL="890588" lvl="2" indent="23813">
              <a:buFontTx/>
              <a:buNone/>
            </a:pPr>
            <a:r>
              <a:rPr lang="en-US" altLang="id-ID" sz="24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Seluruh</a:t>
            </a:r>
            <a:r>
              <a:rPr lang="en-US" altLang="id-ID" sz="24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altLang="id-ID" sz="24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elemen</a:t>
            </a:r>
            <a:r>
              <a:rPr lang="en-US" altLang="id-ID" sz="24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di </a:t>
            </a:r>
            <a:r>
              <a:rPr lang="en-US" altLang="id-ID" sz="24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dalam</a:t>
            </a:r>
            <a:r>
              <a:rPr lang="en-US" altLang="id-ID" sz="24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altLang="id-ID" sz="24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struktur</a:t>
            </a:r>
            <a:r>
              <a:rPr lang="en-US" altLang="id-ID" sz="24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array </a:t>
            </a:r>
            <a:r>
              <a:rPr lang="en-US" altLang="id-ID" sz="24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harus</a:t>
            </a:r>
            <a:r>
              <a:rPr lang="en-US" altLang="id-ID" sz="24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altLang="id-ID" sz="24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mempunyai</a:t>
            </a:r>
            <a:r>
              <a:rPr lang="en-US" altLang="id-ID" sz="24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altLang="id-ID" sz="24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tipe</a:t>
            </a:r>
            <a:r>
              <a:rPr lang="en-US" altLang="id-ID" sz="24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data yang </a:t>
            </a:r>
            <a:r>
              <a:rPr lang="en-US" altLang="id-ID" sz="24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sama</a:t>
            </a:r>
            <a:r>
              <a:rPr lang="en-US" altLang="id-ID" sz="24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.</a:t>
            </a:r>
          </a:p>
          <a:p>
            <a:pPr lvl="1"/>
            <a:r>
              <a:rPr lang="en-US" altLang="id-ID" sz="24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Random Access</a:t>
            </a:r>
          </a:p>
          <a:p>
            <a:pPr marL="890588" lvl="2" indent="23813">
              <a:buFontTx/>
              <a:buNone/>
            </a:pPr>
            <a:r>
              <a:rPr lang="en-US" altLang="id-ID" sz="24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Setiap</a:t>
            </a:r>
            <a:r>
              <a:rPr lang="en-US" altLang="id-ID" sz="24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altLang="id-ID" sz="24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elemen</a:t>
            </a:r>
            <a:r>
              <a:rPr lang="en-US" altLang="id-ID" sz="24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di </a:t>
            </a:r>
            <a:r>
              <a:rPr lang="en-US" altLang="id-ID" sz="24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dalam</a:t>
            </a:r>
            <a:r>
              <a:rPr lang="en-US" altLang="id-ID" sz="24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altLang="id-ID" sz="24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struktur</a:t>
            </a:r>
            <a:r>
              <a:rPr lang="en-US" altLang="id-ID" sz="24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array </a:t>
            </a:r>
            <a:r>
              <a:rPr lang="en-US" altLang="id-ID" sz="24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dapat</a:t>
            </a:r>
            <a:r>
              <a:rPr lang="en-US" altLang="id-ID" sz="24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altLang="id-ID" sz="24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dicapai</a:t>
            </a:r>
            <a:r>
              <a:rPr lang="en-US" altLang="id-ID" sz="24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altLang="id-ID" sz="24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secara</a:t>
            </a:r>
            <a:r>
              <a:rPr lang="en-US" altLang="id-ID" sz="24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individual, </a:t>
            </a:r>
            <a:r>
              <a:rPr lang="en-US" altLang="id-ID" sz="24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langsung</a:t>
            </a:r>
            <a:r>
              <a:rPr lang="en-US" altLang="id-ID" sz="24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altLang="id-ID" sz="24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ke</a:t>
            </a:r>
            <a:r>
              <a:rPr lang="en-US" altLang="id-ID" sz="24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altLang="id-ID" sz="24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lokasi</a:t>
            </a:r>
            <a:r>
              <a:rPr lang="en-US" altLang="id-ID" sz="24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altLang="id-ID" sz="24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elemen</a:t>
            </a:r>
            <a:r>
              <a:rPr lang="en-US" altLang="id-ID" sz="24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yang </a:t>
            </a:r>
            <a:r>
              <a:rPr lang="en-US" altLang="id-ID" sz="24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diinginkan</a:t>
            </a:r>
            <a:r>
              <a:rPr lang="en-US" altLang="id-ID" sz="24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, </a:t>
            </a:r>
            <a:r>
              <a:rPr lang="en-US" altLang="id-ID" sz="24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tidak</a:t>
            </a:r>
            <a:r>
              <a:rPr lang="en-US" altLang="id-ID" sz="24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altLang="id-ID" sz="24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harus</a:t>
            </a:r>
            <a:r>
              <a:rPr lang="en-US" altLang="id-ID" sz="24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altLang="id-ID" sz="24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melalui</a:t>
            </a:r>
            <a:r>
              <a:rPr lang="en-US" altLang="id-ID" sz="24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altLang="id-ID" sz="24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elemen</a:t>
            </a:r>
            <a:r>
              <a:rPr lang="en-US" altLang="id-ID" sz="24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altLang="id-ID" sz="2400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pertama</a:t>
            </a:r>
            <a:r>
              <a:rPr lang="en-US" altLang="id-ID" sz="24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BFE7A28-91E1-2C7B-C927-E4D16F3512BE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01831" y="488368"/>
            <a:ext cx="8229600" cy="65013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en-US" sz="4000" dirty="0">
                <a:latin typeface="+mj-lt"/>
                <a:cs typeface="Arial" charset="0"/>
              </a:rPr>
              <a:t>Array</a:t>
            </a:r>
          </a:p>
        </p:txBody>
      </p:sp>
    </p:spTree>
    <p:extLst>
      <p:ext uri="{BB962C8B-B14F-4D97-AF65-F5344CB8AC3E}">
        <p14:creationId xmlns:p14="http://schemas.microsoft.com/office/powerpoint/2010/main" val="712547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ctrTitle"/>
          </p:nvPr>
        </p:nvSpPr>
        <p:spPr bwMode="auto">
          <a:xfrm>
            <a:off x="5338467" y="849777"/>
            <a:ext cx="5529197" cy="97415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sz="4000" dirty="0">
                <a:latin typeface="+mj-lt"/>
                <a:cs typeface="Arial" charset="0"/>
              </a:rPr>
              <a:t>Array </a:t>
            </a:r>
            <a:r>
              <a:rPr lang="en-US" altLang="en-US" sz="4000" dirty="0" err="1">
                <a:latin typeface="+mj-lt"/>
                <a:cs typeface="Arial" charset="0"/>
              </a:rPr>
              <a:t>Dimensi</a:t>
            </a:r>
            <a:r>
              <a:rPr lang="en-US" altLang="en-US" sz="4000" dirty="0">
                <a:latin typeface="+mj-lt"/>
                <a:cs typeface="Arial" charset="0"/>
              </a:rPr>
              <a:t> Satu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4294967295"/>
          </p:nvPr>
        </p:nvSpPr>
        <p:spPr>
          <a:xfrm>
            <a:off x="5220183" y="1823936"/>
            <a:ext cx="6400799" cy="4175125"/>
          </a:xfrm>
        </p:spPr>
        <p:txBody>
          <a:bodyPr/>
          <a:lstStyle/>
          <a:p>
            <a:pPr marL="457200" indent="-457200">
              <a:lnSpc>
                <a:spcPct val="80000"/>
              </a:lnSpc>
              <a:buFont typeface="+mj-lt"/>
              <a:buAutoNum type="alphaLcPeriod"/>
            </a:pPr>
            <a:r>
              <a:rPr lang="en-US" altLang="id-ID" dirty="0" err="1">
                <a:latin typeface="+mj-lt"/>
              </a:rPr>
              <a:t>Sintaks</a:t>
            </a:r>
            <a:r>
              <a:rPr lang="en-US" altLang="id-ID" dirty="0">
                <a:latin typeface="+mj-lt"/>
              </a:rPr>
              <a:t> </a:t>
            </a:r>
            <a:r>
              <a:rPr lang="en-US" altLang="id-ID" dirty="0" err="1">
                <a:latin typeface="+mj-lt"/>
              </a:rPr>
              <a:t>deklarasi</a:t>
            </a:r>
            <a:r>
              <a:rPr lang="en-US" altLang="id-ID" dirty="0">
                <a:latin typeface="+mj-lt"/>
              </a:rPr>
              <a:t> array </a:t>
            </a:r>
            <a:r>
              <a:rPr lang="en-US" altLang="id-ID" dirty="0" err="1">
                <a:latin typeface="+mj-lt"/>
              </a:rPr>
              <a:t>dimensi</a:t>
            </a:r>
            <a:r>
              <a:rPr lang="en-US" altLang="id-ID" dirty="0">
                <a:latin typeface="+mj-lt"/>
              </a:rPr>
              <a:t> </a:t>
            </a:r>
            <a:r>
              <a:rPr lang="en-US" altLang="id-ID" dirty="0" err="1">
                <a:latin typeface="+mj-lt"/>
              </a:rPr>
              <a:t>satu</a:t>
            </a:r>
            <a:endParaRPr lang="en-US" altLang="id-ID" dirty="0">
              <a:latin typeface="+mj-lt"/>
            </a:endParaRPr>
          </a:p>
          <a:p>
            <a:pPr marL="457200" lvl="1" indent="0">
              <a:lnSpc>
                <a:spcPct val="80000"/>
              </a:lnSpc>
              <a:buNone/>
            </a:pPr>
            <a:r>
              <a:rPr lang="en-US" altLang="id-ID" b="1" i="1" dirty="0">
                <a:latin typeface="+mj-lt"/>
              </a:rPr>
              <a:t>type </a:t>
            </a:r>
            <a:r>
              <a:rPr lang="en-US" altLang="id-ID" dirty="0" err="1">
                <a:latin typeface="+mj-lt"/>
              </a:rPr>
              <a:t>nama_arrray</a:t>
            </a:r>
            <a:r>
              <a:rPr lang="en-US" altLang="id-ID" dirty="0">
                <a:latin typeface="+mj-lt"/>
              </a:rPr>
              <a:t>[</a:t>
            </a:r>
            <a:r>
              <a:rPr lang="en-US" altLang="id-ID" dirty="0" err="1">
                <a:latin typeface="+mj-lt"/>
              </a:rPr>
              <a:t>Nilai_dim</a:t>
            </a:r>
            <a:r>
              <a:rPr lang="en-US" altLang="id-ID" dirty="0">
                <a:latin typeface="+mj-lt"/>
              </a:rPr>
              <a:t>]</a:t>
            </a:r>
            <a:r>
              <a:rPr lang="en-US" altLang="id-ID" b="1" dirty="0">
                <a:latin typeface="+mj-lt"/>
              </a:rPr>
              <a:t>;</a:t>
            </a:r>
            <a:endParaRPr lang="en-US" altLang="id-ID" dirty="0">
              <a:latin typeface="+mj-lt"/>
            </a:endParaRPr>
          </a:p>
          <a:p>
            <a:pPr marL="457200" lvl="1" indent="0">
              <a:lnSpc>
                <a:spcPct val="80000"/>
              </a:lnSpc>
              <a:buNone/>
            </a:pPr>
            <a:r>
              <a:rPr lang="en-US" altLang="id-ID" dirty="0">
                <a:latin typeface="+mj-lt"/>
              </a:rPr>
              <a:t>	</a:t>
            </a:r>
            <a:r>
              <a:rPr lang="en-US" altLang="id-ID" dirty="0" err="1">
                <a:latin typeface="+mj-lt"/>
              </a:rPr>
              <a:t>Contoh</a:t>
            </a:r>
            <a:r>
              <a:rPr lang="en-US" altLang="id-ID" dirty="0">
                <a:latin typeface="+mj-lt"/>
              </a:rPr>
              <a:t> :	int A[10];</a:t>
            </a:r>
          </a:p>
          <a:p>
            <a:pPr marL="457200" lvl="1" indent="0">
              <a:lnSpc>
                <a:spcPct val="80000"/>
              </a:lnSpc>
              <a:buNone/>
            </a:pPr>
            <a:endParaRPr lang="en-US" altLang="id-ID" dirty="0">
              <a:latin typeface="+mj-lt"/>
            </a:endParaRPr>
          </a:p>
          <a:p>
            <a:pPr marL="457200" indent="-457200">
              <a:lnSpc>
                <a:spcPct val="80000"/>
              </a:lnSpc>
              <a:buFont typeface="+mj-lt"/>
              <a:buAutoNum type="alphaLcPeriod"/>
            </a:pPr>
            <a:r>
              <a:rPr lang="en-US" altLang="id-ID" dirty="0" err="1">
                <a:latin typeface="+mj-lt"/>
              </a:rPr>
              <a:t>Definisi</a:t>
            </a:r>
            <a:r>
              <a:rPr lang="en-US" altLang="id-ID" dirty="0">
                <a:latin typeface="+mj-lt"/>
              </a:rPr>
              <a:t> </a:t>
            </a:r>
            <a:r>
              <a:rPr lang="en-US" altLang="id-ID" dirty="0" err="1">
                <a:latin typeface="+mj-lt"/>
              </a:rPr>
              <a:t>dari</a:t>
            </a:r>
            <a:r>
              <a:rPr lang="en-US" altLang="id-ID" dirty="0">
                <a:latin typeface="+mj-lt"/>
              </a:rPr>
              <a:t> </a:t>
            </a:r>
            <a:r>
              <a:rPr lang="en-US" altLang="id-ID" dirty="0" err="1">
                <a:latin typeface="+mj-lt"/>
              </a:rPr>
              <a:t>sebuah</a:t>
            </a:r>
            <a:r>
              <a:rPr lang="en-US" altLang="id-ID" dirty="0">
                <a:latin typeface="+mj-lt"/>
              </a:rPr>
              <a:t> array </a:t>
            </a:r>
            <a:r>
              <a:rPr lang="en-US" altLang="id-ID" dirty="0" err="1">
                <a:latin typeface="+mj-lt"/>
              </a:rPr>
              <a:t>terdiri</a:t>
            </a:r>
            <a:r>
              <a:rPr lang="en-US" altLang="id-ID" dirty="0">
                <a:latin typeface="+mj-lt"/>
              </a:rPr>
              <a:t> </a:t>
            </a:r>
            <a:r>
              <a:rPr lang="en-US" altLang="id-ID" dirty="0" err="1">
                <a:latin typeface="+mj-lt"/>
              </a:rPr>
              <a:t>dari</a:t>
            </a:r>
            <a:r>
              <a:rPr lang="en-US" altLang="id-ID" dirty="0">
                <a:latin typeface="+mj-lt"/>
              </a:rPr>
              <a:t> 4 </a:t>
            </a:r>
            <a:r>
              <a:rPr lang="en-US" altLang="id-ID" dirty="0" err="1">
                <a:latin typeface="+mj-lt"/>
              </a:rPr>
              <a:t>komponen</a:t>
            </a:r>
            <a:r>
              <a:rPr lang="en-US" altLang="id-ID" dirty="0">
                <a:latin typeface="+mj-lt"/>
              </a:rPr>
              <a:t> </a:t>
            </a:r>
            <a:r>
              <a:rPr lang="en-US" altLang="id-ID" dirty="0" err="1">
                <a:latin typeface="+mj-lt"/>
              </a:rPr>
              <a:t>yaitu</a:t>
            </a:r>
            <a:r>
              <a:rPr lang="en-US" altLang="id-ID" dirty="0">
                <a:latin typeface="+mj-lt"/>
              </a:rPr>
              <a:t> :</a:t>
            </a:r>
          </a:p>
          <a:p>
            <a:pPr lvl="1">
              <a:lnSpc>
                <a:spcPct val="80000"/>
              </a:lnSpc>
              <a:buFont typeface="+mj-lt"/>
              <a:buAutoNum type="arabicParenR"/>
            </a:pPr>
            <a:r>
              <a:rPr lang="en-US" altLang="id-ID" dirty="0">
                <a:latin typeface="+mj-lt"/>
              </a:rPr>
              <a:t>Type specifier</a:t>
            </a:r>
          </a:p>
          <a:p>
            <a:pPr lvl="1">
              <a:lnSpc>
                <a:spcPct val="80000"/>
              </a:lnSpc>
              <a:buFont typeface="+mj-lt"/>
              <a:buAutoNum type="arabicParenR"/>
            </a:pPr>
            <a:r>
              <a:rPr lang="en-US" altLang="id-ID" dirty="0">
                <a:latin typeface="+mj-lt"/>
              </a:rPr>
              <a:t>Identifier (</a:t>
            </a:r>
            <a:r>
              <a:rPr lang="en-US" altLang="id-ID" dirty="0" err="1">
                <a:latin typeface="+mj-lt"/>
              </a:rPr>
              <a:t>nama</a:t>
            </a:r>
            <a:r>
              <a:rPr lang="en-US" altLang="id-ID" dirty="0">
                <a:latin typeface="+mj-lt"/>
              </a:rPr>
              <a:t> array)</a:t>
            </a:r>
          </a:p>
          <a:p>
            <a:pPr lvl="1">
              <a:lnSpc>
                <a:spcPct val="80000"/>
              </a:lnSpc>
              <a:buFont typeface="+mj-lt"/>
              <a:buAutoNum type="arabicParenR"/>
            </a:pPr>
            <a:r>
              <a:rPr lang="en-US" altLang="id-ID" dirty="0">
                <a:latin typeface="+mj-lt"/>
              </a:rPr>
              <a:t>Operator index ([  ])</a:t>
            </a:r>
          </a:p>
          <a:p>
            <a:pPr lvl="1">
              <a:lnSpc>
                <a:spcPct val="80000"/>
              </a:lnSpc>
              <a:buFont typeface="+mj-lt"/>
              <a:buAutoNum type="arabicParenR"/>
            </a:pPr>
            <a:r>
              <a:rPr lang="en-US" altLang="id-ID" dirty="0">
                <a:latin typeface="+mj-lt"/>
              </a:rPr>
              <a:t>Nilai </a:t>
            </a:r>
            <a:r>
              <a:rPr lang="en-US" altLang="id-ID" dirty="0" err="1">
                <a:latin typeface="+mj-lt"/>
              </a:rPr>
              <a:t>dimensi</a:t>
            </a:r>
            <a:r>
              <a:rPr lang="en-US" altLang="id-ID" dirty="0">
                <a:latin typeface="+mj-lt"/>
              </a:rPr>
              <a:t> </a:t>
            </a:r>
            <a:r>
              <a:rPr lang="en-US" altLang="id-ID" dirty="0" err="1">
                <a:latin typeface="+mj-lt"/>
              </a:rPr>
              <a:t>dalam</a:t>
            </a:r>
            <a:r>
              <a:rPr lang="en-US" altLang="id-ID" dirty="0">
                <a:latin typeface="+mj-lt"/>
              </a:rPr>
              <a:t> operator [ ]</a:t>
            </a:r>
          </a:p>
        </p:txBody>
      </p:sp>
      <p:pic>
        <p:nvPicPr>
          <p:cNvPr id="9" name="Picture Placeholder 8" descr="A diagram of a cube with text and symbols&#10;&#10;Description automatically generated with medium confidence">
            <a:extLst>
              <a:ext uri="{FF2B5EF4-FFF2-40B4-BE49-F238E27FC236}">
                <a16:creationId xmlns:a16="http://schemas.microsoft.com/office/drawing/2014/main" id="{5EA7A7A3-FAD6-D68C-57E2-FCE572B3E31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13" r="62806" b="-142"/>
          <a:stretch/>
        </p:blipFill>
        <p:spPr>
          <a:xfrm>
            <a:off x="0" y="499621"/>
            <a:ext cx="4872942" cy="5856730"/>
          </a:xfrm>
        </p:spPr>
      </p:pic>
    </p:spTree>
    <p:extLst>
      <p:ext uri="{BB962C8B-B14F-4D97-AF65-F5344CB8AC3E}">
        <p14:creationId xmlns:p14="http://schemas.microsoft.com/office/powerpoint/2010/main" val="3245057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 bwMode="auto">
          <a:xfrm>
            <a:off x="1057829" y="612636"/>
            <a:ext cx="8229600" cy="9271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id-ID" sz="4000" b="1" dirty="0" err="1">
                <a:latin typeface="+mj-lt"/>
              </a:rPr>
              <a:t>Visualisasi</a:t>
            </a:r>
            <a:r>
              <a:rPr lang="en-US" altLang="id-ID" sz="4000" b="1" dirty="0">
                <a:latin typeface="+mj-lt"/>
              </a:rPr>
              <a:t> Array</a:t>
            </a:r>
            <a:endParaRPr lang="en-US" altLang="en-US" sz="4000" dirty="0">
              <a:latin typeface="+mj-lt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1057829" y="1600200"/>
            <a:ext cx="10088591" cy="4176712"/>
          </a:xfrm>
        </p:spPr>
        <p:txBody>
          <a:bodyPr>
            <a:normAutofit/>
          </a:bodyPr>
          <a:lstStyle/>
          <a:p>
            <a:pPr marL="514350" indent="-514350">
              <a:lnSpc>
                <a:spcPct val="80000"/>
              </a:lnSpc>
              <a:buFont typeface="+mj-lt"/>
              <a:buAutoNum type="alphaLcPeriod"/>
            </a:pPr>
            <a:r>
              <a:rPr lang="en-US" altLang="id-ID" sz="2800" dirty="0" err="1">
                <a:solidFill>
                  <a:srgbClr val="000000"/>
                </a:solidFill>
                <a:latin typeface="+mj-lt"/>
              </a:rPr>
              <a:t>Dengan</a:t>
            </a:r>
            <a:r>
              <a:rPr lang="en-US" altLang="id-ID" sz="2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id-ID" sz="2800" dirty="0" err="1">
                <a:solidFill>
                  <a:srgbClr val="000000"/>
                </a:solidFill>
                <a:latin typeface="+mj-lt"/>
              </a:rPr>
              <a:t>menggunakan</a:t>
            </a:r>
            <a:r>
              <a:rPr lang="en-US" altLang="id-ID" sz="2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id-ID" sz="2800" dirty="0" err="1">
                <a:solidFill>
                  <a:srgbClr val="000000"/>
                </a:solidFill>
                <a:latin typeface="+mj-lt"/>
              </a:rPr>
              <a:t>contoh</a:t>
            </a:r>
            <a:r>
              <a:rPr lang="en-US" altLang="id-ID" sz="2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id-ID" sz="2800" dirty="0" err="1">
                <a:solidFill>
                  <a:srgbClr val="000000"/>
                </a:solidFill>
                <a:latin typeface="+mj-lt"/>
              </a:rPr>
              <a:t>deklarasi</a:t>
            </a:r>
            <a:r>
              <a:rPr lang="en-US" altLang="id-ID" sz="2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id-ID" sz="2800" dirty="0" err="1">
                <a:solidFill>
                  <a:srgbClr val="000000"/>
                </a:solidFill>
                <a:latin typeface="+mj-lt"/>
              </a:rPr>
              <a:t>sebelumnya</a:t>
            </a:r>
            <a:r>
              <a:rPr lang="en-US" altLang="id-ID" sz="2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id-ID" sz="2800" dirty="0" err="1">
                <a:solidFill>
                  <a:srgbClr val="000000"/>
                </a:solidFill>
                <a:latin typeface="+mj-lt"/>
              </a:rPr>
              <a:t>dapat</a:t>
            </a:r>
            <a:r>
              <a:rPr lang="en-US" altLang="id-ID" sz="2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id-ID" sz="2800" dirty="0" err="1">
                <a:solidFill>
                  <a:srgbClr val="000000"/>
                </a:solidFill>
                <a:latin typeface="+mj-lt"/>
              </a:rPr>
              <a:t>digambarkan</a:t>
            </a:r>
            <a:r>
              <a:rPr lang="en-US" altLang="id-ID" sz="2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id-ID" sz="2800" dirty="0" err="1">
                <a:solidFill>
                  <a:srgbClr val="000000"/>
                </a:solidFill>
                <a:latin typeface="+mj-lt"/>
              </a:rPr>
              <a:t>alokasi</a:t>
            </a:r>
            <a:r>
              <a:rPr lang="en-US" altLang="id-ID" sz="2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id-ID" sz="2800" dirty="0" err="1">
                <a:solidFill>
                  <a:srgbClr val="000000"/>
                </a:solidFill>
                <a:latin typeface="+mj-lt"/>
              </a:rPr>
              <a:t>untuk</a:t>
            </a:r>
            <a:r>
              <a:rPr lang="en-US" altLang="id-ID" sz="2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id-ID" sz="2800" dirty="0" err="1">
                <a:solidFill>
                  <a:srgbClr val="000000"/>
                </a:solidFill>
                <a:latin typeface="+mj-lt"/>
              </a:rPr>
              <a:t>variabel</a:t>
            </a:r>
            <a:r>
              <a:rPr lang="en-US" altLang="id-ID" sz="2800" dirty="0">
                <a:solidFill>
                  <a:srgbClr val="000000"/>
                </a:solidFill>
                <a:latin typeface="+mj-lt"/>
              </a:rPr>
              <a:t> A</a:t>
            </a:r>
          </a:p>
          <a:p>
            <a:pPr marL="514350" indent="-514350">
              <a:lnSpc>
                <a:spcPct val="80000"/>
              </a:lnSpc>
              <a:buFont typeface="+mj-lt"/>
              <a:buAutoNum type="alphaLcPeriod"/>
            </a:pPr>
            <a:r>
              <a:rPr lang="en-US" altLang="id-ID" sz="2800" dirty="0" err="1">
                <a:solidFill>
                  <a:srgbClr val="000000"/>
                </a:solidFill>
                <a:latin typeface="+mj-lt"/>
              </a:rPr>
              <a:t>Elemen-elemen</a:t>
            </a:r>
            <a:r>
              <a:rPr lang="en-US" altLang="id-ID" sz="2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id-ID" sz="2800" dirty="0" err="1">
                <a:solidFill>
                  <a:srgbClr val="000000"/>
                </a:solidFill>
                <a:latin typeface="+mj-lt"/>
              </a:rPr>
              <a:t>suatu</a:t>
            </a:r>
            <a:r>
              <a:rPr lang="en-US" altLang="id-ID" sz="2800" dirty="0">
                <a:solidFill>
                  <a:srgbClr val="000000"/>
                </a:solidFill>
                <a:latin typeface="+mj-lt"/>
              </a:rPr>
              <a:t> Array </a:t>
            </a:r>
            <a:r>
              <a:rPr lang="en-US" altLang="id-ID" sz="2800" dirty="0" err="1">
                <a:solidFill>
                  <a:srgbClr val="000000"/>
                </a:solidFill>
                <a:latin typeface="+mj-lt"/>
              </a:rPr>
              <a:t>diindeks</a:t>
            </a:r>
            <a:r>
              <a:rPr lang="en-US" altLang="id-ID" sz="2800" dirty="0">
                <a:solidFill>
                  <a:srgbClr val="000000"/>
                </a:solidFill>
                <a:latin typeface="+mj-lt"/>
              </a:rPr>
              <a:t> (subscript) </a:t>
            </a:r>
            <a:r>
              <a:rPr lang="en-US" altLang="id-ID" sz="2800" dirty="0" err="1">
                <a:solidFill>
                  <a:srgbClr val="000000"/>
                </a:solidFill>
                <a:latin typeface="+mj-lt"/>
              </a:rPr>
              <a:t>mulai</a:t>
            </a:r>
            <a:r>
              <a:rPr lang="en-US" altLang="id-ID" sz="2800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id-ID" sz="2800" dirty="0" err="1">
                <a:solidFill>
                  <a:srgbClr val="000000"/>
                </a:solidFill>
                <a:latin typeface="+mj-lt"/>
              </a:rPr>
              <a:t>dari</a:t>
            </a:r>
            <a:r>
              <a:rPr lang="en-US" altLang="id-ID" sz="2800" dirty="0">
                <a:solidFill>
                  <a:srgbClr val="000000"/>
                </a:solidFill>
                <a:latin typeface="+mj-lt"/>
              </a:rPr>
              <a:t> 0.</a:t>
            </a: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BC3461F7-AF4F-4C60-A21E-BD29AEF632B1}"/>
              </a:ext>
            </a:extLst>
          </p:cNvPr>
          <p:cNvGrpSpPr>
            <a:grpSpLocks/>
          </p:cNvGrpSpPr>
          <p:nvPr/>
        </p:nvGrpSpPr>
        <p:grpSpPr bwMode="auto">
          <a:xfrm>
            <a:off x="2015728" y="3325642"/>
            <a:ext cx="7741730" cy="1900328"/>
            <a:chOff x="0" y="0"/>
            <a:chExt cx="20000" cy="20000"/>
          </a:xfrm>
        </p:grpSpPr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D4250116-36AB-4F9B-9E0E-1952CA675C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  <a:effectLst>
              <a:outerShdw dist="57238" dir="2021404" algn="ctr" rotWithShape="0">
                <a:srgbClr val="000000"/>
              </a:outerShdw>
            </a:effectLst>
          </p:spPr>
          <p:txBody>
            <a:bodyPr lIns="9525" tIns="9525" rIns="9525" bIns="9525"/>
            <a:lstStyle/>
            <a:p>
              <a:endParaRPr lang="id-ID" altLang="id-ID" sz="1350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015D986A-229D-45A4-8463-C167C2EC3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" y="1955"/>
              <a:ext cx="19147" cy="7181"/>
            </a:xfrm>
            <a:prstGeom prst="rect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d-ID" sz="1350"/>
            </a:p>
          </p:txBody>
        </p:sp>
        <p:sp>
          <p:nvSpPr>
            <p:cNvPr id="7" name="Line 7">
              <a:extLst>
                <a:ext uri="{FF2B5EF4-FFF2-40B4-BE49-F238E27FC236}">
                  <a16:creationId xmlns:a16="http://schemas.microsoft.com/office/drawing/2014/main" id="{F824741E-E4AE-4BB2-8FFC-AD074EF865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1" y="1966"/>
              <a:ext cx="3" cy="696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d-ID" sz="1350"/>
            </a:p>
          </p:txBody>
        </p:sp>
        <p:sp>
          <p:nvSpPr>
            <p:cNvPr id="8" name="Line 8">
              <a:extLst>
                <a:ext uri="{FF2B5EF4-FFF2-40B4-BE49-F238E27FC236}">
                  <a16:creationId xmlns:a16="http://schemas.microsoft.com/office/drawing/2014/main" id="{6C78EE8B-7F67-4CFA-B63B-3D9CF389F2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3" y="2184"/>
              <a:ext cx="2" cy="69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d-ID" sz="1350"/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7F8DEFAE-8899-4BE7-8C5C-036CB1FD83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29" y="2118"/>
              <a:ext cx="2" cy="696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d-ID" sz="1350"/>
            </a:p>
          </p:txBody>
        </p:sp>
        <p:sp>
          <p:nvSpPr>
            <p:cNvPr id="10" name="Line 10">
              <a:extLst>
                <a:ext uri="{FF2B5EF4-FFF2-40B4-BE49-F238E27FC236}">
                  <a16:creationId xmlns:a16="http://schemas.microsoft.com/office/drawing/2014/main" id="{E8BD782B-EE16-4BBE-9649-7F252FA2CF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25" y="1955"/>
              <a:ext cx="2" cy="696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d-ID" sz="1350"/>
            </a:p>
          </p:txBody>
        </p: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4CBEF997-C9D9-4A35-A255-06703DA446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6" y="2173"/>
              <a:ext cx="3" cy="69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d-ID" sz="1350"/>
            </a:p>
          </p:txBody>
        </p:sp>
        <p:sp>
          <p:nvSpPr>
            <p:cNvPr id="12" name="Line 12">
              <a:extLst>
                <a:ext uri="{FF2B5EF4-FFF2-40B4-BE49-F238E27FC236}">
                  <a16:creationId xmlns:a16="http://schemas.microsoft.com/office/drawing/2014/main" id="{15E8AB6B-8E40-4F24-83AA-F79EA0391D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978" y="2118"/>
              <a:ext cx="2" cy="696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d-ID" sz="1350"/>
            </a:p>
          </p:txBody>
        </p:sp>
        <p:sp>
          <p:nvSpPr>
            <p:cNvPr id="13" name="Line 13">
              <a:extLst>
                <a:ext uri="{FF2B5EF4-FFF2-40B4-BE49-F238E27FC236}">
                  <a16:creationId xmlns:a16="http://schemas.microsoft.com/office/drawing/2014/main" id="{C5CCD60E-92EF-4F44-BA7D-5667EC6CBB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04" y="1955"/>
              <a:ext cx="2" cy="696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d-ID" sz="1350"/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B433FB09-4BA2-4018-91CE-635CB7F656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65" y="2173"/>
              <a:ext cx="2" cy="696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d-ID" sz="1350"/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FACD2ECE-CA4A-4D30-8BD6-8B589580EA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56" y="2118"/>
              <a:ext cx="3" cy="696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d-ID" sz="1350"/>
            </a:p>
          </p:txBody>
        </p:sp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4BF2D6D1-6A58-456E-9355-8516D12E5B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0" y="11885"/>
              <a:ext cx="19230" cy="5236"/>
              <a:chOff x="0" y="0"/>
              <a:chExt cx="20006" cy="20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C4C87D8-71DF-4B1C-92B7-83CCB60CD1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1788" cy="1995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525" tIns="9525" rIns="9525" bIns="9525"/>
              <a:lstStyle/>
              <a:p>
                <a:pPr algn="ctr"/>
                <a:r>
                  <a:rPr lang="en-US" altLang="id-ID" sz="1275" b="1"/>
                  <a:t>A[0]</a:t>
                </a:r>
                <a:endParaRPr lang="en-US" altLang="id-ID" sz="1350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7FF494A-55E2-4582-94A1-E8A471BD61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58" y="0"/>
                <a:ext cx="1788" cy="1995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525" tIns="9525" rIns="9525" bIns="9525"/>
              <a:lstStyle/>
              <a:p>
                <a:pPr algn="ctr"/>
                <a:r>
                  <a:rPr lang="en-US" altLang="id-ID" sz="1275" b="1"/>
                  <a:t>A[1]</a:t>
                </a:r>
                <a:endParaRPr lang="en-US" altLang="id-ID" sz="1350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F04EACA-F070-430D-B031-774BCEFB5E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99" y="0"/>
                <a:ext cx="1787" cy="1995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525" tIns="9525" rIns="9525" bIns="9525"/>
              <a:lstStyle/>
              <a:p>
                <a:pPr algn="ctr"/>
                <a:r>
                  <a:rPr lang="en-US" altLang="id-ID" sz="1275" b="1"/>
                  <a:t>A[2]</a:t>
                </a:r>
                <a:endParaRPr lang="en-US" altLang="id-ID" sz="1350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22909EA-0AA8-4AF1-B22A-E1263BAB44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02" y="0"/>
                <a:ext cx="1788" cy="1995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525" tIns="9525" rIns="9525" bIns="9525"/>
              <a:lstStyle/>
              <a:p>
                <a:pPr algn="ctr"/>
                <a:r>
                  <a:rPr lang="en-US" altLang="id-ID" sz="1275" b="1"/>
                  <a:t>A[3]</a:t>
                </a:r>
                <a:endParaRPr lang="en-US" altLang="id-ID" sz="135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CC377162-34ED-43C8-A83C-2A19B5323C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79" y="0"/>
                <a:ext cx="1789" cy="1995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525" tIns="9525" rIns="9525" bIns="9525"/>
              <a:lstStyle/>
              <a:p>
                <a:pPr algn="ctr"/>
                <a:r>
                  <a:rPr lang="en-US" altLang="id-ID" sz="1275" b="1"/>
                  <a:t>A[4]</a:t>
                </a:r>
                <a:endParaRPr lang="en-US" altLang="id-ID" sz="1350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878E8176-8F3C-428C-8F01-4456BD37FE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83" y="0"/>
                <a:ext cx="1789" cy="1995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525" tIns="9525" rIns="9525" bIns="9525"/>
              <a:lstStyle/>
              <a:p>
                <a:pPr algn="ctr"/>
                <a:r>
                  <a:rPr lang="en-US" altLang="id-ID" sz="1275" b="1"/>
                  <a:t>A[5]</a:t>
                </a:r>
                <a:endParaRPr lang="en-US" altLang="id-ID" sz="1350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ABFEE7A-F4BC-4F04-8C0E-6CA524C462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52" y="0"/>
                <a:ext cx="1787" cy="1995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525" tIns="9525" rIns="9525" bIns="9525"/>
              <a:lstStyle/>
              <a:p>
                <a:pPr algn="ctr"/>
                <a:r>
                  <a:rPr lang="en-US" altLang="id-ID" sz="1275" b="1"/>
                  <a:t>A[6]</a:t>
                </a:r>
                <a:endParaRPr lang="en-US" altLang="id-ID" sz="1350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6B148A99-49AC-4DE6-AACB-BD1C51BB9C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19" y="0"/>
                <a:ext cx="1787" cy="1995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525" tIns="9525" rIns="9525" bIns="9525"/>
              <a:lstStyle/>
              <a:p>
                <a:pPr algn="ctr"/>
                <a:r>
                  <a:rPr lang="en-US" altLang="id-ID" sz="1275" b="1"/>
                  <a:t>A[7]</a:t>
                </a:r>
                <a:endParaRPr lang="en-US" altLang="id-ID" sz="1350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C34F96A2-7DFA-4217-BD40-20C663F264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922" y="0"/>
                <a:ext cx="1788" cy="1995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525" tIns="9525" rIns="9525" bIns="9525"/>
              <a:lstStyle/>
              <a:p>
                <a:pPr algn="ctr"/>
                <a:r>
                  <a:rPr lang="en-US" altLang="id-ID" sz="1275" b="1"/>
                  <a:t>A[8]</a:t>
                </a:r>
                <a:endParaRPr lang="en-US" altLang="id-ID" sz="1350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244BE6DF-F172-4140-8AE4-CD507242D5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17" y="42"/>
                <a:ext cx="2189" cy="1995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525" tIns="9525" rIns="9525" bIns="9525"/>
              <a:lstStyle/>
              <a:p>
                <a:pPr algn="ctr"/>
                <a:r>
                  <a:rPr lang="en-US" altLang="id-ID" sz="1275" b="1"/>
                  <a:t>A[9]</a:t>
                </a:r>
                <a:endParaRPr lang="en-US" altLang="id-ID" sz="1350"/>
              </a:p>
            </p:txBody>
          </p:sp>
        </p:grp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A9127973-53CD-44D6-B364-853E6A4EFC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77" y="3248"/>
              <a:ext cx="1088" cy="52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525" tIns="9525" rIns="9525" bIns="9525"/>
            <a:lstStyle/>
            <a:p>
              <a:endParaRPr lang="id-ID" altLang="id-ID" sz="1350"/>
            </a:p>
          </p:txBody>
        </p:sp>
      </p:grpSp>
    </p:spTree>
    <p:extLst>
      <p:ext uri="{BB962C8B-B14F-4D97-AF65-F5344CB8AC3E}">
        <p14:creationId xmlns:p14="http://schemas.microsoft.com/office/powerpoint/2010/main" val="2342529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 bwMode="auto">
          <a:xfrm>
            <a:off x="962167" y="568406"/>
            <a:ext cx="8229600" cy="9271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en-US" sz="4000" dirty="0">
                <a:latin typeface="+mj-lt"/>
                <a:cs typeface="Arial" charset="0"/>
              </a:rPr>
              <a:t>Cara </a:t>
            </a:r>
            <a:r>
              <a:rPr lang="en-US" altLang="en-US" sz="4000" dirty="0" err="1">
                <a:latin typeface="+mj-lt"/>
                <a:cs typeface="Arial" charset="0"/>
              </a:rPr>
              <a:t>Akses</a:t>
            </a:r>
            <a:r>
              <a:rPr lang="en-US" altLang="en-US" sz="4000" dirty="0">
                <a:latin typeface="+mj-lt"/>
                <a:cs typeface="Arial" charset="0"/>
              </a:rPr>
              <a:t>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1077144" y="1495506"/>
            <a:ext cx="10069276" cy="4176712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lphaLcPeriod"/>
            </a:pPr>
            <a:r>
              <a:rPr lang="en-US" altLang="id-ID" dirty="0" err="1">
                <a:solidFill>
                  <a:srgbClr val="000000"/>
                </a:solidFill>
                <a:latin typeface="+mj-lt"/>
              </a:rPr>
              <a:t>Dua</a:t>
            </a:r>
            <a:r>
              <a:rPr lang="en-US" altLang="id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id-ID" dirty="0" err="1">
                <a:solidFill>
                  <a:srgbClr val="000000"/>
                </a:solidFill>
                <a:latin typeface="+mj-lt"/>
              </a:rPr>
              <a:t>cara</a:t>
            </a:r>
            <a:r>
              <a:rPr lang="en-US" altLang="id-ID" dirty="0">
                <a:solidFill>
                  <a:srgbClr val="000000"/>
                </a:solidFill>
                <a:latin typeface="+mj-lt"/>
              </a:rPr>
              <a:t> yang </a:t>
            </a:r>
            <a:r>
              <a:rPr lang="en-US" altLang="id-ID" dirty="0" err="1">
                <a:solidFill>
                  <a:srgbClr val="000000"/>
                </a:solidFill>
                <a:latin typeface="+mj-lt"/>
              </a:rPr>
              <a:t>ekuivalen</a:t>
            </a:r>
            <a:r>
              <a:rPr lang="en-US" altLang="id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id-ID" dirty="0" err="1">
                <a:solidFill>
                  <a:srgbClr val="000000"/>
                </a:solidFill>
                <a:latin typeface="+mj-lt"/>
              </a:rPr>
              <a:t>untuk</a:t>
            </a:r>
            <a:r>
              <a:rPr lang="en-US" altLang="id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id-ID" dirty="0" err="1">
                <a:solidFill>
                  <a:srgbClr val="000000"/>
                </a:solidFill>
                <a:latin typeface="+mj-lt"/>
              </a:rPr>
              <a:t>mengakses</a:t>
            </a:r>
            <a:r>
              <a:rPr lang="en-US" altLang="id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id-ID" dirty="0" err="1">
                <a:solidFill>
                  <a:srgbClr val="000000"/>
                </a:solidFill>
                <a:latin typeface="+mj-lt"/>
              </a:rPr>
              <a:t>unsur</a:t>
            </a:r>
            <a:r>
              <a:rPr lang="en-US" altLang="id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id-ID" dirty="0" err="1">
                <a:solidFill>
                  <a:srgbClr val="000000"/>
                </a:solidFill>
                <a:latin typeface="+mj-lt"/>
              </a:rPr>
              <a:t>ke-i</a:t>
            </a:r>
            <a:r>
              <a:rPr lang="en-US" altLang="id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id-ID" dirty="0" err="1">
                <a:solidFill>
                  <a:srgbClr val="000000"/>
                </a:solidFill>
                <a:latin typeface="+mj-lt"/>
              </a:rPr>
              <a:t>dari</a:t>
            </a:r>
            <a:r>
              <a:rPr lang="en-US" altLang="id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id-ID" dirty="0" err="1">
                <a:solidFill>
                  <a:srgbClr val="000000"/>
                </a:solidFill>
                <a:latin typeface="+mj-lt"/>
              </a:rPr>
              <a:t>suatu</a:t>
            </a:r>
            <a:r>
              <a:rPr lang="en-US" altLang="id-ID" dirty="0">
                <a:solidFill>
                  <a:srgbClr val="000000"/>
                </a:solidFill>
                <a:latin typeface="+mj-lt"/>
              </a:rPr>
              <a:t> array. </a:t>
            </a:r>
            <a:r>
              <a:rPr lang="en-US" altLang="id-ID" dirty="0" err="1">
                <a:solidFill>
                  <a:srgbClr val="000000"/>
                </a:solidFill>
                <a:latin typeface="+mj-lt"/>
              </a:rPr>
              <a:t>Misal</a:t>
            </a:r>
            <a:r>
              <a:rPr lang="en-US" altLang="id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id-ID" dirty="0" err="1">
                <a:solidFill>
                  <a:srgbClr val="000000"/>
                </a:solidFill>
                <a:latin typeface="+mj-lt"/>
              </a:rPr>
              <a:t>untuk</a:t>
            </a:r>
            <a:r>
              <a:rPr lang="en-US" altLang="id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id-ID" dirty="0" err="1">
                <a:solidFill>
                  <a:srgbClr val="000000"/>
                </a:solidFill>
                <a:latin typeface="+mj-lt"/>
              </a:rPr>
              <a:t>i</a:t>
            </a:r>
            <a:r>
              <a:rPr lang="en-US" altLang="id-ID" dirty="0">
                <a:solidFill>
                  <a:srgbClr val="000000"/>
                </a:solidFill>
                <a:latin typeface="+mj-lt"/>
              </a:rPr>
              <a:t>=2;</a:t>
            </a:r>
            <a:endParaRPr lang="en-US" altLang="id-ID" b="1" dirty="0">
              <a:solidFill>
                <a:srgbClr val="000000"/>
              </a:solidFill>
              <a:latin typeface="+mj-lt"/>
            </a:endParaRPr>
          </a:p>
          <a:p>
            <a:pPr marL="457200" lvl="1" indent="0">
              <a:buNone/>
            </a:pPr>
            <a:r>
              <a:rPr lang="en-US" altLang="id-ID" sz="2400" b="1" dirty="0">
                <a:solidFill>
                  <a:srgbClr val="000000"/>
                </a:solidFill>
                <a:latin typeface="+mj-lt"/>
              </a:rPr>
              <a:t>*(A+2) </a:t>
            </a:r>
            <a:r>
              <a:rPr lang="en-US" altLang="id-ID" sz="2400" b="1" dirty="0" err="1">
                <a:solidFill>
                  <a:srgbClr val="000000"/>
                </a:solidFill>
                <a:latin typeface="+mj-lt"/>
              </a:rPr>
              <a:t>atau</a:t>
            </a:r>
            <a:r>
              <a:rPr lang="en-US" altLang="id-ID" sz="2400" b="1" dirty="0">
                <a:solidFill>
                  <a:srgbClr val="000000"/>
                </a:solidFill>
                <a:latin typeface="+mj-lt"/>
              </a:rPr>
              <a:t> A[2]</a:t>
            </a:r>
            <a:endParaRPr lang="en-US" altLang="id-ID" sz="2400" dirty="0">
              <a:solidFill>
                <a:srgbClr val="000000"/>
              </a:solidFill>
              <a:latin typeface="+mj-lt"/>
            </a:endParaRPr>
          </a:p>
          <a:p>
            <a:pPr marL="457200" indent="-457200">
              <a:buFont typeface="+mj-lt"/>
              <a:buAutoNum type="alphaLcPeriod"/>
            </a:pPr>
            <a:r>
              <a:rPr lang="en-US" altLang="id-ID" dirty="0">
                <a:solidFill>
                  <a:srgbClr val="000000"/>
                </a:solidFill>
                <a:latin typeface="+mj-lt"/>
              </a:rPr>
              <a:t>A </a:t>
            </a:r>
            <a:r>
              <a:rPr lang="en-US" altLang="id-ID" dirty="0" err="1">
                <a:solidFill>
                  <a:srgbClr val="000000"/>
                </a:solidFill>
                <a:latin typeface="+mj-lt"/>
              </a:rPr>
              <a:t>ekuivalen</a:t>
            </a:r>
            <a:r>
              <a:rPr lang="en-US" altLang="id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id-ID" dirty="0" err="1">
                <a:solidFill>
                  <a:srgbClr val="000000"/>
                </a:solidFill>
                <a:latin typeface="+mj-lt"/>
              </a:rPr>
              <a:t>dengan</a:t>
            </a:r>
            <a:r>
              <a:rPr lang="en-US" altLang="id-ID" dirty="0">
                <a:solidFill>
                  <a:srgbClr val="000000"/>
                </a:solidFill>
                <a:latin typeface="+mj-lt"/>
              </a:rPr>
              <a:t> &amp;A[0] </a:t>
            </a:r>
            <a:r>
              <a:rPr lang="en-US" altLang="id-ID" dirty="0" err="1">
                <a:solidFill>
                  <a:srgbClr val="000000"/>
                </a:solidFill>
                <a:latin typeface="+mj-lt"/>
              </a:rPr>
              <a:t>atau</a:t>
            </a:r>
            <a:r>
              <a:rPr lang="en-US" altLang="id-ID" dirty="0">
                <a:solidFill>
                  <a:srgbClr val="000000"/>
                </a:solidFill>
                <a:latin typeface="+mj-lt"/>
              </a:rPr>
              <a:t> pointer constant </a:t>
            </a:r>
            <a:r>
              <a:rPr lang="en-US" altLang="id-ID" dirty="0" err="1">
                <a:solidFill>
                  <a:srgbClr val="000000"/>
                </a:solidFill>
                <a:latin typeface="+mj-lt"/>
              </a:rPr>
              <a:t>ke</a:t>
            </a:r>
            <a:r>
              <a:rPr lang="en-US" altLang="id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id-ID" dirty="0" err="1">
                <a:solidFill>
                  <a:srgbClr val="000000"/>
                </a:solidFill>
                <a:latin typeface="+mj-lt"/>
              </a:rPr>
              <a:t>elemen-pertama</a:t>
            </a:r>
            <a:r>
              <a:rPr lang="en-US" altLang="id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id-ID" dirty="0" err="1">
                <a:solidFill>
                  <a:srgbClr val="000000"/>
                </a:solidFill>
                <a:latin typeface="+mj-lt"/>
              </a:rPr>
              <a:t>dari</a:t>
            </a:r>
            <a:r>
              <a:rPr lang="en-US" altLang="id-ID" dirty="0">
                <a:solidFill>
                  <a:srgbClr val="000000"/>
                </a:solidFill>
                <a:latin typeface="+mj-lt"/>
              </a:rPr>
              <a:t> array </a:t>
            </a:r>
            <a:r>
              <a:rPr lang="en-US" altLang="id-ID" dirty="0" err="1">
                <a:solidFill>
                  <a:srgbClr val="000000"/>
                </a:solidFill>
                <a:latin typeface="+mj-lt"/>
              </a:rPr>
              <a:t>tersebut</a:t>
            </a:r>
            <a:r>
              <a:rPr lang="en-US" altLang="id-ID" dirty="0">
                <a:solidFill>
                  <a:srgbClr val="000000"/>
                </a:solidFill>
                <a:latin typeface="+mj-lt"/>
              </a:rPr>
              <a:t>.</a:t>
            </a:r>
          </a:p>
          <a:p>
            <a:pPr marL="457200" indent="-457200">
              <a:buFont typeface="+mj-lt"/>
              <a:buAutoNum type="alphaLcPeriod"/>
            </a:pPr>
            <a:r>
              <a:rPr lang="en-US" altLang="id-ID" dirty="0" err="1">
                <a:solidFill>
                  <a:srgbClr val="000000"/>
                </a:solidFill>
                <a:latin typeface="+mj-lt"/>
              </a:rPr>
              <a:t>Bila</a:t>
            </a:r>
            <a:r>
              <a:rPr lang="en-US" altLang="id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id-ID" dirty="0" err="1">
                <a:solidFill>
                  <a:srgbClr val="000000"/>
                </a:solidFill>
                <a:latin typeface="+mj-lt"/>
              </a:rPr>
              <a:t>elemen</a:t>
            </a:r>
            <a:r>
              <a:rPr lang="en-US" altLang="id-ID" dirty="0">
                <a:solidFill>
                  <a:srgbClr val="000000"/>
                </a:solidFill>
                <a:latin typeface="+mj-lt"/>
              </a:rPr>
              <a:t> A[2] </a:t>
            </a:r>
            <a:r>
              <a:rPr lang="en-US" altLang="id-ID" dirty="0" err="1">
                <a:solidFill>
                  <a:srgbClr val="000000"/>
                </a:solidFill>
                <a:latin typeface="+mj-lt"/>
              </a:rPr>
              <a:t>hendak</a:t>
            </a:r>
            <a:r>
              <a:rPr lang="en-US" altLang="id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id-ID" dirty="0" err="1">
                <a:solidFill>
                  <a:srgbClr val="000000"/>
                </a:solidFill>
                <a:latin typeface="+mj-lt"/>
              </a:rPr>
              <a:t>ditampilkan</a:t>
            </a:r>
            <a:r>
              <a:rPr lang="en-US" altLang="id-ID" dirty="0">
                <a:solidFill>
                  <a:srgbClr val="000000"/>
                </a:solidFill>
                <a:latin typeface="+mj-lt"/>
              </a:rPr>
              <a:t> di </a:t>
            </a:r>
            <a:r>
              <a:rPr lang="en-US" altLang="id-ID" dirty="0" err="1">
                <a:solidFill>
                  <a:srgbClr val="000000"/>
                </a:solidFill>
                <a:latin typeface="+mj-lt"/>
              </a:rPr>
              <a:t>layar</a:t>
            </a:r>
            <a:r>
              <a:rPr lang="en-US" altLang="id-ID" dirty="0">
                <a:solidFill>
                  <a:srgbClr val="000000"/>
                </a:solidFill>
                <a:latin typeface="+mj-lt"/>
              </a:rPr>
              <a:t> monitor, </a:t>
            </a:r>
            <a:r>
              <a:rPr lang="en-US" altLang="id-ID" dirty="0" err="1">
                <a:solidFill>
                  <a:srgbClr val="000000"/>
                </a:solidFill>
                <a:latin typeface="+mj-lt"/>
              </a:rPr>
              <a:t>gunakan</a:t>
            </a:r>
            <a:r>
              <a:rPr lang="en-US" altLang="id-ID" dirty="0">
                <a:solidFill>
                  <a:srgbClr val="000000"/>
                </a:solidFill>
                <a:latin typeface="+mj-lt"/>
              </a:rPr>
              <a:t> statemen </a:t>
            </a:r>
            <a:r>
              <a:rPr lang="en-US" altLang="id-ID" dirty="0" err="1">
                <a:solidFill>
                  <a:srgbClr val="000000"/>
                </a:solidFill>
                <a:latin typeface="+mj-lt"/>
              </a:rPr>
              <a:t>sbb</a:t>
            </a:r>
            <a:r>
              <a:rPr lang="en-US" altLang="id-ID" dirty="0">
                <a:solidFill>
                  <a:srgbClr val="000000"/>
                </a:solidFill>
                <a:latin typeface="+mj-lt"/>
              </a:rPr>
              <a:t>:</a:t>
            </a:r>
          </a:p>
          <a:p>
            <a:pPr marL="914400" lvl="2" indent="0">
              <a:buNone/>
            </a:pPr>
            <a:r>
              <a:rPr lang="en-US" altLang="id-ID" sz="2400" i="1" dirty="0" err="1">
                <a:solidFill>
                  <a:schemeClr val="tx1"/>
                </a:solidFill>
                <a:latin typeface="+mj-lt"/>
              </a:rPr>
              <a:t>printf</a:t>
            </a:r>
            <a:r>
              <a:rPr lang="en-US" altLang="id-ID" sz="2400" i="1" dirty="0">
                <a:solidFill>
                  <a:schemeClr val="tx1"/>
                </a:solidFill>
                <a:latin typeface="+mj-lt"/>
              </a:rPr>
              <a:t>(“%</a:t>
            </a:r>
            <a:r>
              <a:rPr lang="en-US" altLang="id-ID" sz="2400" i="1" dirty="0" err="1">
                <a:solidFill>
                  <a:schemeClr val="tx1"/>
                </a:solidFill>
                <a:latin typeface="+mj-lt"/>
              </a:rPr>
              <a:t>d”,A</a:t>
            </a:r>
            <a:r>
              <a:rPr lang="en-US" altLang="id-ID" sz="2400" i="1" dirty="0">
                <a:solidFill>
                  <a:schemeClr val="tx1"/>
                </a:solidFill>
                <a:latin typeface="+mj-lt"/>
              </a:rPr>
              <a:t>[2]) </a:t>
            </a:r>
            <a:r>
              <a:rPr lang="en-US" altLang="id-ID" sz="2400" i="1" dirty="0" err="1">
                <a:solidFill>
                  <a:schemeClr val="tx1"/>
                </a:solidFill>
                <a:latin typeface="+mj-lt"/>
              </a:rPr>
              <a:t>atau</a:t>
            </a:r>
            <a:r>
              <a:rPr lang="en-US" altLang="id-ID" sz="2400" i="1" dirty="0">
                <a:solidFill>
                  <a:schemeClr val="tx1"/>
                </a:solidFill>
                <a:latin typeface="+mj-lt"/>
              </a:rPr>
              <a:t> </a:t>
            </a:r>
            <a:r>
              <a:rPr lang="en-US" altLang="id-ID" sz="2400" i="1" dirty="0" err="1">
                <a:solidFill>
                  <a:schemeClr val="tx1"/>
                </a:solidFill>
                <a:latin typeface="+mj-lt"/>
              </a:rPr>
              <a:t>printf</a:t>
            </a:r>
            <a:r>
              <a:rPr lang="en-US" altLang="id-ID" sz="2400" i="1" dirty="0">
                <a:solidFill>
                  <a:schemeClr val="tx1"/>
                </a:solidFill>
                <a:latin typeface="+mj-lt"/>
              </a:rPr>
              <a:t>(“%d\n”,*(A+2));</a:t>
            </a:r>
          </a:p>
        </p:txBody>
      </p:sp>
    </p:spTree>
    <p:extLst>
      <p:ext uri="{BB962C8B-B14F-4D97-AF65-F5344CB8AC3E}">
        <p14:creationId xmlns:p14="http://schemas.microsoft.com/office/powerpoint/2010/main" val="2510329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 bwMode="auto">
          <a:xfrm>
            <a:off x="898722" y="654091"/>
            <a:ext cx="8229600" cy="9271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id-ID" sz="4000" dirty="0" err="1">
                <a:latin typeface="+mj-lt"/>
              </a:rPr>
              <a:t>Mengisi</a:t>
            </a:r>
            <a:r>
              <a:rPr lang="en-US" altLang="id-ID" sz="4000" dirty="0">
                <a:latin typeface="+mj-lt"/>
              </a:rPr>
              <a:t> Data Array</a:t>
            </a:r>
            <a:endParaRPr lang="en-US" altLang="en-US" sz="4000" dirty="0">
              <a:latin typeface="+mj-lt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1348108" y="1402943"/>
            <a:ext cx="8640844" cy="4176712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lphaLcPeriod"/>
            </a:pPr>
            <a:r>
              <a:rPr lang="en-US" altLang="id-ID" dirty="0" err="1">
                <a:solidFill>
                  <a:srgbClr val="000000"/>
                </a:solidFill>
                <a:latin typeface="+mj-lt"/>
              </a:rPr>
              <a:t>Mengisi</a:t>
            </a:r>
            <a:r>
              <a:rPr lang="en-US" altLang="id-ID" dirty="0">
                <a:solidFill>
                  <a:srgbClr val="000000"/>
                </a:solidFill>
                <a:latin typeface="+mj-lt"/>
              </a:rPr>
              <a:t> data </a:t>
            </a:r>
            <a:r>
              <a:rPr lang="en-US" altLang="id-ID" dirty="0" err="1">
                <a:solidFill>
                  <a:srgbClr val="000000"/>
                </a:solidFill>
                <a:latin typeface="+mj-lt"/>
              </a:rPr>
              <a:t>ke</a:t>
            </a:r>
            <a:r>
              <a:rPr lang="en-US" altLang="id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id-ID" dirty="0" err="1">
                <a:solidFill>
                  <a:srgbClr val="000000"/>
                </a:solidFill>
                <a:latin typeface="+mj-lt"/>
              </a:rPr>
              <a:t>elemen</a:t>
            </a:r>
            <a:r>
              <a:rPr lang="en-US" altLang="id-ID" dirty="0">
                <a:solidFill>
                  <a:srgbClr val="000000"/>
                </a:solidFill>
                <a:latin typeface="+mj-lt"/>
              </a:rPr>
              <a:t> array </a:t>
            </a:r>
            <a:r>
              <a:rPr lang="en-US" altLang="id-ID" dirty="0" err="1">
                <a:solidFill>
                  <a:srgbClr val="000000"/>
                </a:solidFill>
                <a:latin typeface="+mj-lt"/>
              </a:rPr>
              <a:t>dilakukan</a:t>
            </a:r>
            <a:r>
              <a:rPr lang="en-US" altLang="id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id-ID" dirty="0" err="1">
                <a:solidFill>
                  <a:srgbClr val="000000"/>
                </a:solidFill>
                <a:latin typeface="+mj-lt"/>
              </a:rPr>
              <a:t>dengan</a:t>
            </a:r>
            <a:r>
              <a:rPr lang="en-US" altLang="id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id-ID" dirty="0" err="1">
                <a:solidFill>
                  <a:srgbClr val="000000"/>
                </a:solidFill>
                <a:latin typeface="+mj-lt"/>
              </a:rPr>
              <a:t>menggunakan</a:t>
            </a:r>
            <a:r>
              <a:rPr lang="en-US" altLang="id-ID" dirty="0">
                <a:solidFill>
                  <a:srgbClr val="000000"/>
                </a:solidFill>
                <a:latin typeface="+mj-lt"/>
              </a:rPr>
              <a:t> assignment operator.</a:t>
            </a:r>
          </a:p>
          <a:p>
            <a:pPr marL="450850" indent="0">
              <a:buNone/>
            </a:pPr>
            <a:r>
              <a:rPr lang="en-US" altLang="id-ID" dirty="0" err="1">
                <a:solidFill>
                  <a:srgbClr val="000000"/>
                </a:solidFill>
                <a:latin typeface="+mj-lt"/>
              </a:rPr>
              <a:t>Contoh</a:t>
            </a:r>
            <a:r>
              <a:rPr lang="en-US" altLang="id-ID" dirty="0">
                <a:solidFill>
                  <a:srgbClr val="000000"/>
                </a:solidFill>
                <a:latin typeface="+mj-lt"/>
              </a:rPr>
              <a:t> : A[6] = 15;  A[3] = 27;</a:t>
            </a:r>
          </a:p>
          <a:p>
            <a:pPr marL="457200" indent="-457200">
              <a:buFont typeface="+mj-lt"/>
              <a:buAutoNum type="alphaLcPeriod"/>
            </a:pPr>
            <a:endParaRPr lang="en-US" altLang="id-ID" dirty="0">
              <a:solidFill>
                <a:srgbClr val="000000"/>
              </a:solidFill>
              <a:latin typeface="+mj-lt"/>
            </a:endParaRPr>
          </a:p>
          <a:p>
            <a:pPr marL="457200" indent="-457200">
              <a:buFont typeface="+mj-lt"/>
              <a:buAutoNum type="alphaLcPeriod"/>
            </a:pPr>
            <a:endParaRPr lang="en-US" altLang="id-ID" dirty="0">
              <a:solidFill>
                <a:srgbClr val="000000"/>
              </a:solidFill>
              <a:latin typeface="+mj-lt"/>
            </a:endParaRPr>
          </a:p>
          <a:p>
            <a:pPr marL="457200" indent="-457200">
              <a:buFont typeface="+mj-lt"/>
              <a:buAutoNum type="alphaLcPeriod"/>
            </a:pPr>
            <a:endParaRPr lang="en-US" altLang="id-ID" dirty="0">
              <a:solidFill>
                <a:srgbClr val="000000"/>
              </a:solidFill>
              <a:latin typeface="+mj-lt"/>
            </a:endParaRPr>
          </a:p>
          <a:p>
            <a:pPr marL="457200" indent="-457200">
              <a:buFont typeface="+mj-lt"/>
              <a:buAutoNum type="alphaLcPeriod"/>
            </a:pPr>
            <a:endParaRPr lang="en-US" altLang="id-ID" dirty="0">
              <a:solidFill>
                <a:srgbClr val="000000"/>
              </a:solidFill>
              <a:latin typeface="+mj-lt"/>
            </a:endParaRPr>
          </a:p>
          <a:p>
            <a:pPr marL="457200" indent="-457200">
              <a:buFont typeface="+mj-lt"/>
              <a:buAutoNum type="alphaLcPeriod"/>
            </a:pPr>
            <a:r>
              <a:rPr lang="en-US" altLang="id-ID" dirty="0">
                <a:solidFill>
                  <a:srgbClr val="000000"/>
                </a:solidFill>
                <a:latin typeface="+mj-lt"/>
              </a:rPr>
              <a:t>Statement A[2] = A[3] - A[6], </a:t>
            </a:r>
            <a:r>
              <a:rPr lang="en-US" altLang="id-ID" dirty="0" err="1">
                <a:solidFill>
                  <a:srgbClr val="000000"/>
                </a:solidFill>
                <a:latin typeface="+mj-lt"/>
              </a:rPr>
              <a:t>menghasilkan</a:t>
            </a:r>
            <a:r>
              <a:rPr lang="en-US" altLang="id-ID" dirty="0">
                <a:solidFill>
                  <a:srgbClr val="000000"/>
                </a:solidFill>
                <a:latin typeface="+mj-lt"/>
              </a:rPr>
              <a:t> :</a:t>
            </a: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A5405EDC-783D-49D7-BF5F-9139BC0EDC9E}"/>
              </a:ext>
            </a:extLst>
          </p:cNvPr>
          <p:cNvGrpSpPr>
            <a:grpSpLocks/>
          </p:cNvGrpSpPr>
          <p:nvPr/>
        </p:nvGrpSpPr>
        <p:grpSpPr bwMode="auto">
          <a:xfrm>
            <a:off x="1867051" y="2704122"/>
            <a:ext cx="6698215" cy="1497487"/>
            <a:chOff x="0" y="0"/>
            <a:chExt cx="20000" cy="20000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10E0B437-86CA-4EFF-92B3-89CD26741F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20000" cy="20000"/>
              <a:chOff x="0" y="0"/>
              <a:chExt cx="20000" cy="20000"/>
            </a:xfrm>
          </p:grpSpPr>
          <p:sp>
            <p:nvSpPr>
              <p:cNvPr id="8" name="AutoShape 6">
                <a:extLst>
                  <a:ext uri="{FF2B5EF4-FFF2-40B4-BE49-F238E27FC236}">
                    <a16:creationId xmlns:a16="http://schemas.microsoft.com/office/drawing/2014/main" id="{DB93B19C-B6B1-46F2-95C4-DD01FD1448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25400">
                <a:solidFill>
                  <a:srgbClr val="000000"/>
                </a:solidFill>
                <a:round/>
                <a:headEnd/>
                <a:tailEnd/>
              </a:ln>
              <a:effectLst>
                <a:outerShdw dist="57238" dir="2021404" algn="ctr" rotWithShape="0">
                  <a:srgbClr val="000000"/>
                </a:outerShdw>
              </a:effectLst>
            </p:spPr>
            <p:txBody>
              <a:bodyPr lIns="9525" tIns="9525" rIns="9525" bIns="9525"/>
              <a:lstStyle/>
              <a:p>
                <a:endParaRPr lang="id-ID" altLang="id-ID" sz="1350"/>
              </a:p>
            </p:txBody>
          </p:sp>
          <p:sp>
            <p:nvSpPr>
              <p:cNvPr id="9" name="Rectangle 7">
                <a:extLst>
                  <a:ext uri="{FF2B5EF4-FFF2-40B4-BE49-F238E27FC236}">
                    <a16:creationId xmlns:a16="http://schemas.microsoft.com/office/drawing/2014/main" id="{9A2ED85E-507D-4B01-AA9F-2D143DD93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9" y="1955"/>
                <a:ext cx="19147" cy="7181"/>
              </a:xfrm>
              <a:prstGeom prst="rect">
                <a:avLst/>
              </a:prstGeom>
              <a:noFill/>
              <a:ln w="254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id-ID" sz="1350"/>
              </a:p>
            </p:txBody>
          </p:sp>
          <p:sp>
            <p:nvSpPr>
              <p:cNvPr id="10" name="Line 8">
                <a:extLst>
                  <a:ext uri="{FF2B5EF4-FFF2-40B4-BE49-F238E27FC236}">
                    <a16:creationId xmlns:a16="http://schemas.microsoft.com/office/drawing/2014/main" id="{98277570-E953-440C-93D5-922B9F3FC1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11" y="1966"/>
                <a:ext cx="3" cy="696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id-ID" sz="1350"/>
              </a:p>
            </p:txBody>
          </p:sp>
          <p:sp>
            <p:nvSpPr>
              <p:cNvPr id="11" name="Line 9">
                <a:extLst>
                  <a:ext uri="{FF2B5EF4-FFF2-40B4-BE49-F238E27FC236}">
                    <a16:creationId xmlns:a16="http://schemas.microsoft.com/office/drawing/2014/main" id="{524EB284-98B8-4737-9586-ED9D663CF7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3" y="2184"/>
                <a:ext cx="2" cy="696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id-ID" sz="1350"/>
              </a:p>
            </p:txBody>
          </p:sp>
          <p:sp>
            <p:nvSpPr>
              <p:cNvPr id="12" name="Line 10">
                <a:extLst>
                  <a:ext uri="{FF2B5EF4-FFF2-40B4-BE49-F238E27FC236}">
                    <a16:creationId xmlns:a16="http://schemas.microsoft.com/office/drawing/2014/main" id="{0FAA3DB9-7474-4D94-BEFF-A502273B3E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29" y="2118"/>
                <a:ext cx="2" cy="696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id-ID" sz="1350"/>
              </a:p>
            </p:txBody>
          </p:sp>
          <p:sp>
            <p:nvSpPr>
              <p:cNvPr id="13" name="Line 11">
                <a:extLst>
                  <a:ext uri="{FF2B5EF4-FFF2-40B4-BE49-F238E27FC236}">
                    <a16:creationId xmlns:a16="http://schemas.microsoft.com/office/drawing/2014/main" id="{263438D4-5287-4FBF-8844-7134F822F9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25" y="1955"/>
                <a:ext cx="2" cy="696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id-ID" sz="1350"/>
              </a:p>
            </p:txBody>
          </p:sp>
          <p:sp>
            <p:nvSpPr>
              <p:cNvPr id="14" name="Line 12">
                <a:extLst>
                  <a:ext uri="{FF2B5EF4-FFF2-40B4-BE49-F238E27FC236}">
                    <a16:creationId xmlns:a16="http://schemas.microsoft.com/office/drawing/2014/main" id="{FA423B0B-2276-4BDA-9AF7-841811A84D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86" y="2173"/>
                <a:ext cx="3" cy="696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id-ID" sz="1350"/>
              </a:p>
            </p:txBody>
          </p:sp>
          <p:sp>
            <p:nvSpPr>
              <p:cNvPr id="15" name="Line 13">
                <a:extLst>
                  <a:ext uri="{FF2B5EF4-FFF2-40B4-BE49-F238E27FC236}">
                    <a16:creationId xmlns:a16="http://schemas.microsoft.com/office/drawing/2014/main" id="{A16D0275-CC2B-4298-BD72-66FA44112D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978" y="2118"/>
                <a:ext cx="2" cy="696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id-ID" sz="1350"/>
              </a:p>
            </p:txBody>
          </p:sp>
          <p:sp>
            <p:nvSpPr>
              <p:cNvPr id="16" name="Line 14">
                <a:extLst>
                  <a:ext uri="{FF2B5EF4-FFF2-40B4-BE49-F238E27FC236}">
                    <a16:creationId xmlns:a16="http://schemas.microsoft.com/office/drawing/2014/main" id="{DF4943F6-14A7-4C2C-B341-4A8D95C4E5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04" y="1955"/>
                <a:ext cx="2" cy="696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id-ID" sz="1350"/>
              </a:p>
            </p:txBody>
          </p:sp>
          <p:sp>
            <p:nvSpPr>
              <p:cNvPr id="17" name="Line 15">
                <a:extLst>
                  <a:ext uri="{FF2B5EF4-FFF2-40B4-BE49-F238E27FC236}">
                    <a16:creationId xmlns:a16="http://schemas.microsoft.com/office/drawing/2014/main" id="{2A220150-07BC-4B3F-BB31-0AEAF5CCD3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865" y="2173"/>
                <a:ext cx="2" cy="6963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id-ID" sz="1350"/>
              </a:p>
            </p:txBody>
          </p:sp>
          <p:sp>
            <p:nvSpPr>
              <p:cNvPr id="18" name="Line 16">
                <a:extLst>
                  <a:ext uri="{FF2B5EF4-FFF2-40B4-BE49-F238E27FC236}">
                    <a16:creationId xmlns:a16="http://schemas.microsoft.com/office/drawing/2014/main" id="{C366187E-CCB1-4A43-A82C-1FACC16E44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56" y="2118"/>
                <a:ext cx="3" cy="696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id-ID" sz="1350"/>
              </a:p>
            </p:txBody>
          </p:sp>
          <p:grpSp>
            <p:nvGrpSpPr>
              <p:cNvPr id="19" name="Group 17">
                <a:extLst>
                  <a:ext uri="{FF2B5EF4-FFF2-40B4-BE49-F238E27FC236}">
                    <a16:creationId xmlns:a16="http://schemas.microsoft.com/office/drawing/2014/main" id="{736D0945-C685-49EE-94E1-C0BBA093906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60" y="11885"/>
                <a:ext cx="19230" cy="5236"/>
                <a:chOff x="0" y="0"/>
                <a:chExt cx="20006" cy="20000"/>
              </a:xfrm>
            </p:grpSpPr>
            <p:sp>
              <p:nvSpPr>
                <p:cNvPr id="21" name="Rectangle 18">
                  <a:extLst>
                    <a:ext uri="{FF2B5EF4-FFF2-40B4-BE49-F238E27FC236}">
                      <a16:creationId xmlns:a16="http://schemas.microsoft.com/office/drawing/2014/main" id="{1B560659-DF35-4F58-BD7D-73DC64C61D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788" cy="1995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9525" tIns="9525" rIns="9525" bIns="9525"/>
                <a:lstStyle/>
                <a:p>
                  <a:pPr algn="ctr"/>
                  <a:r>
                    <a:rPr lang="en-US" altLang="id-ID" sz="1275" b="1"/>
                    <a:t>A[0]</a:t>
                  </a:r>
                  <a:endParaRPr lang="en-US" altLang="id-ID" sz="1350"/>
                </a:p>
              </p:txBody>
            </p:sp>
            <p:sp>
              <p:nvSpPr>
                <p:cNvPr id="22" name="Rectangle 19">
                  <a:extLst>
                    <a:ext uri="{FF2B5EF4-FFF2-40B4-BE49-F238E27FC236}">
                      <a16:creationId xmlns:a16="http://schemas.microsoft.com/office/drawing/2014/main" id="{9F859371-D83B-404C-AD92-8708334FFE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58" y="0"/>
                  <a:ext cx="1788" cy="1995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9525" tIns="9525" rIns="9525" bIns="9525"/>
                <a:lstStyle/>
                <a:p>
                  <a:pPr algn="ctr"/>
                  <a:r>
                    <a:rPr lang="en-US" altLang="id-ID" sz="1275" b="1"/>
                    <a:t>A[1]</a:t>
                  </a:r>
                  <a:endParaRPr lang="en-US" altLang="id-ID" sz="1350"/>
                </a:p>
              </p:txBody>
            </p:sp>
            <p:sp>
              <p:nvSpPr>
                <p:cNvPr id="23" name="Rectangle 20">
                  <a:extLst>
                    <a:ext uri="{FF2B5EF4-FFF2-40B4-BE49-F238E27FC236}">
                      <a16:creationId xmlns:a16="http://schemas.microsoft.com/office/drawing/2014/main" id="{00BE98B1-C1A3-411D-94ED-FBB71D4586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99" y="0"/>
                  <a:ext cx="1787" cy="1995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9525" tIns="9525" rIns="9525" bIns="9525"/>
                <a:lstStyle/>
                <a:p>
                  <a:pPr algn="ctr"/>
                  <a:r>
                    <a:rPr lang="en-US" altLang="id-ID" sz="1275" b="1"/>
                    <a:t>A[2]</a:t>
                  </a:r>
                  <a:endParaRPr lang="en-US" altLang="id-ID" sz="1350"/>
                </a:p>
              </p:txBody>
            </p:sp>
            <p:sp>
              <p:nvSpPr>
                <p:cNvPr id="24" name="Rectangle 21">
                  <a:extLst>
                    <a:ext uri="{FF2B5EF4-FFF2-40B4-BE49-F238E27FC236}">
                      <a16:creationId xmlns:a16="http://schemas.microsoft.com/office/drawing/2014/main" id="{A281807B-3038-41D1-A5C3-208EEE81AB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902" y="0"/>
                  <a:ext cx="1788" cy="1995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9525" tIns="9525" rIns="9525" bIns="9525"/>
                <a:lstStyle/>
                <a:p>
                  <a:pPr algn="ctr"/>
                  <a:r>
                    <a:rPr lang="en-US" altLang="id-ID" sz="1275" b="1"/>
                    <a:t>A[3]</a:t>
                  </a:r>
                  <a:endParaRPr lang="en-US" altLang="id-ID" sz="1350"/>
                </a:p>
              </p:txBody>
            </p:sp>
            <p:sp>
              <p:nvSpPr>
                <p:cNvPr id="25" name="Rectangle 22">
                  <a:extLst>
                    <a:ext uri="{FF2B5EF4-FFF2-40B4-BE49-F238E27FC236}">
                      <a16:creationId xmlns:a16="http://schemas.microsoft.com/office/drawing/2014/main" id="{C60D0347-A734-44D0-B7E2-8BDA75CA1A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979" y="0"/>
                  <a:ext cx="1789" cy="1995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9525" tIns="9525" rIns="9525" bIns="9525"/>
                <a:lstStyle/>
                <a:p>
                  <a:pPr algn="ctr"/>
                  <a:r>
                    <a:rPr lang="en-US" altLang="id-ID" sz="1275" b="1"/>
                    <a:t>A[4]</a:t>
                  </a:r>
                  <a:endParaRPr lang="en-US" altLang="id-ID" sz="1350"/>
                </a:p>
              </p:txBody>
            </p:sp>
            <p:sp>
              <p:nvSpPr>
                <p:cNvPr id="26" name="Rectangle 23">
                  <a:extLst>
                    <a:ext uri="{FF2B5EF4-FFF2-40B4-BE49-F238E27FC236}">
                      <a16:creationId xmlns:a16="http://schemas.microsoft.com/office/drawing/2014/main" id="{52143C52-52CB-4944-9908-6C09384286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983" y="0"/>
                  <a:ext cx="1789" cy="1995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9525" tIns="9525" rIns="9525" bIns="9525"/>
                <a:lstStyle/>
                <a:p>
                  <a:pPr algn="ctr"/>
                  <a:r>
                    <a:rPr lang="en-US" altLang="id-ID" sz="1275" b="1"/>
                    <a:t>A[5]</a:t>
                  </a:r>
                  <a:endParaRPr lang="en-US" altLang="id-ID" sz="1350"/>
                </a:p>
              </p:txBody>
            </p:sp>
            <p:sp>
              <p:nvSpPr>
                <p:cNvPr id="27" name="Rectangle 24">
                  <a:extLst>
                    <a:ext uri="{FF2B5EF4-FFF2-40B4-BE49-F238E27FC236}">
                      <a16:creationId xmlns:a16="http://schemas.microsoft.com/office/drawing/2014/main" id="{974772B3-BA0D-40D6-A784-1643DB2B01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952" y="0"/>
                  <a:ext cx="1787" cy="1995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9525" tIns="9525" rIns="9525" bIns="9525"/>
                <a:lstStyle/>
                <a:p>
                  <a:pPr algn="ctr"/>
                  <a:r>
                    <a:rPr lang="en-US" altLang="id-ID" sz="1275" b="1"/>
                    <a:t>A[6]</a:t>
                  </a:r>
                  <a:endParaRPr lang="en-US" altLang="id-ID" sz="1350"/>
                </a:p>
              </p:txBody>
            </p:sp>
            <p:sp>
              <p:nvSpPr>
                <p:cNvPr id="28" name="Rectangle 25">
                  <a:extLst>
                    <a:ext uri="{FF2B5EF4-FFF2-40B4-BE49-F238E27FC236}">
                      <a16:creationId xmlns:a16="http://schemas.microsoft.com/office/drawing/2014/main" id="{363F2804-174F-4CAB-89E5-C4CD923BE4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919" y="0"/>
                  <a:ext cx="1787" cy="1995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9525" tIns="9525" rIns="9525" bIns="9525"/>
                <a:lstStyle/>
                <a:p>
                  <a:pPr algn="ctr"/>
                  <a:r>
                    <a:rPr lang="en-US" altLang="id-ID" sz="1275" b="1"/>
                    <a:t>A[7]</a:t>
                  </a:r>
                  <a:endParaRPr lang="en-US" altLang="id-ID" sz="1350"/>
                </a:p>
              </p:txBody>
            </p:sp>
            <p:sp>
              <p:nvSpPr>
                <p:cNvPr id="29" name="Rectangle 26">
                  <a:extLst>
                    <a:ext uri="{FF2B5EF4-FFF2-40B4-BE49-F238E27FC236}">
                      <a16:creationId xmlns:a16="http://schemas.microsoft.com/office/drawing/2014/main" id="{77C21893-6C61-4C31-B446-0DB7F8B63F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922" y="0"/>
                  <a:ext cx="1788" cy="1995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9525" tIns="9525" rIns="9525" bIns="9525"/>
                <a:lstStyle/>
                <a:p>
                  <a:pPr algn="ctr"/>
                  <a:r>
                    <a:rPr lang="en-US" altLang="id-ID" sz="1275" b="1"/>
                    <a:t>A[8]</a:t>
                  </a:r>
                  <a:endParaRPr lang="en-US" altLang="id-ID" sz="1350"/>
                </a:p>
              </p:txBody>
            </p:sp>
            <p:sp>
              <p:nvSpPr>
                <p:cNvPr id="30" name="Rectangle 27">
                  <a:extLst>
                    <a:ext uri="{FF2B5EF4-FFF2-40B4-BE49-F238E27FC236}">
                      <a16:creationId xmlns:a16="http://schemas.microsoft.com/office/drawing/2014/main" id="{3DFFC58A-A74F-4784-8566-DEDE2F376F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817" y="42"/>
                  <a:ext cx="2189" cy="1995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9525" tIns="9525" rIns="9525" bIns="9525"/>
                <a:lstStyle/>
                <a:p>
                  <a:pPr algn="ctr"/>
                  <a:r>
                    <a:rPr lang="en-US" altLang="id-ID" sz="1275" b="1"/>
                    <a:t>A[9]</a:t>
                  </a:r>
                  <a:endParaRPr lang="en-US" altLang="id-ID" sz="1350"/>
                </a:p>
              </p:txBody>
            </p:sp>
          </p:grpSp>
          <p:sp>
            <p:nvSpPr>
              <p:cNvPr id="20" name="Rectangle 28">
                <a:extLst>
                  <a:ext uri="{FF2B5EF4-FFF2-40B4-BE49-F238E27FC236}">
                    <a16:creationId xmlns:a16="http://schemas.microsoft.com/office/drawing/2014/main" id="{7A8DAB97-A6A0-4E3B-81C3-3C864D226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77" y="3248"/>
                <a:ext cx="1088" cy="52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525" tIns="9525" rIns="9525" bIns="9525"/>
              <a:lstStyle/>
              <a:p>
                <a:endParaRPr lang="id-ID" altLang="id-ID" sz="1350"/>
              </a:p>
            </p:txBody>
          </p:sp>
        </p:grpSp>
        <p:sp>
          <p:nvSpPr>
            <p:cNvPr id="6" name="Rectangle 29">
              <a:extLst>
                <a:ext uri="{FF2B5EF4-FFF2-40B4-BE49-F238E27FC236}">
                  <a16:creationId xmlns:a16="http://schemas.microsoft.com/office/drawing/2014/main" id="{BF69504B-7D81-4C44-8CD2-836D8FBB5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9" y="3161"/>
              <a:ext cx="1578" cy="52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525" tIns="9525" rIns="9525" bIns="9525"/>
            <a:lstStyle/>
            <a:p>
              <a:pPr algn="ctr"/>
              <a:r>
                <a:rPr lang="en-US" altLang="id-ID" sz="1275" b="1"/>
                <a:t>27</a:t>
              </a:r>
              <a:endParaRPr lang="en-US" altLang="id-ID" sz="1350"/>
            </a:p>
          </p:txBody>
        </p:sp>
        <p:sp>
          <p:nvSpPr>
            <p:cNvPr id="7" name="Rectangle 30">
              <a:extLst>
                <a:ext uri="{FF2B5EF4-FFF2-40B4-BE49-F238E27FC236}">
                  <a16:creationId xmlns:a16="http://schemas.microsoft.com/office/drawing/2014/main" id="{804AF946-6AC3-43FC-B440-643D79E65E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18" y="3161"/>
              <a:ext cx="1578" cy="52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525" tIns="9525" rIns="9525" bIns="9525"/>
            <a:lstStyle/>
            <a:p>
              <a:pPr algn="ctr"/>
              <a:r>
                <a:rPr lang="en-US" altLang="id-ID" sz="1275" b="1"/>
                <a:t>15</a:t>
              </a:r>
              <a:endParaRPr lang="en-US" altLang="id-ID" sz="1350"/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CC633C31-B43E-4792-8D08-0C50E8853C8B}"/>
              </a:ext>
            </a:extLst>
          </p:cNvPr>
          <p:cNvGrpSpPr>
            <a:grpSpLocks/>
          </p:cNvGrpSpPr>
          <p:nvPr/>
        </p:nvGrpSpPr>
        <p:grpSpPr bwMode="auto">
          <a:xfrm>
            <a:off x="1925736" y="5016906"/>
            <a:ext cx="6698215" cy="1453453"/>
            <a:chOff x="0" y="0"/>
            <a:chExt cx="20000" cy="20000"/>
          </a:xfrm>
        </p:grpSpPr>
        <p:grpSp>
          <p:nvGrpSpPr>
            <p:cNvPr id="32" name="Group 32">
              <a:extLst>
                <a:ext uri="{FF2B5EF4-FFF2-40B4-BE49-F238E27FC236}">
                  <a16:creationId xmlns:a16="http://schemas.microsoft.com/office/drawing/2014/main" id="{A40A56FB-63D7-4051-8AD2-11826B3D7B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20000" cy="20000"/>
              <a:chOff x="0" y="0"/>
              <a:chExt cx="20000" cy="20000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19EAD475-98A6-44A7-B2D5-874395D2AE0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20000" cy="20000"/>
                <a:chOff x="0" y="0"/>
                <a:chExt cx="20000" cy="20000"/>
              </a:xfrm>
            </p:grpSpPr>
            <p:sp>
              <p:nvSpPr>
                <p:cNvPr id="37" name="AutoShape 34">
                  <a:extLst>
                    <a:ext uri="{FF2B5EF4-FFF2-40B4-BE49-F238E27FC236}">
                      <a16:creationId xmlns:a16="http://schemas.microsoft.com/office/drawing/2014/main" id="{157046FF-CEBC-4F4A-85F3-E79AD09178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0000" cy="200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FFFFF"/>
                </a:solidFill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ffectLst>
                  <a:outerShdw dist="57238" dir="2021404" algn="ctr" rotWithShape="0">
                    <a:srgbClr val="000000"/>
                  </a:outerShdw>
                </a:effectLst>
              </p:spPr>
              <p:txBody>
                <a:bodyPr lIns="9525" tIns="9525" rIns="9525" bIns="9525"/>
                <a:lstStyle/>
                <a:p>
                  <a:endParaRPr lang="id-ID" altLang="id-ID" sz="1350"/>
                </a:p>
              </p:txBody>
            </p:sp>
            <p:sp>
              <p:nvSpPr>
                <p:cNvPr id="38" name="Rectangle 35">
                  <a:extLst>
                    <a:ext uri="{FF2B5EF4-FFF2-40B4-BE49-F238E27FC236}">
                      <a16:creationId xmlns:a16="http://schemas.microsoft.com/office/drawing/2014/main" id="{2A731C29-ED8D-4D8A-9840-EA20C1CA12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9" y="1955"/>
                  <a:ext cx="19147" cy="7181"/>
                </a:xfrm>
                <a:prstGeom prst="rect">
                  <a:avLst/>
                </a:prstGeom>
                <a:noFill/>
                <a:ln w="25400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id-ID" sz="1350"/>
                </a:p>
              </p:txBody>
            </p:sp>
            <p:sp>
              <p:nvSpPr>
                <p:cNvPr id="39" name="Line 36">
                  <a:extLst>
                    <a:ext uri="{FF2B5EF4-FFF2-40B4-BE49-F238E27FC236}">
                      <a16:creationId xmlns:a16="http://schemas.microsoft.com/office/drawing/2014/main" id="{875580A4-8097-4A55-A039-CCD40D9A97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11" y="1966"/>
                  <a:ext cx="3" cy="6964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id-ID" sz="1350"/>
                </a:p>
              </p:txBody>
            </p:sp>
            <p:sp>
              <p:nvSpPr>
                <p:cNvPr id="40" name="Line 37">
                  <a:extLst>
                    <a:ext uri="{FF2B5EF4-FFF2-40B4-BE49-F238E27FC236}">
                      <a16:creationId xmlns:a16="http://schemas.microsoft.com/office/drawing/2014/main" id="{A4E6EF97-0BA5-41F7-842C-CBA14EBC28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73" y="2184"/>
                  <a:ext cx="2" cy="6963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id-ID" sz="1350"/>
                </a:p>
              </p:txBody>
            </p:sp>
            <p:sp>
              <p:nvSpPr>
                <p:cNvPr id="41" name="Line 38">
                  <a:extLst>
                    <a:ext uri="{FF2B5EF4-FFF2-40B4-BE49-F238E27FC236}">
                      <a16:creationId xmlns:a16="http://schemas.microsoft.com/office/drawing/2014/main" id="{E3B9D574-0E46-43A1-9F90-13DF18ACC9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129" y="2118"/>
                  <a:ext cx="2" cy="6964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id-ID" sz="1350"/>
                </a:p>
              </p:txBody>
            </p:sp>
            <p:sp>
              <p:nvSpPr>
                <p:cNvPr id="42" name="Line 39">
                  <a:extLst>
                    <a:ext uri="{FF2B5EF4-FFF2-40B4-BE49-F238E27FC236}">
                      <a16:creationId xmlns:a16="http://schemas.microsoft.com/office/drawing/2014/main" id="{12585AC8-F6CA-4441-B714-EBE2A6067C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25" y="1955"/>
                  <a:ext cx="2" cy="6964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id-ID" sz="1350"/>
                </a:p>
              </p:txBody>
            </p:sp>
            <p:sp>
              <p:nvSpPr>
                <p:cNvPr id="43" name="Line 40">
                  <a:extLst>
                    <a:ext uri="{FF2B5EF4-FFF2-40B4-BE49-F238E27FC236}">
                      <a16:creationId xmlns:a16="http://schemas.microsoft.com/office/drawing/2014/main" id="{A288B20E-BD87-4DA6-A3CB-D85FBB1527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086" y="2173"/>
                  <a:ext cx="3" cy="6963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id-ID" sz="1350"/>
                </a:p>
              </p:txBody>
            </p:sp>
            <p:sp>
              <p:nvSpPr>
                <p:cNvPr id="44" name="Line 41">
                  <a:extLst>
                    <a:ext uri="{FF2B5EF4-FFF2-40B4-BE49-F238E27FC236}">
                      <a16:creationId xmlns:a16="http://schemas.microsoft.com/office/drawing/2014/main" id="{BB3953D6-A0CF-4AA5-BC05-B04B4DF4F3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978" y="2118"/>
                  <a:ext cx="2" cy="6964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id-ID" sz="1350"/>
                </a:p>
              </p:txBody>
            </p:sp>
            <p:sp>
              <p:nvSpPr>
                <p:cNvPr id="45" name="Line 42">
                  <a:extLst>
                    <a:ext uri="{FF2B5EF4-FFF2-40B4-BE49-F238E27FC236}">
                      <a16:creationId xmlns:a16="http://schemas.microsoft.com/office/drawing/2014/main" id="{3F0993BD-7B15-4754-8732-3B57043E5E4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04" y="1955"/>
                  <a:ext cx="2" cy="6964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id-ID" sz="1350"/>
                </a:p>
              </p:txBody>
            </p:sp>
            <p:sp>
              <p:nvSpPr>
                <p:cNvPr id="46" name="Line 43">
                  <a:extLst>
                    <a:ext uri="{FF2B5EF4-FFF2-40B4-BE49-F238E27FC236}">
                      <a16:creationId xmlns:a16="http://schemas.microsoft.com/office/drawing/2014/main" id="{920DC9E6-723F-4F4F-A370-A30295CE77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865" y="2173"/>
                  <a:ext cx="2" cy="6963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id-ID" sz="1350"/>
                </a:p>
              </p:txBody>
            </p:sp>
            <p:sp>
              <p:nvSpPr>
                <p:cNvPr id="47" name="Line 44">
                  <a:extLst>
                    <a:ext uri="{FF2B5EF4-FFF2-40B4-BE49-F238E27FC236}">
                      <a16:creationId xmlns:a16="http://schemas.microsoft.com/office/drawing/2014/main" id="{E4B53CD2-102D-4BD0-89C9-771E406AA4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756" y="2118"/>
                  <a:ext cx="3" cy="6964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id-ID" sz="1350"/>
                </a:p>
              </p:txBody>
            </p:sp>
            <p:grpSp>
              <p:nvGrpSpPr>
                <p:cNvPr id="48" name="Group 45">
                  <a:extLst>
                    <a:ext uri="{FF2B5EF4-FFF2-40B4-BE49-F238E27FC236}">
                      <a16:creationId xmlns:a16="http://schemas.microsoft.com/office/drawing/2014/main" id="{6C026946-C80A-4AA7-BC55-39812ADE65A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60" y="11885"/>
                  <a:ext cx="19230" cy="5236"/>
                  <a:chOff x="0" y="0"/>
                  <a:chExt cx="20006" cy="20000"/>
                </a:xfrm>
              </p:grpSpPr>
              <p:sp>
                <p:nvSpPr>
                  <p:cNvPr id="50" name="Rectangle 46">
                    <a:extLst>
                      <a:ext uri="{FF2B5EF4-FFF2-40B4-BE49-F238E27FC236}">
                        <a16:creationId xmlns:a16="http://schemas.microsoft.com/office/drawing/2014/main" id="{8CCB371E-F121-4F0F-9FEB-B492CE01222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1788" cy="1995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9525" tIns="9525" rIns="9525" bIns="9525"/>
                  <a:lstStyle/>
                  <a:p>
                    <a:pPr algn="ctr"/>
                    <a:r>
                      <a:rPr lang="en-US" altLang="id-ID" sz="1275" b="1"/>
                      <a:t>A[0]</a:t>
                    </a:r>
                    <a:endParaRPr lang="en-US" altLang="id-ID" sz="1350"/>
                  </a:p>
                </p:txBody>
              </p:sp>
              <p:sp>
                <p:nvSpPr>
                  <p:cNvPr id="51" name="Rectangle 47">
                    <a:extLst>
                      <a:ext uri="{FF2B5EF4-FFF2-40B4-BE49-F238E27FC236}">
                        <a16:creationId xmlns:a16="http://schemas.microsoft.com/office/drawing/2014/main" id="{9DE10B79-D7D5-4904-AD41-F3C17BDC939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858" y="0"/>
                    <a:ext cx="1788" cy="1995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9525" tIns="9525" rIns="9525" bIns="9525"/>
                  <a:lstStyle/>
                  <a:p>
                    <a:pPr algn="ctr"/>
                    <a:r>
                      <a:rPr lang="en-US" altLang="id-ID" sz="1275" b="1"/>
                      <a:t>A[1]</a:t>
                    </a:r>
                    <a:endParaRPr lang="en-US" altLang="id-ID" sz="1350"/>
                  </a:p>
                </p:txBody>
              </p:sp>
              <p:sp>
                <p:nvSpPr>
                  <p:cNvPr id="52" name="Rectangle 48">
                    <a:extLst>
                      <a:ext uri="{FF2B5EF4-FFF2-40B4-BE49-F238E27FC236}">
                        <a16:creationId xmlns:a16="http://schemas.microsoft.com/office/drawing/2014/main" id="{C8A501D9-7899-4E67-A3A0-DAD2384BE1A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899" y="0"/>
                    <a:ext cx="1787" cy="1995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9525" tIns="9525" rIns="9525" bIns="9525"/>
                  <a:lstStyle/>
                  <a:p>
                    <a:pPr algn="ctr"/>
                    <a:r>
                      <a:rPr lang="en-US" altLang="id-ID" sz="1275" b="1"/>
                      <a:t>A[2]</a:t>
                    </a:r>
                    <a:endParaRPr lang="en-US" altLang="id-ID" sz="1350"/>
                  </a:p>
                </p:txBody>
              </p:sp>
              <p:sp>
                <p:nvSpPr>
                  <p:cNvPr id="53" name="Rectangle 49">
                    <a:extLst>
                      <a:ext uri="{FF2B5EF4-FFF2-40B4-BE49-F238E27FC236}">
                        <a16:creationId xmlns:a16="http://schemas.microsoft.com/office/drawing/2014/main" id="{A5449714-30F6-48C1-BF70-98DE471BBB5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902" y="0"/>
                    <a:ext cx="1788" cy="1995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9525" tIns="9525" rIns="9525" bIns="9525"/>
                  <a:lstStyle/>
                  <a:p>
                    <a:pPr algn="ctr"/>
                    <a:r>
                      <a:rPr lang="en-US" altLang="id-ID" sz="1275" b="1"/>
                      <a:t>A[3]</a:t>
                    </a:r>
                    <a:endParaRPr lang="en-US" altLang="id-ID" sz="1350"/>
                  </a:p>
                </p:txBody>
              </p:sp>
              <p:sp>
                <p:nvSpPr>
                  <p:cNvPr id="54" name="Rectangle 50">
                    <a:extLst>
                      <a:ext uri="{FF2B5EF4-FFF2-40B4-BE49-F238E27FC236}">
                        <a16:creationId xmlns:a16="http://schemas.microsoft.com/office/drawing/2014/main" id="{3568E909-5DB7-489A-9F00-303B072EFDE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979" y="0"/>
                    <a:ext cx="1789" cy="1995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9525" tIns="9525" rIns="9525" bIns="9525"/>
                  <a:lstStyle/>
                  <a:p>
                    <a:pPr algn="ctr"/>
                    <a:r>
                      <a:rPr lang="en-US" altLang="id-ID" sz="1275" b="1"/>
                      <a:t>A[4]</a:t>
                    </a:r>
                    <a:endParaRPr lang="en-US" altLang="id-ID" sz="1350"/>
                  </a:p>
                </p:txBody>
              </p:sp>
              <p:sp>
                <p:nvSpPr>
                  <p:cNvPr id="55" name="Rectangle 51">
                    <a:extLst>
                      <a:ext uri="{FF2B5EF4-FFF2-40B4-BE49-F238E27FC236}">
                        <a16:creationId xmlns:a16="http://schemas.microsoft.com/office/drawing/2014/main" id="{1178EF63-6FAF-4068-A177-76A00E599FB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983" y="0"/>
                    <a:ext cx="1789" cy="1995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9525" tIns="9525" rIns="9525" bIns="9525"/>
                  <a:lstStyle/>
                  <a:p>
                    <a:pPr algn="ctr"/>
                    <a:r>
                      <a:rPr lang="en-US" altLang="id-ID" sz="1275" b="1"/>
                      <a:t>A[5]</a:t>
                    </a:r>
                    <a:endParaRPr lang="en-US" altLang="id-ID" sz="1350"/>
                  </a:p>
                </p:txBody>
              </p:sp>
              <p:sp>
                <p:nvSpPr>
                  <p:cNvPr id="56" name="Rectangle 52">
                    <a:extLst>
                      <a:ext uri="{FF2B5EF4-FFF2-40B4-BE49-F238E27FC236}">
                        <a16:creationId xmlns:a16="http://schemas.microsoft.com/office/drawing/2014/main" id="{D4D5F194-61B7-47A4-AA71-CA280219BC6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952" y="0"/>
                    <a:ext cx="1787" cy="1995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9525" tIns="9525" rIns="9525" bIns="9525"/>
                  <a:lstStyle/>
                  <a:p>
                    <a:pPr algn="ctr"/>
                    <a:r>
                      <a:rPr lang="en-US" altLang="id-ID" sz="1275" b="1"/>
                      <a:t>A[6]</a:t>
                    </a:r>
                    <a:endParaRPr lang="en-US" altLang="id-ID" sz="1350"/>
                  </a:p>
                </p:txBody>
              </p:sp>
              <p:sp>
                <p:nvSpPr>
                  <p:cNvPr id="57" name="Rectangle 53">
                    <a:extLst>
                      <a:ext uri="{FF2B5EF4-FFF2-40B4-BE49-F238E27FC236}">
                        <a16:creationId xmlns:a16="http://schemas.microsoft.com/office/drawing/2014/main" id="{D6BF337E-1D17-4C0B-BEB9-604E41B78C7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3919" y="0"/>
                    <a:ext cx="1787" cy="1995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9525" tIns="9525" rIns="9525" bIns="9525"/>
                  <a:lstStyle/>
                  <a:p>
                    <a:pPr algn="ctr"/>
                    <a:r>
                      <a:rPr lang="en-US" altLang="id-ID" sz="1275" b="1"/>
                      <a:t>A[7]</a:t>
                    </a:r>
                    <a:endParaRPr lang="en-US" altLang="id-ID" sz="1350"/>
                  </a:p>
                </p:txBody>
              </p:sp>
              <p:sp>
                <p:nvSpPr>
                  <p:cNvPr id="58" name="Rectangle 54">
                    <a:extLst>
                      <a:ext uri="{FF2B5EF4-FFF2-40B4-BE49-F238E27FC236}">
                        <a16:creationId xmlns:a16="http://schemas.microsoft.com/office/drawing/2014/main" id="{F5792D97-C0E3-40E8-B087-B137A6D57BC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5922" y="0"/>
                    <a:ext cx="1788" cy="1995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9525" tIns="9525" rIns="9525" bIns="9525"/>
                  <a:lstStyle/>
                  <a:p>
                    <a:pPr algn="ctr"/>
                    <a:r>
                      <a:rPr lang="en-US" altLang="id-ID" sz="1275" b="1"/>
                      <a:t>A[8]</a:t>
                    </a:r>
                    <a:endParaRPr lang="en-US" altLang="id-ID" sz="1350"/>
                  </a:p>
                </p:txBody>
              </p:sp>
              <p:sp>
                <p:nvSpPr>
                  <p:cNvPr id="59" name="Rectangle 55">
                    <a:extLst>
                      <a:ext uri="{FF2B5EF4-FFF2-40B4-BE49-F238E27FC236}">
                        <a16:creationId xmlns:a16="http://schemas.microsoft.com/office/drawing/2014/main" id="{6E5F720B-8D5A-4F14-8486-09229A2D300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7817" y="42"/>
                    <a:ext cx="2189" cy="1995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254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a14:hiddenEffects>
                    </a:ext>
                  </a:extLst>
                </p:spPr>
                <p:txBody>
                  <a:bodyPr lIns="9525" tIns="9525" rIns="9525" bIns="9525"/>
                  <a:lstStyle/>
                  <a:p>
                    <a:pPr algn="ctr"/>
                    <a:r>
                      <a:rPr lang="en-US" altLang="id-ID" sz="1275" b="1"/>
                      <a:t>A[9]</a:t>
                    </a:r>
                    <a:endParaRPr lang="en-US" altLang="id-ID" sz="1350"/>
                  </a:p>
                </p:txBody>
              </p:sp>
            </p:grpSp>
            <p:sp>
              <p:nvSpPr>
                <p:cNvPr id="49" name="Rectangle 56">
                  <a:extLst>
                    <a:ext uri="{FF2B5EF4-FFF2-40B4-BE49-F238E27FC236}">
                      <a16:creationId xmlns:a16="http://schemas.microsoft.com/office/drawing/2014/main" id="{A7DE93C7-4572-48B9-8DD8-D0CB5ECABC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177" y="3248"/>
                  <a:ext cx="1088" cy="522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lIns="9525" tIns="9525" rIns="9525" bIns="9525"/>
                <a:lstStyle/>
                <a:p>
                  <a:endParaRPr lang="id-ID" altLang="id-ID" sz="1350"/>
                </a:p>
              </p:txBody>
            </p:sp>
          </p:grpSp>
          <p:sp>
            <p:nvSpPr>
              <p:cNvPr id="35" name="Rectangle 57">
                <a:extLst>
                  <a:ext uri="{FF2B5EF4-FFF2-40B4-BE49-F238E27FC236}">
                    <a16:creationId xmlns:a16="http://schemas.microsoft.com/office/drawing/2014/main" id="{DB1AA710-EFA5-45AD-9683-37E8852174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09" y="3161"/>
                <a:ext cx="1578" cy="52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525" tIns="9525" rIns="9525" bIns="9525"/>
              <a:lstStyle/>
              <a:p>
                <a:pPr algn="ctr"/>
                <a:r>
                  <a:rPr lang="en-US" altLang="id-ID" sz="1275" b="1"/>
                  <a:t>27</a:t>
                </a:r>
                <a:endParaRPr lang="en-US" altLang="id-ID" sz="1350"/>
              </a:p>
            </p:txBody>
          </p:sp>
          <p:sp>
            <p:nvSpPr>
              <p:cNvPr id="36" name="Rectangle 58">
                <a:extLst>
                  <a:ext uri="{FF2B5EF4-FFF2-40B4-BE49-F238E27FC236}">
                    <a16:creationId xmlns:a16="http://schemas.microsoft.com/office/drawing/2014/main" id="{9EF9C00F-3BD6-4647-94C5-210B8D9051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18" y="3161"/>
                <a:ext cx="1578" cy="52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lIns="9525" tIns="9525" rIns="9525" bIns="9525"/>
              <a:lstStyle/>
              <a:p>
                <a:pPr algn="ctr"/>
                <a:r>
                  <a:rPr lang="en-US" altLang="id-ID" sz="1275" b="1"/>
                  <a:t>15</a:t>
                </a:r>
                <a:endParaRPr lang="en-US" altLang="id-ID" sz="1350"/>
              </a:p>
            </p:txBody>
          </p:sp>
        </p:grpSp>
        <p:sp>
          <p:nvSpPr>
            <p:cNvPr id="33" name="Rectangle 59">
              <a:extLst>
                <a:ext uri="{FF2B5EF4-FFF2-40B4-BE49-F238E27FC236}">
                  <a16:creationId xmlns:a16="http://schemas.microsoft.com/office/drawing/2014/main" id="{4CCB518D-1735-46D7-85AE-FE37E83951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3" y="3303"/>
              <a:ext cx="1543" cy="45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525" tIns="9525" rIns="9525" bIns="9525"/>
            <a:lstStyle/>
            <a:p>
              <a:pPr algn="ctr"/>
              <a:r>
                <a:rPr lang="en-US" altLang="id-ID" sz="1275" b="1"/>
                <a:t>12</a:t>
              </a:r>
              <a:endParaRPr lang="en-US" altLang="id-ID" sz="1350"/>
            </a:p>
          </p:txBody>
        </p:sp>
      </p:grpSp>
    </p:spTree>
    <p:extLst>
      <p:ext uri="{BB962C8B-B14F-4D97-AF65-F5344CB8AC3E}">
        <p14:creationId xmlns:p14="http://schemas.microsoft.com/office/powerpoint/2010/main" val="1810244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 bwMode="auto">
          <a:xfrm>
            <a:off x="914400" y="579438"/>
            <a:ext cx="8229600" cy="9271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id-ID" sz="4000" dirty="0" err="1">
                <a:latin typeface="+mj-lt"/>
              </a:rPr>
              <a:t>Inisialisasi</a:t>
            </a:r>
            <a:r>
              <a:rPr lang="en-US" altLang="id-ID" sz="4000" dirty="0">
                <a:latin typeface="+mj-lt"/>
              </a:rPr>
              <a:t> Array</a:t>
            </a:r>
            <a:endParaRPr lang="en-US" altLang="en-US" sz="4000" dirty="0">
              <a:latin typeface="+mj-lt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1096193" y="1454934"/>
            <a:ext cx="9425193" cy="4176712"/>
          </a:xfrm>
        </p:spPr>
        <p:txBody>
          <a:bodyPr>
            <a:normAutofit/>
          </a:bodyPr>
          <a:lstStyle/>
          <a:p>
            <a:pPr marL="457200" indent="-457200">
              <a:lnSpc>
                <a:spcPct val="90000"/>
              </a:lnSpc>
              <a:buFont typeface="+mj-lt"/>
              <a:buAutoNum type="alphaLcPeriod"/>
            </a:pPr>
            <a:r>
              <a:rPr lang="en-US" altLang="id-ID" dirty="0">
                <a:solidFill>
                  <a:srgbClr val="000000"/>
                </a:solidFill>
                <a:latin typeface="+mj-lt"/>
              </a:rPr>
              <a:t>Array </a:t>
            </a:r>
            <a:r>
              <a:rPr lang="en-US" altLang="id-ID" dirty="0" err="1">
                <a:solidFill>
                  <a:srgbClr val="000000"/>
                </a:solidFill>
                <a:latin typeface="+mj-lt"/>
              </a:rPr>
              <a:t>dapat</a:t>
            </a:r>
            <a:r>
              <a:rPr lang="en-US" altLang="id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id-ID" dirty="0" err="1">
                <a:solidFill>
                  <a:srgbClr val="000000"/>
                </a:solidFill>
                <a:latin typeface="+mj-lt"/>
              </a:rPr>
              <a:t>diinisialisasi</a:t>
            </a:r>
            <a:r>
              <a:rPr lang="en-US" altLang="id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id-ID" dirty="0" err="1">
                <a:solidFill>
                  <a:srgbClr val="000000"/>
                </a:solidFill>
                <a:latin typeface="+mj-lt"/>
              </a:rPr>
              <a:t>secara</a:t>
            </a:r>
            <a:r>
              <a:rPr lang="en-US" altLang="id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id-ID" dirty="0" err="1">
                <a:solidFill>
                  <a:srgbClr val="000000"/>
                </a:solidFill>
                <a:latin typeface="+mj-lt"/>
              </a:rPr>
              <a:t>eksplisit</a:t>
            </a:r>
            <a:r>
              <a:rPr lang="en-US" altLang="id-ID" dirty="0">
                <a:solidFill>
                  <a:srgbClr val="000000"/>
                </a:solidFill>
                <a:latin typeface="+mj-lt"/>
              </a:rPr>
              <a:t> pada </a:t>
            </a:r>
            <a:r>
              <a:rPr lang="en-US" altLang="id-ID" dirty="0" err="1">
                <a:solidFill>
                  <a:srgbClr val="000000"/>
                </a:solidFill>
                <a:latin typeface="+mj-lt"/>
              </a:rPr>
              <a:t>saat</a:t>
            </a:r>
            <a:r>
              <a:rPr lang="en-US" altLang="id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id-ID" dirty="0" err="1">
                <a:solidFill>
                  <a:srgbClr val="000000"/>
                </a:solidFill>
                <a:latin typeface="+mj-lt"/>
              </a:rPr>
              <a:t>didefinisikan</a:t>
            </a:r>
            <a:r>
              <a:rPr lang="en-US" altLang="id-ID" dirty="0">
                <a:solidFill>
                  <a:srgbClr val="000000"/>
                </a:solidFill>
                <a:latin typeface="+mj-lt"/>
              </a:rPr>
              <a:t> dan </a:t>
            </a:r>
            <a:r>
              <a:rPr lang="en-US" altLang="id-ID" dirty="0" err="1">
                <a:solidFill>
                  <a:srgbClr val="000000"/>
                </a:solidFill>
                <a:latin typeface="+mj-lt"/>
              </a:rPr>
              <a:t>tidak</a:t>
            </a:r>
            <a:r>
              <a:rPr lang="en-US" altLang="id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id-ID" dirty="0" err="1">
                <a:solidFill>
                  <a:srgbClr val="000000"/>
                </a:solidFill>
                <a:latin typeface="+mj-lt"/>
              </a:rPr>
              <a:t>perlu</a:t>
            </a:r>
            <a:r>
              <a:rPr lang="en-US" altLang="id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id-ID" dirty="0" err="1">
                <a:solidFill>
                  <a:srgbClr val="000000"/>
                </a:solidFill>
                <a:latin typeface="+mj-lt"/>
              </a:rPr>
              <a:t>diberikan</a:t>
            </a:r>
            <a:r>
              <a:rPr lang="en-US" altLang="id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id-ID" dirty="0" err="1">
                <a:solidFill>
                  <a:srgbClr val="000000"/>
                </a:solidFill>
                <a:latin typeface="+mj-lt"/>
              </a:rPr>
              <a:t>nilai</a:t>
            </a:r>
            <a:r>
              <a:rPr lang="en-US" altLang="id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id-ID" dirty="0" err="1">
                <a:solidFill>
                  <a:srgbClr val="000000"/>
                </a:solidFill>
                <a:latin typeface="+mj-lt"/>
              </a:rPr>
              <a:t>dimensinya</a:t>
            </a:r>
            <a:r>
              <a:rPr lang="en-US" altLang="id-ID" dirty="0">
                <a:solidFill>
                  <a:srgbClr val="000000"/>
                </a:solidFill>
                <a:latin typeface="+mj-lt"/>
              </a:rPr>
              <a:t>.</a:t>
            </a:r>
            <a:endParaRPr lang="en-US" altLang="id-ID" i="1" dirty="0">
              <a:solidFill>
                <a:srgbClr val="000000"/>
              </a:solidFill>
              <a:latin typeface="+mj-lt"/>
            </a:endParaRPr>
          </a:p>
          <a:p>
            <a:pPr marL="450850" indent="0">
              <a:lnSpc>
                <a:spcPct val="90000"/>
              </a:lnSpc>
              <a:buNone/>
            </a:pPr>
            <a:r>
              <a:rPr lang="en-US" altLang="id-ID" i="1" dirty="0" err="1">
                <a:solidFill>
                  <a:srgbClr val="000000"/>
                </a:solidFill>
                <a:latin typeface="+mj-lt"/>
              </a:rPr>
              <a:t>Contoh</a:t>
            </a:r>
            <a:r>
              <a:rPr lang="en-US" altLang="id-ID" i="1" dirty="0">
                <a:solidFill>
                  <a:srgbClr val="000000"/>
                </a:solidFill>
                <a:latin typeface="+mj-lt"/>
              </a:rPr>
              <a:t>: </a:t>
            </a:r>
          </a:p>
          <a:p>
            <a:pPr marL="450850" indent="0">
              <a:lnSpc>
                <a:spcPct val="90000"/>
              </a:lnSpc>
              <a:buNone/>
            </a:pPr>
            <a:r>
              <a:rPr lang="en-US" altLang="id-ID" sz="2400" i="1" dirty="0">
                <a:solidFill>
                  <a:srgbClr val="000000"/>
                </a:solidFill>
                <a:latin typeface="+mj-lt"/>
              </a:rPr>
              <a:t>		int B[ ]={1, 2, -4, 8};</a:t>
            </a:r>
            <a:endParaRPr lang="en-US" altLang="id-ID" sz="2400" dirty="0">
              <a:solidFill>
                <a:srgbClr val="000000"/>
              </a:solidFill>
              <a:latin typeface="+mj-lt"/>
            </a:endParaRPr>
          </a:p>
          <a:p>
            <a:pPr marL="457200" indent="-457200">
              <a:lnSpc>
                <a:spcPct val="90000"/>
              </a:lnSpc>
              <a:buFont typeface="+mj-lt"/>
              <a:buAutoNum type="alphaLcPeriod" startAt="2"/>
            </a:pPr>
            <a:r>
              <a:rPr lang="en-US" altLang="id-ID" dirty="0" err="1">
                <a:solidFill>
                  <a:srgbClr val="000000"/>
                </a:solidFill>
                <a:latin typeface="+mj-lt"/>
              </a:rPr>
              <a:t>Contoh</a:t>
            </a:r>
            <a:r>
              <a:rPr lang="en-US" altLang="id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id-ID" dirty="0" err="1">
                <a:solidFill>
                  <a:srgbClr val="000000"/>
                </a:solidFill>
                <a:latin typeface="+mj-lt"/>
              </a:rPr>
              <a:t>inisialisasi</a:t>
            </a:r>
            <a:r>
              <a:rPr lang="en-US" altLang="id-ID" dirty="0">
                <a:solidFill>
                  <a:srgbClr val="000000"/>
                </a:solidFill>
                <a:latin typeface="+mj-lt"/>
              </a:rPr>
              <a:t> array </a:t>
            </a:r>
            <a:r>
              <a:rPr lang="en-US" altLang="id-ID" dirty="0" err="1">
                <a:solidFill>
                  <a:srgbClr val="000000"/>
                </a:solidFill>
                <a:latin typeface="+mj-lt"/>
              </a:rPr>
              <a:t>setelah</a:t>
            </a:r>
            <a:r>
              <a:rPr lang="en-US" altLang="id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US" altLang="id-ID" dirty="0" err="1">
                <a:solidFill>
                  <a:srgbClr val="000000"/>
                </a:solidFill>
                <a:latin typeface="+mj-lt"/>
              </a:rPr>
              <a:t>didefinisikan</a:t>
            </a:r>
            <a:r>
              <a:rPr lang="en-US" altLang="id-ID" dirty="0">
                <a:solidFill>
                  <a:srgbClr val="000000"/>
                </a:solidFill>
                <a:latin typeface="+mj-lt"/>
              </a:rPr>
              <a:t> :</a:t>
            </a:r>
          </a:p>
          <a:p>
            <a:pPr marL="1793875" lvl="2" indent="0">
              <a:lnSpc>
                <a:spcPct val="90000"/>
              </a:lnSpc>
              <a:buNone/>
            </a:pPr>
            <a:r>
              <a:rPr lang="en-US" altLang="id-ID" sz="2400" dirty="0">
                <a:solidFill>
                  <a:srgbClr val="000000"/>
                </a:solidFill>
                <a:latin typeface="+mj-lt"/>
              </a:rPr>
              <a:t>int A[5];</a:t>
            </a:r>
          </a:p>
          <a:p>
            <a:pPr marL="1793875" lvl="2" indent="0">
              <a:lnSpc>
                <a:spcPct val="90000"/>
              </a:lnSpc>
              <a:buNone/>
            </a:pPr>
            <a:r>
              <a:rPr lang="en-US" altLang="id-ID" sz="2400" dirty="0">
                <a:solidFill>
                  <a:srgbClr val="000000"/>
                </a:solidFill>
                <a:latin typeface="+mj-lt"/>
              </a:rPr>
              <a:t>(for </a:t>
            </a:r>
            <a:r>
              <a:rPr lang="en-US" altLang="id-ID" sz="2400" dirty="0" err="1">
                <a:solidFill>
                  <a:srgbClr val="000000"/>
                </a:solidFill>
                <a:latin typeface="+mj-lt"/>
              </a:rPr>
              <a:t>i</a:t>
            </a:r>
            <a:r>
              <a:rPr lang="en-US" altLang="id-ID" sz="2400" dirty="0">
                <a:solidFill>
                  <a:srgbClr val="000000"/>
                </a:solidFill>
                <a:latin typeface="+mj-lt"/>
              </a:rPr>
              <a:t>=0; </a:t>
            </a:r>
            <a:r>
              <a:rPr lang="en-US" altLang="id-ID" sz="2400" dirty="0" err="1">
                <a:solidFill>
                  <a:srgbClr val="000000"/>
                </a:solidFill>
                <a:latin typeface="+mj-lt"/>
              </a:rPr>
              <a:t>i</a:t>
            </a:r>
            <a:r>
              <a:rPr lang="en-US" altLang="id-ID" sz="2400" dirty="0">
                <a:solidFill>
                  <a:srgbClr val="000000"/>
                </a:solidFill>
                <a:latin typeface="+mj-lt"/>
              </a:rPr>
              <a:t>&lt;5;i++) A[</a:t>
            </a:r>
            <a:r>
              <a:rPr lang="en-US" altLang="id-ID" sz="2400" dirty="0" err="1">
                <a:solidFill>
                  <a:srgbClr val="000000"/>
                </a:solidFill>
                <a:latin typeface="+mj-lt"/>
              </a:rPr>
              <a:t>i</a:t>
            </a:r>
            <a:r>
              <a:rPr lang="en-US" altLang="id-ID" sz="2400" dirty="0">
                <a:solidFill>
                  <a:srgbClr val="000000"/>
                </a:solidFill>
                <a:latin typeface="+mj-lt"/>
              </a:rPr>
              <a:t>]=0;</a:t>
            </a:r>
          </a:p>
          <a:p>
            <a:pPr marL="1793875" lvl="2" indent="0">
              <a:lnSpc>
                <a:spcPct val="90000"/>
              </a:lnSpc>
              <a:buNone/>
            </a:pPr>
            <a:endParaRPr lang="en-US" altLang="id-ID" sz="2400" dirty="0">
              <a:solidFill>
                <a:srgbClr val="000000"/>
              </a:solidFill>
              <a:latin typeface="+mj-lt"/>
            </a:endParaRPr>
          </a:p>
          <a:p>
            <a:pPr marL="1793875" lvl="2" indent="0">
              <a:lnSpc>
                <a:spcPct val="90000"/>
              </a:lnSpc>
              <a:buNone/>
            </a:pPr>
            <a:r>
              <a:rPr lang="en-US" altLang="id-ID" sz="2400" dirty="0">
                <a:solidFill>
                  <a:srgbClr val="000000"/>
                </a:solidFill>
                <a:latin typeface="+mj-lt"/>
              </a:rPr>
              <a:t>int B[5];	 </a:t>
            </a:r>
          </a:p>
          <a:p>
            <a:pPr marL="1793875" lvl="2" indent="0">
              <a:lnSpc>
                <a:spcPct val="90000"/>
              </a:lnSpc>
              <a:buNone/>
            </a:pPr>
            <a:r>
              <a:rPr lang="en-US" altLang="id-ID" sz="2400" dirty="0">
                <a:solidFill>
                  <a:srgbClr val="000000"/>
                </a:solidFill>
                <a:latin typeface="+mj-lt"/>
              </a:rPr>
              <a:t>B[5]={0,0,0,0,0};</a:t>
            </a:r>
          </a:p>
        </p:txBody>
      </p:sp>
      <p:sp>
        <p:nvSpPr>
          <p:cNvPr id="2" name="AutoShape 4">
            <a:extLst>
              <a:ext uri="{FF2B5EF4-FFF2-40B4-BE49-F238E27FC236}">
                <a16:creationId xmlns:a16="http://schemas.microsoft.com/office/drawing/2014/main" id="{DC980394-3DBE-4D6E-BE1D-89AA190D668F}"/>
              </a:ext>
            </a:extLst>
          </p:cNvPr>
          <p:cNvSpPr>
            <a:spLocks/>
          </p:cNvSpPr>
          <p:nvPr/>
        </p:nvSpPr>
        <p:spPr bwMode="auto">
          <a:xfrm>
            <a:off x="5330142" y="4798241"/>
            <a:ext cx="342900" cy="571500"/>
          </a:xfrm>
          <a:prstGeom prst="rightBrace">
            <a:avLst>
              <a:gd name="adj1" fmla="val 13889"/>
              <a:gd name="adj2" fmla="val 48333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d-ID" sz="1350"/>
          </a:p>
        </p:txBody>
      </p:sp>
      <p:sp>
        <p:nvSpPr>
          <p:cNvPr id="61" name="Text Box 5">
            <a:extLst>
              <a:ext uri="{FF2B5EF4-FFF2-40B4-BE49-F238E27FC236}">
                <a16:creationId xmlns:a16="http://schemas.microsoft.com/office/drawing/2014/main" id="{764E21AA-40C8-47DD-BD24-837D7882A7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8789" y="4933950"/>
            <a:ext cx="1028700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id-ID" sz="1350" dirty="0">
                <a:solidFill>
                  <a:srgbClr val="FF3300"/>
                </a:solidFill>
              </a:rPr>
              <a:t>Error</a:t>
            </a:r>
          </a:p>
        </p:txBody>
      </p:sp>
    </p:spTree>
    <p:extLst>
      <p:ext uri="{BB962C8B-B14F-4D97-AF65-F5344CB8AC3E}">
        <p14:creationId xmlns:p14="http://schemas.microsoft.com/office/powerpoint/2010/main" val="3823987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ctrTitle"/>
          </p:nvPr>
        </p:nvSpPr>
        <p:spPr bwMode="auto">
          <a:xfrm>
            <a:off x="5133853" y="897325"/>
            <a:ext cx="6144669" cy="6613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id-ID" sz="4000" dirty="0">
                <a:latin typeface="+mj-lt"/>
              </a:rPr>
              <a:t>Array </a:t>
            </a:r>
            <a:r>
              <a:rPr lang="en-US" altLang="id-ID" sz="4000" dirty="0" err="1">
                <a:latin typeface="+mj-lt"/>
              </a:rPr>
              <a:t>Dimensi</a:t>
            </a:r>
            <a:r>
              <a:rPr lang="en-US" altLang="id-ID" sz="4000" dirty="0">
                <a:latin typeface="+mj-lt"/>
              </a:rPr>
              <a:t> </a:t>
            </a:r>
            <a:r>
              <a:rPr lang="en-US" altLang="id-ID" sz="4000" dirty="0" err="1">
                <a:latin typeface="+mj-lt"/>
              </a:rPr>
              <a:t>Dua</a:t>
            </a:r>
            <a:endParaRPr lang="en-US" altLang="en-US" sz="4000" dirty="0">
              <a:latin typeface="+mj-lt"/>
              <a:cs typeface="Arial" charset="0"/>
            </a:endParaRPr>
          </a:p>
        </p:txBody>
      </p:sp>
      <p:pic>
        <p:nvPicPr>
          <p:cNvPr id="58" name="Picture Placeholder 57" descr="A diagram of a cube with text and symbols&#10;&#10;Description automatically generated with medium confidence">
            <a:extLst>
              <a:ext uri="{FF2B5EF4-FFF2-40B4-BE49-F238E27FC236}">
                <a16:creationId xmlns:a16="http://schemas.microsoft.com/office/drawing/2014/main" id="{D3F036CE-E910-C3DB-D785-E4E5C61424C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94" t="15818" r="34170" b="77"/>
          <a:stretch/>
        </p:blipFill>
        <p:spPr>
          <a:xfrm>
            <a:off x="0" y="499621"/>
            <a:ext cx="4920320" cy="5856730"/>
          </a:xfrm>
        </p:spPr>
      </p:pic>
      <p:sp>
        <p:nvSpPr>
          <p:cNvPr id="3" name="Content Placeholder 2"/>
          <p:cNvSpPr>
            <a:spLocks noGrp="1"/>
          </p:cNvSpPr>
          <p:nvPr>
            <p:ph sz="half" idx="4294967295"/>
          </p:nvPr>
        </p:nvSpPr>
        <p:spPr>
          <a:xfrm>
            <a:off x="5105453" y="1755248"/>
            <a:ext cx="6918325" cy="12175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id-ID" dirty="0">
                <a:solidFill>
                  <a:srgbClr val="000000"/>
                </a:solidFill>
                <a:sym typeface="Symbol" panose="05050102010706020507" pitchFamily="18" charset="2"/>
              </a:rPr>
              <a:t>x[row][column]: array </a:t>
            </a:r>
            <a:r>
              <a:rPr lang="en-US" altLang="id-ID" dirty="0" err="1">
                <a:solidFill>
                  <a:srgbClr val="000000"/>
                </a:solidFill>
                <a:sym typeface="Symbol" panose="05050102010706020507" pitchFamily="18" charset="2"/>
              </a:rPr>
              <a:t>dua</a:t>
            </a:r>
            <a:r>
              <a:rPr lang="en-US" altLang="id-ID" dirty="0">
                <a:solidFill>
                  <a:srgbClr val="000000"/>
                </a:solidFill>
                <a:sym typeface="Symbol" panose="05050102010706020507" pitchFamily="18" charset="2"/>
              </a:rPr>
              <a:t> </a:t>
            </a:r>
            <a:r>
              <a:rPr lang="en-US" altLang="id-ID" dirty="0" err="1">
                <a:solidFill>
                  <a:srgbClr val="000000"/>
                </a:solidFill>
                <a:sym typeface="Symbol" panose="05050102010706020507" pitchFamily="18" charset="2"/>
              </a:rPr>
              <a:t>dimensi</a:t>
            </a:r>
            <a:r>
              <a:rPr lang="en-US" altLang="id-ID" dirty="0">
                <a:solidFill>
                  <a:srgbClr val="000000"/>
                </a:solidFill>
                <a:sym typeface="Symbol" panose="05050102010706020507" pitchFamily="18" charset="2"/>
              </a:rPr>
              <a:t> </a:t>
            </a:r>
            <a:r>
              <a:rPr lang="en-US" altLang="id-ID" dirty="0" err="1">
                <a:solidFill>
                  <a:srgbClr val="000000"/>
                </a:solidFill>
                <a:sym typeface="Symbol" panose="05050102010706020507" pitchFamily="18" charset="2"/>
              </a:rPr>
              <a:t>dengan</a:t>
            </a:r>
            <a:r>
              <a:rPr lang="en-US" altLang="id-ID" dirty="0">
                <a:solidFill>
                  <a:srgbClr val="000000"/>
                </a:solidFill>
                <a:sym typeface="Symbol" panose="05050102010706020507" pitchFamily="18" charset="2"/>
              </a:rPr>
              <a:t> row dan column</a:t>
            </a:r>
          </a:p>
          <a:p>
            <a:pPr marL="0" indent="0">
              <a:buNone/>
            </a:pPr>
            <a:r>
              <a:rPr lang="en-US" altLang="id-ID" dirty="0" err="1">
                <a:solidFill>
                  <a:srgbClr val="000000"/>
                </a:solidFill>
                <a:sym typeface="Symbol" panose="05050102010706020507" pitchFamily="18" charset="2"/>
              </a:rPr>
              <a:t>Contoh</a:t>
            </a:r>
            <a:endParaRPr lang="en-US" altLang="id-ID" dirty="0">
              <a:solidFill>
                <a:srgbClr val="000000"/>
              </a:solidFill>
              <a:sym typeface="Symbol" panose="05050102010706020507" pitchFamily="18" charset="2"/>
            </a:endParaRPr>
          </a:p>
          <a:p>
            <a:pPr lvl="2">
              <a:buFontTx/>
              <a:buNone/>
            </a:pPr>
            <a:r>
              <a:rPr lang="en-US" altLang="id-ID" dirty="0">
                <a:solidFill>
                  <a:srgbClr val="000000"/>
                </a:solidFill>
              </a:rPr>
              <a:t>int a[3][4]</a:t>
            </a:r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1D74EB40-18F5-40B3-BA66-199C15FA4FA7}"/>
              </a:ext>
            </a:extLst>
          </p:cNvPr>
          <p:cNvGrpSpPr>
            <a:grpSpLocks/>
          </p:cNvGrpSpPr>
          <p:nvPr/>
        </p:nvGrpSpPr>
        <p:grpSpPr bwMode="auto">
          <a:xfrm>
            <a:off x="5360196" y="3427986"/>
            <a:ext cx="6831804" cy="2636828"/>
            <a:chOff x="750" y="1632"/>
            <a:chExt cx="4098" cy="1505"/>
          </a:xfrm>
        </p:grpSpPr>
        <p:grpSp>
          <p:nvGrpSpPr>
            <p:cNvPr id="7" name="Group 5">
              <a:extLst>
                <a:ext uri="{FF2B5EF4-FFF2-40B4-BE49-F238E27FC236}">
                  <a16:creationId xmlns:a16="http://schemas.microsoft.com/office/drawing/2014/main" id="{2604C100-1871-466A-88D2-1EF1271170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0" y="1632"/>
              <a:ext cx="3848" cy="864"/>
              <a:chOff x="750" y="1632"/>
              <a:chExt cx="3848" cy="864"/>
            </a:xfrm>
          </p:grpSpPr>
          <p:sp>
            <p:nvSpPr>
              <p:cNvPr id="15" name="Rectangle 6">
                <a:extLst>
                  <a:ext uri="{FF2B5EF4-FFF2-40B4-BE49-F238E27FC236}">
                    <a16:creationId xmlns:a16="http://schemas.microsoft.com/office/drawing/2014/main" id="{292E0B0A-6051-4B49-BFE1-EF1B8A5DEC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0" y="1884"/>
                <a:ext cx="448" cy="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r>
                  <a:rPr lang="en-US" altLang="id-ID" sz="1350">
                    <a:latin typeface="Courier New" panose="02070309020205020404" pitchFamily="49" charset="0"/>
                    <a:cs typeface="Times New Roman" panose="02020603050405020304" pitchFamily="18" charset="0"/>
                  </a:rPr>
                  <a:t>Row 0</a:t>
                </a:r>
              </a:p>
              <a:p>
                <a:pPr eaLnBrk="0" hangingPunct="0"/>
                <a:endParaRPr lang="en-US" altLang="id-ID" sz="1350">
                  <a:latin typeface="Courier New" panose="02070309020205020404" pitchFamily="49" charset="0"/>
                </a:endParaRPr>
              </a:p>
            </p:txBody>
          </p:sp>
          <p:sp>
            <p:nvSpPr>
              <p:cNvPr id="16" name="Rectangle 7">
                <a:extLst>
                  <a:ext uri="{FF2B5EF4-FFF2-40B4-BE49-F238E27FC236}">
                    <a16:creationId xmlns:a16="http://schemas.microsoft.com/office/drawing/2014/main" id="{29F67B94-A5DE-4928-82BC-26A309FA92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0" y="2053"/>
                <a:ext cx="448" cy="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r>
                  <a:rPr lang="en-US" altLang="id-ID" sz="1350">
                    <a:latin typeface="Courier New" panose="02070309020205020404" pitchFamily="49" charset="0"/>
                    <a:cs typeface="Times New Roman" panose="02020603050405020304" pitchFamily="18" charset="0"/>
                  </a:rPr>
                  <a:t>Row 1</a:t>
                </a:r>
              </a:p>
              <a:p>
                <a:pPr eaLnBrk="0" hangingPunct="0"/>
                <a:endParaRPr lang="en-US" altLang="id-ID" sz="1350">
                  <a:latin typeface="Courier New" panose="02070309020205020404" pitchFamily="49" charset="0"/>
                </a:endParaRPr>
              </a:p>
            </p:txBody>
          </p:sp>
          <p:sp>
            <p:nvSpPr>
              <p:cNvPr id="17" name="Rectangle 8">
                <a:extLst>
                  <a:ext uri="{FF2B5EF4-FFF2-40B4-BE49-F238E27FC236}">
                    <a16:creationId xmlns:a16="http://schemas.microsoft.com/office/drawing/2014/main" id="{ECF479E5-1D2B-416F-AD71-6896C362A1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0" y="2222"/>
                <a:ext cx="448" cy="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r>
                  <a:rPr lang="en-US" altLang="id-ID" sz="1350">
                    <a:latin typeface="Courier New" panose="02070309020205020404" pitchFamily="49" charset="0"/>
                    <a:cs typeface="Times New Roman" panose="02020603050405020304" pitchFamily="18" charset="0"/>
                  </a:rPr>
                  <a:t>Row 2</a:t>
                </a:r>
              </a:p>
              <a:p>
                <a:pPr eaLnBrk="0" hangingPunct="0"/>
                <a:endParaRPr lang="en-US" altLang="id-ID" sz="900">
                  <a:latin typeface="Courier New" panose="02070309020205020404" pitchFamily="49" charset="0"/>
                </a:endParaRPr>
              </a:p>
            </p:txBody>
          </p:sp>
          <p:sp>
            <p:nvSpPr>
              <p:cNvPr id="18" name="Rectangle 9">
                <a:extLst>
                  <a:ext uri="{FF2B5EF4-FFF2-40B4-BE49-F238E27FC236}">
                    <a16:creationId xmlns:a16="http://schemas.microsoft.com/office/drawing/2014/main" id="{17ED9EFF-0417-430E-A938-3431806FED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1" y="1632"/>
                <a:ext cx="695" cy="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r>
                  <a:rPr lang="en-US" altLang="id-ID" sz="1350">
                    <a:latin typeface="Courier New" panose="02070309020205020404" pitchFamily="49" charset="0"/>
                    <a:cs typeface="Times New Roman" panose="02020603050405020304" pitchFamily="18" charset="0"/>
                  </a:rPr>
                  <a:t>Column 0</a:t>
                </a:r>
              </a:p>
              <a:p>
                <a:pPr eaLnBrk="0" hangingPunct="0"/>
                <a:endParaRPr lang="en-US" altLang="id-ID" sz="1350">
                  <a:latin typeface="Courier New" panose="02070309020205020404" pitchFamily="49" charset="0"/>
                </a:endParaRPr>
              </a:p>
            </p:txBody>
          </p:sp>
          <p:sp>
            <p:nvSpPr>
              <p:cNvPr id="19" name="Rectangle 10">
                <a:extLst>
                  <a:ext uri="{FF2B5EF4-FFF2-40B4-BE49-F238E27FC236}">
                    <a16:creationId xmlns:a16="http://schemas.microsoft.com/office/drawing/2014/main" id="{808893F6-E5EE-4BED-8C28-36B0620676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96" y="1632"/>
                <a:ext cx="696" cy="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r>
                  <a:rPr lang="en-US" altLang="id-ID" sz="1350">
                    <a:latin typeface="Courier New" panose="02070309020205020404" pitchFamily="49" charset="0"/>
                    <a:cs typeface="Times New Roman" panose="02020603050405020304" pitchFamily="18" charset="0"/>
                  </a:rPr>
                  <a:t>Column 1</a:t>
                </a:r>
              </a:p>
              <a:p>
                <a:pPr eaLnBrk="0" hangingPunct="0"/>
                <a:endParaRPr lang="en-US" altLang="id-ID" sz="1350">
                  <a:latin typeface="Courier New" panose="02070309020205020404" pitchFamily="49" charset="0"/>
                </a:endParaRPr>
              </a:p>
            </p:txBody>
          </p:sp>
          <p:sp>
            <p:nvSpPr>
              <p:cNvPr id="20" name="Rectangle 11">
                <a:extLst>
                  <a:ext uri="{FF2B5EF4-FFF2-40B4-BE49-F238E27FC236}">
                    <a16:creationId xmlns:a16="http://schemas.microsoft.com/office/drawing/2014/main" id="{A0320121-7769-4134-A9BE-3733837272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2" y="1632"/>
                <a:ext cx="695" cy="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r>
                  <a:rPr lang="en-US" altLang="id-ID" sz="1350">
                    <a:latin typeface="Courier New" panose="02070309020205020404" pitchFamily="49" charset="0"/>
                    <a:cs typeface="Times New Roman" panose="02020603050405020304" pitchFamily="18" charset="0"/>
                  </a:rPr>
                  <a:t>Column 2</a:t>
                </a:r>
              </a:p>
              <a:p>
                <a:pPr eaLnBrk="0" hangingPunct="0"/>
                <a:endParaRPr lang="en-US" altLang="id-ID" sz="1350">
                  <a:latin typeface="Courier New" panose="02070309020205020404" pitchFamily="49" charset="0"/>
                </a:endParaRPr>
              </a:p>
            </p:txBody>
          </p:sp>
          <p:sp>
            <p:nvSpPr>
              <p:cNvPr id="21" name="Rectangle 12">
                <a:extLst>
                  <a:ext uri="{FF2B5EF4-FFF2-40B4-BE49-F238E27FC236}">
                    <a16:creationId xmlns:a16="http://schemas.microsoft.com/office/drawing/2014/main" id="{F3D4863D-E639-4E99-8F33-45B7C5A4AC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7" y="1632"/>
                <a:ext cx="696" cy="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/>
              <a:p>
                <a:r>
                  <a:rPr lang="en-US" altLang="id-ID" sz="1350">
                    <a:latin typeface="Courier New" panose="02070309020205020404" pitchFamily="49" charset="0"/>
                    <a:cs typeface="Times New Roman" panose="02020603050405020304" pitchFamily="18" charset="0"/>
                  </a:rPr>
                  <a:t>Column 3</a:t>
                </a:r>
              </a:p>
              <a:p>
                <a:pPr eaLnBrk="0" hangingPunct="0"/>
                <a:endParaRPr lang="en-US" altLang="id-ID" sz="1350">
                  <a:latin typeface="Courier New" panose="02070309020205020404" pitchFamily="49" charset="0"/>
                </a:endParaRPr>
              </a:p>
            </p:txBody>
          </p:sp>
          <p:grpSp>
            <p:nvGrpSpPr>
              <p:cNvPr id="22" name="Group 13">
                <a:extLst>
                  <a:ext uri="{FF2B5EF4-FFF2-40B4-BE49-F238E27FC236}">
                    <a16:creationId xmlns:a16="http://schemas.microsoft.com/office/drawing/2014/main" id="{E780BF87-5782-4EE3-865D-C442AFC55D5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96" y="1824"/>
                <a:ext cx="826" cy="217"/>
                <a:chOff x="0" y="0"/>
                <a:chExt cx="20000" cy="20000"/>
              </a:xfrm>
            </p:grpSpPr>
            <p:sp>
              <p:nvSpPr>
                <p:cNvPr id="56" name="Freeform 14">
                  <a:extLst>
                    <a:ext uri="{FF2B5EF4-FFF2-40B4-BE49-F238E27FC236}">
                      <a16:creationId xmlns:a16="http://schemas.microsoft.com/office/drawing/2014/main" id="{D14CABD2-7614-4BDB-A0A7-F7292EA45E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20000" cy="20000"/>
                </a:xfrm>
                <a:custGeom>
                  <a:avLst/>
                  <a:gdLst>
                    <a:gd name="T0" fmla="*/ 19979 w 20000"/>
                    <a:gd name="T1" fmla="*/ 0 h 20000"/>
                    <a:gd name="T2" fmla="*/ 19979 w 20000"/>
                    <a:gd name="T3" fmla="*/ 19944 h 20000"/>
                    <a:gd name="T4" fmla="*/ 0 w 20000"/>
                    <a:gd name="T5" fmla="*/ 19944 h 20000"/>
                    <a:gd name="T6" fmla="*/ 0 w 20000"/>
                    <a:gd name="T7" fmla="*/ 0 h 20000"/>
                    <a:gd name="T8" fmla="*/ 19979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79" y="0"/>
                      </a:moveTo>
                      <a:lnTo>
                        <a:pt x="19979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7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id-ID" sz="1350"/>
                </a:p>
              </p:txBody>
            </p:sp>
            <p:sp>
              <p:nvSpPr>
                <p:cNvPr id="57" name="Rectangle 15">
                  <a:extLst>
                    <a:ext uri="{FF2B5EF4-FFF2-40B4-BE49-F238E27FC236}">
                      <a16:creationId xmlns:a16="http://schemas.microsoft.com/office/drawing/2014/main" id="{241F19AA-7E14-4E18-875E-F5D1B874E4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3" y="2886"/>
                  <a:ext cx="18355" cy="156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r>
                    <a:rPr lang="en-US" altLang="id-ID" sz="1350" b="1" dirty="0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a[</a:t>
                  </a:r>
                  <a:r>
                    <a:rPr lang="en-US" altLang="id-ID" sz="135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id-ID" sz="1350" b="1" dirty="0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0</a:t>
                  </a:r>
                  <a:r>
                    <a:rPr lang="en-US" altLang="id-ID" sz="135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id-ID" sz="1350" b="1" dirty="0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][</a:t>
                  </a:r>
                  <a:r>
                    <a:rPr lang="en-US" altLang="id-ID" sz="135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id-ID" sz="1350" b="1" dirty="0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0</a:t>
                  </a:r>
                  <a:r>
                    <a:rPr lang="en-US" altLang="id-ID" sz="135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id-ID" sz="1350" b="1" dirty="0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]</a:t>
                  </a:r>
                  <a:endParaRPr lang="en-US" altLang="id-ID" sz="1350" dirty="0">
                    <a:latin typeface="Courier New" panose="02070309020205020404" pitchFamily="49" charset="0"/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lang="en-US" altLang="id-ID" sz="1350" dirty="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23" name="Group 16">
                <a:extLst>
                  <a:ext uri="{FF2B5EF4-FFF2-40B4-BE49-F238E27FC236}">
                    <a16:creationId xmlns:a16="http://schemas.microsoft.com/office/drawing/2014/main" id="{81B53BFA-AC4C-4167-9294-2F6B0219414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96" y="2041"/>
                <a:ext cx="826" cy="215"/>
                <a:chOff x="0" y="0"/>
                <a:chExt cx="20000" cy="20000"/>
              </a:xfrm>
            </p:grpSpPr>
            <p:sp>
              <p:nvSpPr>
                <p:cNvPr id="54" name="Freeform 17">
                  <a:extLst>
                    <a:ext uri="{FF2B5EF4-FFF2-40B4-BE49-F238E27FC236}">
                      <a16:creationId xmlns:a16="http://schemas.microsoft.com/office/drawing/2014/main" id="{F43D7627-255C-4BCA-AE75-0061EEFFBDD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20000" cy="20000"/>
                </a:xfrm>
                <a:custGeom>
                  <a:avLst/>
                  <a:gdLst>
                    <a:gd name="T0" fmla="*/ 19979 w 20000"/>
                    <a:gd name="T1" fmla="*/ 0 h 20000"/>
                    <a:gd name="T2" fmla="*/ 19979 w 20000"/>
                    <a:gd name="T3" fmla="*/ 19944 h 20000"/>
                    <a:gd name="T4" fmla="*/ 0 w 20000"/>
                    <a:gd name="T5" fmla="*/ 19944 h 20000"/>
                    <a:gd name="T6" fmla="*/ 0 w 20000"/>
                    <a:gd name="T7" fmla="*/ 0 h 20000"/>
                    <a:gd name="T8" fmla="*/ 19979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79" y="0"/>
                      </a:moveTo>
                      <a:lnTo>
                        <a:pt x="19979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7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id-ID" sz="1350"/>
                </a:p>
              </p:txBody>
            </p:sp>
            <p:sp>
              <p:nvSpPr>
                <p:cNvPr id="55" name="Rectangle 18">
                  <a:extLst>
                    <a:ext uri="{FF2B5EF4-FFF2-40B4-BE49-F238E27FC236}">
                      <a16:creationId xmlns:a16="http://schemas.microsoft.com/office/drawing/2014/main" id="{686296DB-4305-4DB3-A9B5-C219276012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3" y="2886"/>
                  <a:ext cx="18355" cy="156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r>
                    <a:rPr lang="en-US" altLang="id-ID" sz="1350" b="1" dirty="0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a[</a:t>
                  </a:r>
                  <a:r>
                    <a:rPr lang="en-US" altLang="id-ID" sz="135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id-ID" sz="1350" b="1" dirty="0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1</a:t>
                  </a:r>
                  <a:r>
                    <a:rPr lang="en-US" altLang="id-ID" sz="135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id-ID" sz="1350" b="1" dirty="0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][</a:t>
                  </a:r>
                  <a:r>
                    <a:rPr lang="en-US" altLang="id-ID" sz="135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id-ID" sz="1350" b="1" dirty="0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0</a:t>
                  </a:r>
                  <a:r>
                    <a:rPr lang="en-US" altLang="id-ID" sz="135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id-ID" sz="1350" b="1" dirty="0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]</a:t>
                  </a:r>
                  <a:endParaRPr lang="en-US" altLang="id-ID" sz="1350" dirty="0">
                    <a:latin typeface="Courier New" panose="02070309020205020404" pitchFamily="49" charset="0"/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lang="en-US" altLang="id-ID" sz="1350" dirty="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24" name="Group 19">
                <a:extLst>
                  <a:ext uri="{FF2B5EF4-FFF2-40B4-BE49-F238E27FC236}">
                    <a16:creationId xmlns:a16="http://schemas.microsoft.com/office/drawing/2014/main" id="{96985BFD-EB50-4C91-B9E6-CD35D3FDC30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96" y="2256"/>
                <a:ext cx="826" cy="240"/>
                <a:chOff x="0" y="0"/>
                <a:chExt cx="20000" cy="20000"/>
              </a:xfrm>
            </p:grpSpPr>
            <p:sp>
              <p:nvSpPr>
                <p:cNvPr id="52" name="Freeform 20">
                  <a:extLst>
                    <a:ext uri="{FF2B5EF4-FFF2-40B4-BE49-F238E27FC236}">
                      <a16:creationId xmlns:a16="http://schemas.microsoft.com/office/drawing/2014/main" id="{955A0FED-9A5E-4091-9287-BB8CB1F9647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20000" cy="20000"/>
                </a:xfrm>
                <a:custGeom>
                  <a:avLst/>
                  <a:gdLst>
                    <a:gd name="T0" fmla="*/ 19979 w 20000"/>
                    <a:gd name="T1" fmla="*/ 0 h 20000"/>
                    <a:gd name="T2" fmla="*/ 19979 w 20000"/>
                    <a:gd name="T3" fmla="*/ 19944 h 20000"/>
                    <a:gd name="T4" fmla="*/ 0 w 20000"/>
                    <a:gd name="T5" fmla="*/ 19944 h 20000"/>
                    <a:gd name="T6" fmla="*/ 0 w 20000"/>
                    <a:gd name="T7" fmla="*/ 0 h 20000"/>
                    <a:gd name="T8" fmla="*/ 19979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79" y="0"/>
                      </a:moveTo>
                      <a:lnTo>
                        <a:pt x="19979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7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id-ID" sz="1350"/>
                </a:p>
              </p:txBody>
            </p:sp>
            <p:sp>
              <p:nvSpPr>
                <p:cNvPr id="53" name="Rectangle 21">
                  <a:extLst>
                    <a:ext uri="{FF2B5EF4-FFF2-40B4-BE49-F238E27FC236}">
                      <a16:creationId xmlns:a16="http://schemas.microsoft.com/office/drawing/2014/main" id="{C4EE9CC4-9E00-4B60-96B8-6D804D1099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3" y="2886"/>
                  <a:ext cx="18355" cy="156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r>
                    <a:rPr lang="en-US" altLang="id-ID" sz="1350" b="1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a[</a:t>
                  </a:r>
                  <a:r>
                    <a:rPr lang="en-US" altLang="id-ID" sz="135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id-ID" sz="1350" b="1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2</a:t>
                  </a:r>
                  <a:r>
                    <a:rPr lang="en-US" altLang="id-ID" sz="135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id-ID" sz="1350" b="1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][</a:t>
                  </a:r>
                  <a:r>
                    <a:rPr lang="en-US" altLang="id-ID" sz="135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id-ID" sz="1350" b="1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0</a:t>
                  </a:r>
                  <a:r>
                    <a:rPr lang="en-US" altLang="id-ID" sz="135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id-ID" sz="1350" b="1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]</a:t>
                  </a:r>
                  <a:endParaRPr lang="en-US" altLang="id-ID" sz="1350">
                    <a:latin typeface="Courier New" panose="02070309020205020404" pitchFamily="49" charset="0"/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lang="en-US" altLang="id-ID" sz="90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25" name="Group 22">
                <a:extLst>
                  <a:ext uri="{FF2B5EF4-FFF2-40B4-BE49-F238E27FC236}">
                    <a16:creationId xmlns:a16="http://schemas.microsoft.com/office/drawing/2014/main" id="{C29B33C3-1E2B-4E73-BFB0-8A0672A561F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22" y="1824"/>
                <a:ext cx="825" cy="217"/>
                <a:chOff x="0" y="0"/>
                <a:chExt cx="20000" cy="20000"/>
              </a:xfrm>
            </p:grpSpPr>
            <p:sp>
              <p:nvSpPr>
                <p:cNvPr id="50" name="Freeform 23">
                  <a:extLst>
                    <a:ext uri="{FF2B5EF4-FFF2-40B4-BE49-F238E27FC236}">
                      <a16:creationId xmlns:a16="http://schemas.microsoft.com/office/drawing/2014/main" id="{C106336A-4CE8-426B-A3B7-C72600229A2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20000" cy="20000"/>
                </a:xfrm>
                <a:custGeom>
                  <a:avLst/>
                  <a:gdLst>
                    <a:gd name="T0" fmla="*/ 19979 w 20000"/>
                    <a:gd name="T1" fmla="*/ 0 h 20000"/>
                    <a:gd name="T2" fmla="*/ 19979 w 20000"/>
                    <a:gd name="T3" fmla="*/ 19944 h 20000"/>
                    <a:gd name="T4" fmla="*/ 0 w 20000"/>
                    <a:gd name="T5" fmla="*/ 19944 h 20000"/>
                    <a:gd name="T6" fmla="*/ 0 w 20000"/>
                    <a:gd name="T7" fmla="*/ 0 h 20000"/>
                    <a:gd name="T8" fmla="*/ 19979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79" y="0"/>
                      </a:moveTo>
                      <a:lnTo>
                        <a:pt x="19979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7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id-ID" sz="1350"/>
                </a:p>
              </p:txBody>
            </p:sp>
            <p:sp>
              <p:nvSpPr>
                <p:cNvPr id="51" name="Rectangle 24">
                  <a:extLst>
                    <a:ext uri="{FF2B5EF4-FFF2-40B4-BE49-F238E27FC236}">
                      <a16:creationId xmlns:a16="http://schemas.microsoft.com/office/drawing/2014/main" id="{927DD2FE-F333-4426-9016-50CE40C960B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3" y="2886"/>
                  <a:ext cx="18355" cy="156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CC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r>
                    <a:rPr lang="en-US" altLang="id-ID" sz="1350" b="1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a[</a:t>
                  </a:r>
                  <a:r>
                    <a:rPr lang="en-US" altLang="id-ID" sz="135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id-ID" sz="1350" b="1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0</a:t>
                  </a:r>
                  <a:r>
                    <a:rPr lang="en-US" altLang="id-ID" sz="135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id-ID" sz="1350" b="1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][</a:t>
                  </a:r>
                  <a:r>
                    <a:rPr lang="en-US" altLang="id-ID" sz="135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id-ID" sz="1350" b="1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1</a:t>
                  </a:r>
                  <a:r>
                    <a:rPr lang="en-US" altLang="id-ID" sz="135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id-ID" sz="1350" b="1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]</a:t>
                  </a:r>
                  <a:endParaRPr lang="en-US" altLang="id-ID" sz="1350">
                    <a:latin typeface="Courier New" panose="02070309020205020404" pitchFamily="49" charset="0"/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lang="en-US" altLang="id-ID" sz="135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B6808C56-E30D-4E9B-9641-E23F66F1C11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22" y="2041"/>
                <a:ext cx="825" cy="215"/>
                <a:chOff x="0" y="0"/>
                <a:chExt cx="20000" cy="20000"/>
              </a:xfrm>
            </p:grpSpPr>
            <p:sp>
              <p:nvSpPr>
                <p:cNvPr id="48" name="Freeform 26">
                  <a:extLst>
                    <a:ext uri="{FF2B5EF4-FFF2-40B4-BE49-F238E27FC236}">
                      <a16:creationId xmlns:a16="http://schemas.microsoft.com/office/drawing/2014/main" id="{CA22A6E0-2866-4EE9-B7CF-CF8A845B65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20000" cy="20000"/>
                </a:xfrm>
                <a:custGeom>
                  <a:avLst/>
                  <a:gdLst>
                    <a:gd name="T0" fmla="*/ 19979 w 20000"/>
                    <a:gd name="T1" fmla="*/ 0 h 20000"/>
                    <a:gd name="T2" fmla="*/ 19979 w 20000"/>
                    <a:gd name="T3" fmla="*/ 19944 h 20000"/>
                    <a:gd name="T4" fmla="*/ 0 w 20000"/>
                    <a:gd name="T5" fmla="*/ 19944 h 20000"/>
                    <a:gd name="T6" fmla="*/ 0 w 20000"/>
                    <a:gd name="T7" fmla="*/ 0 h 20000"/>
                    <a:gd name="T8" fmla="*/ 19979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79" y="0"/>
                      </a:moveTo>
                      <a:lnTo>
                        <a:pt x="19979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7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id-ID" sz="1350"/>
                </a:p>
              </p:txBody>
            </p:sp>
            <p:sp>
              <p:nvSpPr>
                <p:cNvPr id="49" name="Rectangle 27">
                  <a:extLst>
                    <a:ext uri="{FF2B5EF4-FFF2-40B4-BE49-F238E27FC236}">
                      <a16:creationId xmlns:a16="http://schemas.microsoft.com/office/drawing/2014/main" id="{600E8DB3-6D05-4B2A-A5BB-9C8B23B81C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3" y="2886"/>
                  <a:ext cx="18355" cy="156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r>
                    <a:rPr lang="en-US" altLang="id-ID" sz="1350" b="1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a[</a:t>
                  </a:r>
                  <a:r>
                    <a:rPr lang="en-US" altLang="id-ID" sz="135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id-ID" sz="1350" b="1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1</a:t>
                  </a:r>
                  <a:r>
                    <a:rPr lang="en-US" altLang="id-ID" sz="135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id-ID" sz="1350" b="1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][</a:t>
                  </a:r>
                  <a:r>
                    <a:rPr lang="en-US" altLang="id-ID" sz="135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id-ID" sz="1350" b="1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1</a:t>
                  </a:r>
                  <a:r>
                    <a:rPr lang="en-US" altLang="id-ID" sz="135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id-ID" sz="1350" b="1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]</a:t>
                  </a:r>
                  <a:endParaRPr lang="en-US" altLang="id-ID" sz="1350">
                    <a:latin typeface="Courier New" panose="02070309020205020404" pitchFamily="49" charset="0"/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lang="en-US" altLang="id-ID" sz="90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27" name="Group 28">
                <a:extLst>
                  <a:ext uri="{FF2B5EF4-FFF2-40B4-BE49-F238E27FC236}">
                    <a16:creationId xmlns:a16="http://schemas.microsoft.com/office/drawing/2014/main" id="{E440F489-CBD5-4185-B76A-D7134E82829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22" y="2256"/>
                <a:ext cx="825" cy="240"/>
                <a:chOff x="0" y="0"/>
                <a:chExt cx="20000" cy="20000"/>
              </a:xfrm>
            </p:grpSpPr>
            <p:sp>
              <p:nvSpPr>
                <p:cNvPr id="46" name="Freeform 29">
                  <a:extLst>
                    <a:ext uri="{FF2B5EF4-FFF2-40B4-BE49-F238E27FC236}">
                      <a16:creationId xmlns:a16="http://schemas.microsoft.com/office/drawing/2014/main" id="{DCF53FE6-12FB-4C3E-B373-15E01D68B4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20000" cy="20000"/>
                </a:xfrm>
                <a:custGeom>
                  <a:avLst/>
                  <a:gdLst>
                    <a:gd name="T0" fmla="*/ 19979 w 20000"/>
                    <a:gd name="T1" fmla="*/ 0 h 20000"/>
                    <a:gd name="T2" fmla="*/ 19979 w 20000"/>
                    <a:gd name="T3" fmla="*/ 19944 h 20000"/>
                    <a:gd name="T4" fmla="*/ 0 w 20000"/>
                    <a:gd name="T5" fmla="*/ 19944 h 20000"/>
                    <a:gd name="T6" fmla="*/ 0 w 20000"/>
                    <a:gd name="T7" fmla="*/ 0 h 20000"/>
                    <a:gd name="T8" fmla="*/ 19979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79" y="0"/>
                      </a:moveTo>
                      <a:lnTo>
                        <a:pt x="19979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7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id-ID" sz="1350"/>
                </a:p>
              </p:txBody>
            </p:sp>
            <p:sp>
              <p:nvSpPr>
                <p:cNvPr id="47" name="Rectangle 30">
                  <a:extLst>
                    <a:ext uri="{FF2B5EF4-FFF2-40B4-BE49-F238E27FC236}">
                      <a16:creationId xmlns:a16="http://schemas.microsoft.com/office/drawing/2014/main" id="{DB58FB42-486D-474F-845B-9FDD42CCCB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3" y="2886"/>
                  <a:ext cx="18355" cy="156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r>
                    <a:rPr lang="en-US" altLang="id-ID" sz="1350" b="1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a[</a:t>
                  </a:r>
                  <a:r>
                    <a:rPr lang="en-US" altLang="id-ID" sz="135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id-ID" sz="1350" b="1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2</a:t>
                  </a:r>
                  <a:r>
                    <a:rPr lang="en-US" altLang="id-ID" sz="135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id-ID" sz="1350" b="1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][</a:t>
                  </a:r>
                  <a:r>
                    <a:rPr lang="en-US" altLang="id-ID" sz="135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id-ID" sz="1350" b="1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1</a:t>
                  </a:r>
                  <a:r>
                    <a:rPr lang="en-US" altLang="id-ID" sz="135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id-ID" sz="1350" b="1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]</a:t>
                  </a:r>
                  <a:endParaRPr lang="en-US" altLang="id-ID" sz="1350">
                    <a:latin typeface="Courier New" panose="02070309020205020404" pitchFamily="49" charset="0"/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lang="en-US" altLang="id-ID" sz="90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28" name="Group 31">
                <a:extLst>
                  <a:ext uri="{FF2B5EF4-FFF2-40B4-BE49-F238E27FC236}">
                    <a16:creationId xmlns:a16="http://schemas.microsoft.com/office/drawing/2014/main" id="{3C777082-4A63-4CD5-A924-1CD83460050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47" y="1824"/>
                <a:ext cx="826" cy="217"/>
                <a:chOff x="0" y="0"/>
                <a:chExt cx="20000" cy="20000"/>
              </a:xfrm>
            </p:grpSpPr>
            <p:sp>
              <p:nvSpPr>
                <p:cNvPr id="44" name="Freeform 32">
                  <a:extLst>
                    <a:ext uri="{FF2B5EF4-FFF2-40B4-BE49-F238E27FC236}">
                      <a16:creationId xmlns:a16="http://schemas.microsoft.com/office/drawing/2014/main" id="{E65DA0AC-5B3E-41E6-A2F1-19CF9D2CADB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20000" cy="20000"/>
                </a:xfrm>
                <a:custGeom>
                  <a:avLst/>
                  <a:gdLst>
                    <a:gd name="T0" fmla="*/ 19979 w 20000"/>
                    <a:gd name="T1" fmla="*/ 0 h 20000"/>
                    <a:gd name="T2" fmla="*/ 19979 w 20000"/>
                    <a:gd name="T3" fmla="*/ 19944 h 20000"/>
                    <a:gd name="T4" fmla="*/ 0 w 20000"/>
                    <a:gd name="T5" fmla="*/ 19944 h 20000"/>
                    <a:gd name="T6" fmla="*/ 0 w 20000"/>
                    <a:gd name="T7" fmla="*/ 0 h 20000"/>
                    <a:gd name="T8" fmla="*/ 19979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79" y="0"/>
                      </a:moveTo>
                      <a:lnTo>
                        <a:pt x="19979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7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id-ID" sz="1350"/>
                </a:p>
              </p:txBody>
            </p:sp>
            <p:sp>
              <p:nvSpPr>
                <p:cNvPr id="45" name="Rectangle 33">
                  <a:extLst>
                    <a:ext uri="{FF2B5EF4-FFF2-40B4-BE49-F238E27FC236}">
                      <a16:creationId xmlns:a16="http://schemas.microsoft.com/office/drawing/2014/main" id="{98834EF0-B249-4657-9BA2-FA0EC83124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3" y="2886"/>
                  <a:ext cx="18350" cy="156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r>
                    <a:rPr lang="en-US" altLang="id-ID" sz="1350" b="1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a[</a:t>
                  </a:r>
                  <a:r>
                    <a:rPr lang="en-US" altLang="id-ID" sz="135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id-ID" sz="1350" b="1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0</a:t>
                  </a:r>
                  <a:r>
                    <a:rPr lang="en-US" altLang="id-ID" sz="135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id-ID" sz="1350" b="1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][</a:t>
                  </a:r>
                  <a:r>
                    <a:rPr lang="en-US" altLang="id-ID" sz="135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id-ID" sz="1350" b="1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2</a:t>
                  </a:r>
                  <a:r>
                    <a:rPr lang="en-US" altLang="id-ID" sz="135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id-ID" sz="1350" b="1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]</a:t>
                  </a:r>
                  <a:endParaRPr lang="en-US" altLang="id-ID" sz="1350">
                    <a:latin typeface="Courier New" panose="02070309020205020404" pitchFamily="49" charset="0"/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lang="en-US" altLang="id-ID" sz="135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29" name="Group 34">
                <a:extLst>
                  <a:ext uri="{FF2B5EF4-FFF2-40B4-BE49-F238E27FC236}">
                    <a16:creationId xmlns:a16="http://schemas.microsoft.com/office/drawing/2014/main" id="{5ACE8318-E1D5-4A7F-8BB2-00AF562CA6C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47" y="2041"/>
                <a:ext cx="826" cy="215"/>
                <a:chOff x="0" y="0"/>
                <a:chExt cx="20000" cy="20000"/>
              </a:xfrm>
            </p:grpSpPr>
            <p:sp>
              <p:nvSpPr>
                <p:cNvPr id="42" name="Freeform 35">
                  <a:extLst>
                    <a:ext uri="{FF2B5EF4-FFF2-40B4-BE49-F238E27FC236}">
                      <a16:creationId xmlns:a16="http://schemas.microsoft.com/office/drawing/2014/main" id="{E58F1B62-5B72-4F3F-88E8-67F35FEDAA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20000" cy="20000"/>
                </a:xfrm>
                <a:custGeom>
                  <a:avLst/>
                  <a:gdLst>
                    <a:gd name="T0" fmla="*/ 19979 w 20000"/>
                    <a:gd name="T1" fmla="*/ 0 h 20000"/>
                    <a:gd name="T2" fmla="*/ 19979 w 20000"/>
                    <a:gd name="T3" fmla="*/ 19944 h 20000"/>
                    <a:gd name="T4" fmla="*/ 0 w 20000"/>
                    <a:gd name="T5" fmla="*/ 19944 h 20000"/>
                    <a:gd name="T6" fmla="*/ 0 w 20000"/>
                    <a:gd name="T7" fmla="*/ 0 h 20000"/>
                    <a:gd name="T8" fmla="*/ 19979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79" y="0"/>
                      </a:moveTo>
                      <a:lnTo>
                        <a:pt x="19979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7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id-ID" sz="1350"/>
                </a:p>
              </p:txBody>
            </p:sp>
            <p:sp>
              <p:nvSpPr>
                <p:cNvPr id="43" name="Rectangle 36">
                  <a:extLst>
                    <a:ext uri="{FF2B5EF4-FFF2-40B4-BE49-F238E27FC236}">
                      <a16:creationId xmlns:a16="http://schemas.microsoft.com/office/drawing/2014/main" id="{BF5DE9C1-818A-49FA-AE36-66041DE65C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3" y="2886"/>
                  <a:ext cx="18350" cy="156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r>
                    <a:rPr lang="en-US" altLang="id-ID" sz="1350" b="1" dirty="0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a[</a:t>
                  </a:r>
                  <a:r>
                    <a:rPr lang="en-US" altLang="id-ID" sz="135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id-ID" sz="1350" b="1" dirty="0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1</a:t>
                  </a:r>
                  <a:r>
                    <a:rPr lang="en-US" altLang="id-ID" sz="135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id-ID" sz="1350" b="1" dirty="0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][</a:t>
                  </a:r>
                  <a:r>
                    <a:rPr lang="en-US" altLang="id-ID" sz="135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id-ID" sz="1350" b="1" dirty="0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2</a:t>
                  </a:r>
                  <a:r>
                    <a:rPr lang="en-US" altLang="id-ID" sz="135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id-ID" sz="1350" b="1" dirty="0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]</a:t>
                  </a:r>
                  <a:endParaRPr lang="en-US" altLang="id-ID" sz="1350" dirty="0">
                    <a:latin typeface="Courier New" panose="02070309020205020404" pitchFamily="49" charset="0"/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lang="en-US" altLang="id-ID" sz="1350" dirty="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30" name="Group 37">
                <a:extLst>
                  <a:ext uri="{FF2B5EF4-FFF2-40B4-BE49-F238E27FC236}">
                    <a16:creationId xmlns:a16="http://schemas.microsoft.com/office/drawing/2014/main" id="{9F0C634E-8A40-47E4-937C-C6020964E1E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47" y="2256"/>
                <a:ext cx="826" cy="240"/>
                <a:chOff x="0" y="0"/>
                <a:chExt cx="20000" cy="20000"/>
              </a:xfrm>
            </p:grpSpPr>
            <p:sp>
              <p:nvSpPr>
                <p:cNvPr id="40" name="Freeform 38">
                  <a:extLst>
                    <a:ext uri="{FF2B5EF4-FFF2-40B4-BE49-F238E27FC236}">
                      <a16:creationId xmlns:a16="http://schemas.microsoft.com/office/drawing/2014/main" id="{AF4DB1EE-87C1-470A-B6C4-982C1A76A8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20000" cy="20000"/>
                </a:xfrm>
                <a:custGeom>
                  <a:avLst/>
                  <a:gdLst>
                    <a:gd name="T0" fmla="*/ 19979 w 20000"/>
                    <a:gd name="T1" fmla="*/ 0 h 20000"/>
                    <a:gd name="T2" fmla="*/ 19979 w 20000"/>
                    <a:gd name="T3" fmla="*/ 19944 h 20000"/>
                    <a:gd name="T4" fmla="*/ 0 w 20000"/>
                    <a:gd name="T5" fmla="*/ 19944 h 20000"/>
                    <a:gd name="T6" fmla="*/ 0 w 20000"/>
                    <a:gd name="T7" fmla="*/ 0 h 20000"/>
                    <a:gd name="T8" fmla="*/ 19979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79" y="0"/>
                      </a:moveTo>
                      <a:lnTo>
                        <a:pt x="19979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7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id-ID" sz="1350"/>
                </a:p>
              </p:txBody>
            </p:sp>
            <p:sp>
              <p:nvSpPr>
                <p:cNvPr id="41" name="Rectangle 39">
                  <a:extLst>
                    <a:ext uri="{FF2B5EF4-FFF2-40B4-BE49-F238E27FC236}">
                      <a16:creationId xmlns:a16="http://schemas.microsoft.com/office/drawing/2014/main" id="{D8098889-24B7-490C-B152-79AD055221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3" y="2886"/>
                  <a:ext cx="18350" cy="156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r>
                    <a:rPr lang="en-US" altLang="id-ID" sz="1350" b="1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a[</a:t>
                  </a:r>
                  <a:r>
                    <a:rPr lang="en-US" altLang="id-ID" sz="135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id-ID" sz="1350" b="1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2</a:t>
                  </a:r>
                  <a:r>
                    <a:rPr lang="en-US" altLang="id-ID" sz="135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id-ID" sz="1350" b="1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][</a:t>
                  </a:r>
                  <a:r>
                    <a:rPr lang="en-US" altLang="id-ID" sz="135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id-ID" sz="1350" b="1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2</a:t>
                  </a:r>
                  <a:r>
                    <a:rPr lang="en-US" altLang="id-ID" sz="135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id-ID" sz="1350" b="1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]</a:t>
                  </a:r>
                  <a:endParaRPr lang="en-US" altLang="id-ID" sz="1350">
                    <a:latin typeface="Courier New" panose="02070309020205020404" pitchFamily="49" charset="0"/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lang="en-US" altLang="id-ID" sz="90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31" name="Group 40">
                <a:extLst>
                  <a:ext uri="{FF2B5EF4-FFF2-40B4-BE49-F238E27FC236}">
                    <a16:creationId xmlns:a16="http://schemas.microsoft.com/office/drawing/2014/main" id="{EEDDB341-5300-47C6-A8DD-43992BEA0F8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73" y="1824"/>
                <a:ext cx="825" cy="217"/>
                <a:chOff x="0" y="0"/>
                <a:chExt cx="20000" cy="20000"/>
              </a:xfrm>
            </p:grpSpPr>
            <p:sp>
              <p:nvSpPr>
                <p:cNvPr id="38" name="Freeform 41">
                  <a:extLst>
                    <a:ext uri="{FF2B5EF4-FFF2-40B4-BE49-F238E27FC236}">
                      <a16:creationId xmlns:a16="http://schemas.microsoft.com/office/drawing/2014/main" id="{158F3DDE-551C-49EB-B2CA-24231792362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20000" cy="20000"/>
                </a:xfrm>
                <a:custGeom>
                  <a:avLst/>
                  <a:gdLst>
                    <a:gd name="T0" fmla="*/ 19979 w 20000"/>
                    <a:gd name="T1" fmla="*/ 0 h 20000"/>
                    <a:gd name="T2" fmla="*/ 19979 w 20000"/>
                    <a:gd name="T3" fmla="*/ 19944 h 20000"/>
                    <a:gd name="T4" fmla="*/ 0 w 20000"/>
                    <a:gd name="T5" fmla="*/ 19944 h 20000"/>
                    <a:gd name="T6" fmla="*/ 0 w 20000"/>
                    <a:gd name="T7" fmla="*/ 0 h 20000"/>
                    <a:gd name="T8" fmla="*/ 19979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79" y="0"/>
                      </a:moveTo>
                      <a:lnTo>
                        <a:pt x="19979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7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id-ID" sz="1350"/>
                </a:p>
              </p:txBody>
            </p:sp>
            <p:sp>
              <p:nvSpPr>
                <p:cNvPr id="39" name="Rectangle 42">
                  <a:extLst>
                    <a:ext uri="{FF2B5EF4-FFF2-40B4-BE49-F238E27FC236}">
                      <a16:creationId xmlns:a16="http://schemas.microsoft.com/office/drawing/2014/main" id="{DD004369-6526-4B83-A792-7B99009B13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3" y="2886"/>
                  <a:ext cx="18355" cy="156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r>
                    <a:rPr lang="en-US" altLang="id-ID" sz="1350" b="1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a[</a:t>
                  </a:r>
                  <a:r>
                    <a:rPr lang="en-US" altLang="id-ID" sz="135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id-ID" sz="1350" b="1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0</a:t>
                  </a:r>
                  <a:r>
                    <a:rPr lang="en-US" altLang="id-ID" sz="135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id-ID" sz="1350" b="1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][</a:t>
                  </a:r>
                  <a:r>
                    <a:rPr lang="en-US" altLang="id-ID" sz="135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id-ID" sz="1350" b="1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3</a:t>
                  </a:r>
                  <a:r>
                    <a:rPr lang="en-US" altLang="id-ID" sz="135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id-ID" sz="1350" b="1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]</a:t>
                  </a:r>
                  <a:endParaRPr lang="en-US" altLang="id-ID" sz="1350">
                    <a:latin typeface="Courier New" panose="02070309020205020404" pitchFamily="49" charset="0"/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lang="en-US" altLang="id-ID" sz="135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32" name="Group 43">
                <a:extLst>
                  <a:ext uri="{FF2B5EF4-FFF2-40B4-BE49-F238E27FC236}">
                    <a16:creationId xmlns:a16="http://schemas.microsoft.com/office/drawing/2014/main" id="{DBDD2874-1087-43B4-8E17-03A3F49DFCE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73" y="2041"/>
                <a:ext cx="825" cy="215"/>
                <a:chOff x="0" y="0"/>
                <a:chExt cx="20000" cy="20000"/>
              </a:xfrm>
            </p:grpSpPr>
            <p:sp>
              <p:nvSpPr>
                <p:cNvPr id="36" name="Freeform 44">
                  <a:extLst>
                    <a:ext uri="{FF2B5EF4-FFF2-40B4-BE49-F238E27FC236}">
                      <a16:creationId xmlns:a16="http://schemas.microsoft.com/office/drawing/2014/main" id="{7223A693-9B77-4A1F-BEB3-44E0163B9C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20000" cy="20000"/>
                </a:xfrm>
                <a:custGeom>
                  <a:avLst/>
                  <a:gdLst>
                    <a:gd name="T0" fmla="*/ 19979 w 20000"/>
                    <a:gd name="T1" fmla="*/ 0 h 20000"/>
                    <a:gd name="T2" fmla="*/ 19979 w 20000"/>
                    <a:gd name="T3" fmla="*/ 19944 h 20000"/>
                    <a:gd name="T4" fmla="*/ 0 w 20000"/>
                    <a:gd name="T5" fmla="*/ 19944 h 20000"/>
                    <a:gd name="T6" fmla="*/ 0 w 20000"/>
                    <a:gd name="T7" fmla="*/ 0 h 20000"/>
                    <a:gd name="T8" fmla="*/ 19979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79" y="0"/>
                      </a:moveTo>
                      <a:lnTo>
                        <a:pt x="19979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7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id-ID" sz="1350"/>
                </a:p>
              </p:txBody>
            </p:sp>
            <p:sp>
              <p:nvSpPr>
                <p:cNvPr id="37" name="Rectangle 45">
                  <a:extLst>
                    <a:ext uri="{FF2B5EF4-FFF2-40B4-BE49-F238E27FC236}">
                      <a16:creationId xmlns:a16="http://schemas.microsoft.com/office/drawing/2014/main" id="{D01D3A70-2123-41EE-B045-104EC1CE06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3" y="2886"/>
                  <a:ext cx="18355" cy="156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r>
                    <a:rPr lang="en-US" altLang="id-ID" sz="1350" b="1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a[</a:t>
                  </a:r>
                  <a:r>
                    <a:rPr lang="en-US" altLang="id-ID" sz="135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id-ID" sz="1350" b="1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1</a:t>
                  </a:r>
                  <a:r>
                    <a:rPr lang="en-US" altLang="id-ID" sz="135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id-ID" sz="1350" b="1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][</a:t>
                  </a:r>
                  <a:r>
                    <a:rPr lang="en-US" altLang="id-ID" sz="135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id-ID" sz="1350" b="1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3</a:t>
                  </a:r>
                  <a:r>
                    <a:rPr lang="en-US" altLang="id-ID" sz="135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id-ID" sz="1350" b="1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]</a:t>
                  </a:r>
                  <a:endParaRPr lang="en-US" altLang="id-ID" sz="1350">
                    <a:latin typeface="Courier New" panose="02070309020205020404" pitchFamily="49" charset="0"/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lang="en-US" altLang="id-ID" sz="1350">
                    <a:latin typeface="Courier New" panose="02070309020205020404" pitchFamily="49" charset="0"/>
                  </a:endParaRPr>
                </a:p>
              </p:txBody>
            </p:sp>
          </p:grpSp>
          <p:grpSp>
            <p:nvGrpSpPr>
              <p:cNvPr id="33" name="Group 46">
                <a:extLst>
                  <a:ext uri="{FF2B5EF4-FFF2-40B4-BE49-F238E27FC236}">
                    <a16:creationId xmlns:a16="http://schemas.microsoft.com/office/drawing/2014/main" id="{DE3A70EA-69EF-4A17-ABCC-5E73E50B19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73" y="2256"/>
                <a:ext cx="825" cy="240"/>
                <a:chOff x="0" y="0"/>
                <a:chExt cx="20000" cy="20000"/>
              </a:xfrm>
            </p:grpSpPr>
            <p:sp>
              <p:nvSpPr>
                <p:cNvPr id="34" name="Freeform 47">
                  <a:extLst>
                    <a:ext uri="{FF2B5EF4-FFF2-40B4-BE49-F238E27FC236}">
                      <a16:creationId xmlns:a16="http://schemas.microsoft.com/office/drawing/2014/main" id="{0CDAD457-5FCB-4351-8BFF-E8AC59AB0C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20000" cy="20000"/>
                </a:xfrm>
                <a:custGeom>
                  <a:avLst/>
                  <a:gdLst>
                    <a:gd name="T0" fmla="*/ 19979 w 20000"/>
                    <a:gd name="T1" fmla="*/ 0 h 20000"/>
                    <a:gd name="T2" fmla="*/ 19979 w 20000"/>
                    <a:gd name="T3" fmla="*/ 19944 h 20000"/>
                    <a:gd name="T4" fmla="*/ 0 w 20000"/>
                    <a:gd name="T5" fmla="*/ 19944 h 20000"/>
                    <a:gd name="T6" fmla="*/ 0 w 20000"/>
                    <a:gd name="T7" fmla="*/ 0 h 20000"/>
                    <a:gd name="T8" fmla="*/ 19979 w 20000"/>
                    <a:gd name="T9" fmla="*/ 0 h 200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000" h="20000">
                      <a:moveTo>
                        <a:pt x="19979" y="0"/>
                      </a:moveTo>
                      <a:lnTo>
                        <a:pt x="19979" y="19944"/>
                      </a:lnTo>
                      <a:lnTo>
                        <a:pt x="0" y="19944"/>
                      </a:lnTo>
                      <a:lnTo>
                        <a:pt x="0" y="0"/>
                      </a:lnTo>
                      <a:lnTo>
                        <a:pt x="1997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id-ID" sz="1350"/>
                </a:p>
              </p:txBody>
            </p:sp>
            <p:sp>
              <p:nvSpPr>
                <p:cNvPr id="35" name="Rectangle 48">
                  <a:extLst>
                    <a:ext uri="{FF2B5EF4-FFF2-40B4-BE49-F238E27FC236}">
                      <a16:creationId xmlns:a16="http://schemas.microsoft.com/office/drawing/2014/main" id="{91BBE5CF-C738-4774-9B61-44D3DA9253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3" y="2886"/>
                  <a:ext cx="18355" cy="156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r>
                    <a:rPr lang="en-US" altLang="id-ID" sz="1350" b="1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a[</a:t>
                  </a:r>
                  <a:r>
                    <a:rPr lang="en-US" altLang="id-ID" sz="135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id-ID" sz="1350" b="1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2</a:t>
                  </a:r>
                  <a:r>
                    <a:rPr lang="en-US" altLang="id-ID" sz="135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id-ID" sz="1350" b="1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][</a:t>
                  </a:r>
                  <a:r>
                    <a:rPr lang="en-US" altLang="id-ID" sz="135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id-ID" sz="1350" b="1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3</a:t>
                  </a:r>
                  <a:r>
                    <a:rPr lang="en-US" altLang="id-ID" sz="135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id-ID" sz="1350" b="1">
                      <a:latin typeface="Courier New" panose="02070309020205020404" pitchFamily="49" charset="0"/>
                      <a:cs typeface="Times New Roman" panose="02020603050405020304" pitchFamily="18" charset="0"/>
                    </a:rPr>
                    <a:t>]</a:t>
                  </a:r>
                  <a:endParaRPr lang="en-US" altLang="id-ID" sz="1350">
                    <a:latin typeface="Courier New" panose="02070309020205020404" pitchFamily="49" charset="0"/>
                    <a:cs typeface="Times New Roman" panose="02020603050405020304" pitchFamily="18" charset="0"/>
                  </a:endParaRPr>
                </a:p>
                <a:p>
                  <a:pPr eaLnBrk="0" hangingPunct="0"/>
                  <a:endParaRPr lang="en-US" altLang="id-ID" sz="1350">
                    <a:latin typeface="Courier New" panose="02070309020205020404" pitchFamily="49" charset="0"/>
                  </a:endParaRPr>
                </a:p>
              </p:txBody>
            </p:sp>
          </p:grpSp>
        </p:grpSp>
        <p:sp>
          <p:nvSpPr>
            <p:cNvPr id="8" name="Rectangle 49">
              <a:extLst>
                <a:ext uri="{FF2B5EF4-FFF2-40B4-BE49-F238E27FC236}">
                  <a16:creationId xmlns:a16="http://schemas.microsoft.com/office/drawing/2014/main" id="{93603ED0-F3B6-40FC-9A5B-4E9A3655A1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3024"/>
              <a:ext cx="1392" cy="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r>
                <a:rPr lang="en-US" altLang="id-ID" sz="1350">
                  <a:latin typeface="Courier New" panose="02070309020205020404" pitchFamily="49" charset="0"/>
                  <a:cs typeface="Times New Roman" panose="02020603050405020304" pitchFamily="18" charset="0"/>
                </a:rPr>
                <a:t>Row subscript</a:t>
              </a:r>
            </a:p>
            <a:p>
              <a:pPr eaLnBrk="0" hangingPunct="0"/>
              <a:endParaRPr lang="en-US" altLang="id-ID" sz="1350">
                <a:latin typeface="Courier New" panose="02070309020205020404" pitchFamily="49" charset="0"/>
              </a:endParaRPr>
            </a:p>
          </p:txBody>
        </p:sp>
        <p:sp>
          <p:nvSpPr>
            <p:cNvPr id="9" name="Rectangle 50">
              <a:extLst>
                <a:ext uri="{FF2B5EF4-FFF2-40B4-BE49-F238E27FC236}">
                  <a16:creationId xmlns:a16="http://schemas.microsoft.com/office/drawing/2014/main" id="{0E4E7333-0792-4009-8575-E3D845664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2832"/>
              <a:ext cx="860" cy="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r>
                <a:rPr lang="en-US" altLang="id-ID" sz="1350">
                  <a:latin typeface="Courier New" panose="02070309020205020404" pitchFamily="49" charset="0"/>
                  <a:cs typeface="Times New Roman" panose="02020603050405020304" pitchFamily="18" charset="0"/>
                </a:rPr>
                <a:t>Array name</a:t>
              </a:r>
            </a:p>
            <a:p>
              <a:pPr eaLnBrk="0" hangingPunct="0"/>
              <a:endParaRPr lang="en-US" altLang="id-ID" sz="1350">
                <a:latin typeface="Courier New" panose="02070309020205020404" pitchFamily="49" charset="0"/>
              </a:endParaRPr>
            </a:p>
          </p:txBody>
        </p:sp>
        <p:sp>
          <p:nvSpPr>
            <p:cNvPr id="10" name="Rectangle 51">
              <a:extLst>
                <a:ext uri="{FF2B5EF4-FFF2-40B4-BE49-F238E27FC236}">
                  <a16:creationId xmlns:a16="http://schemas.microsoft.com/office/drawing/2014/main" id="{DC2FD837-C894-4052-A824-25432F2D73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9" y="2658"/>
              <a:ext cx="1599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r>
                <a:rPr lang="en-US" altLang="id-ID" sz="1350">
                  <a:latin typeface="Courier New" panose="02070309020205020404" pitchFamily="49" charset="0"/>
                  <a:cs typeface="Times New Roman" panose="02020603050405020304" pitchFamily="18" charset="0"/>
                </a:rPr>
                <a:t>Column subscript</a:t>
              </a:r>
            </a:p>
            <a:p>
              <a:pPr eaLnBrk="0" hangingPunct="0"/>
              <a:endParaRPr lang="en-US" altLang="id-ID" sz="1350">
                <a:latin typeface="Courier New" panose="02070309020205020404" pitchFamily="49" charset="0"/>
              </a:endParaRPr>
            </a:p>
          </p:txBody>
        </p:sp>
        <p:sp>
          <p:nvSpPr>
            <p:cNvPr id="11" name="Freeform 52">
              <a:extLst>
                <a:ext uri="{FF2B5EF4-FFF2-40B4-BE49-F238E27FC236}">
                  <a16:creationId xmlns:a16="http://schemas.microsoft.com/office/drawing/2014/main" id="{82F043AB-14EB-41E6-9513-32CDA42FC1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8" y="2448"/>
              <a:ext cx="48" cy="43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19984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0" y="19984"/>
                  </a:lnTo>
                </a:path>
              </a:pathLst>
            </a:custGeom>
            <a:solidFill>
              <a:srgbClr val="FFFFFF"/>
            </a:solidFill>
            <a:ln w="3175">
              <a:solidFill>
                <a:srgbClr val="000000"/>
              </a:solidFill>
              <a:round/>
              <a:headEnd type="triangle" w="med" len="sm"/>
              <a:tailEnd/>
            </a:ln>
          </p:spPr>
          <p:txBody>
            <a:bodyPr/>
            <a:lstStyle/>
            <a:p>
              <a:endParaRPr lang="id-ID" sz="1350"/>
            </a:p>
          </p:txBody>
        </p:sp>
        <p:sp>
          <p:nvSpPr>
            <p:cNvPr id="12" name="Freeform 53">
              <a:extLst>
                <a:ext uri="{FF2B5EF4-FFF2-40B4-BE49-F238E27FC236}">
                  <a16:creationId xmlns:a16="http://schemas.microsoft.com/office/drawing/2014/main" id="{A54DE306-E933-46E8-8934-D8E9E791D59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353" y="2448"/>
              <a:ext cx="47" cy="56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19977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0" y="19977"/>
                  </a:lnTo>
                </a:path>
              </a:pathLst>
            </a:custGeom>
            <a:solidFill>
              <a:srgbClr val="FFFFFF"/>
            </a:solidFill>
            <a:ln w="3175">
              <a:solidFill>
                <a:srgbClr val="000000"/>
              </a:solidFill>
              <a:round/>
              <a:headEnd type="triangle" w="med" len="sm"/>
              <a:tailEnd/>
            </a:ln>
          </p:spPr>
          <p:txBody>
            <a:bodyPr/>
            <a:lstStyle/>
            <a:p>
              <a:endParaRPr lang="id-ID" sz="1350"/>
            </a:p>
          </p:txBody>
        </p:sp>
        <p:sp>
          <p:nvSpPr>
            <p:cNvPr id="13" name="Freeform 54">
              <a:extLst>
                <a:ext uri="{FF2B5EF4-FFF2-40B4-BE49-F238E27FC236}">
                  <a16:creationId xmlns:a16="http://schemas.microsoft.com/office/drawing/2014/main" id="{DE6689F2-5755-4D62-8918-2C469561AF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7" y="2448"/>
              <a:ext cx="47" cy="28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19962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0" y="0"/>
                  </a:moveTo>
                  <a:lnTo>
                    <a:pt x="0" y="19962"/>
                  </a:lnTo>
                </a:path>
              </a:pathLst>
            </a:custGeom>
            <a:solidFill>
              <a:srgbClr val="FFFFFF"/>
            </a:solidFill>
            <a:ln w="3175">
              <a:solidFill>
                <a:srgbClr val="000000"/>
              </a:solidFill>
              <a:round/>
              <a:headEnd type="triangle" w="med" len="sm"/>
              <a:tailEnd/>
            </a:ln>
          </p:spPr>
          <p:txBody>
            <a:bodyPr/>
            <a:lstStyle/>
            <a:p>
              <a:endParaRPr lang="id-ID" sz="1350"/>
            </a:p>
          </p:txBody>
        </p:sp>
        <p:sp>
          <p:nvSpPr>
            <p:cNvPr id="14" name="Freeform 55">
              <a:extLst>
                <a:ext uri="{FF2B5EF4-FFF2-40B4-BE49-F238E27FC236}">
                  <a16:creationId xmlns:a16="http://schemas.microsoft.com/office/drawing/2014/main" id="{985CB300-E9F3-4FCF-BC67-F28FC98A20E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736" y="2688"/>
              <a:ext cx="480" cy="47"/>
            </a:xfrm>
            <a:custGeom>
              <a:avLst/>
              <a:gdLst>
                <a:gd name="T0" fmla="*/ 19925 w 20000"/>
                <a:gd name="T1" fmla="*/ 0 h 20000"/>
                <a:gd name="T2" fmla="*/ 0 w 20000"/>
                <a:gd name="T3" fmla="*/ 0 h 200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0000" h="20000">
                  <a:moveTo>
                    <a:pt x="19925" y="0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id-ID" sz="1350"/>
            </a:p>
          </p:txBody>
        </p:sp>
      </p:grpSp>
    </p:spTree>
    <p:extLst>
      <p:ext uri="{BB962C8B-B14F-4D97-AF65-F5344CB8AC3E}">
        <p14:creationId xmlns:p14="http://schemas.microsoft.com/office/powerpoint/2010/main" val="3759192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 bwMode="auto">
          <a:xfrm>
            <a:off x="788546" y="557610"/>
            <a:ext cx="8229600" cy="9271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id-ID" sz="4000" dirty="0">
                <a:latin typeface="+mj-lt"/>
              </a:rPr>
              <a:t>Array </a:t>
            </a:r>
            <a:r>
              <a:rPr lang="en-US" altLang="id-ID" sz="4000" dirty="0" err="1">
                <a:latin typeface="+mj-lt"/>
              </a:rPr>
              <a:t>Dimensi</a:t>
            </a:r>
            <a:r>
              <a:rPr lang="en-US" altLang="id-ID" sz="4000" dirty="0">
                <a:latin typeface="+mj-lt"/>
              </a:rPr>
              <a:t> </a:t>
            </a:r>
            <a:r>
              <a:rPr lang="en-US" altLang="id-ID" sz="4000" dirty="0" err="1">
                <a:latin typeface="+mj-lt"/>
              </a:rPr>
              <a:t>Dua</a:t>
            </a:r>
            <a:endParaRPr lang="en-US" altLang="en-US" sz="4000" dirty="0">
              <a:latin typeface="+mj-lt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904754" y="1453753"/>
            <a:ext cx="8995457" cy="5097517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altLang="id-ID" dirty="0" err="1">
                <a:solidFill>
                  <a:srgbClr val="000000"/>
                </a:solidFill>
                <a:latin typeface="+mj-lt"/>
                <a:sym typeface="Symbol" panose="05050102010706020507" pitchFamily="18" charset="2"/>
              </a:rPr>
              <a:t>Inisialisasi</a:t>
            </a:r>
            <a:r>
              <a:rPr lang="en-US" altLang="id-ID" dirty="0">
                <a:solidFill>
                  <a:srgbClr val="000000"/>
                </a:solidFill>
                <a:latin typeface="+mj-lt"/>
                <a:sym typeface="Symbol" panose="05050102010706020507" pitchFamily="18" charset="2"/>
              </a:rPr>
              <a:t>: </a:t>
            </a:r>
            <a:r>
              <a:rPr lang="en-US" altLang="id-ID" dirty="0" err="1">
                <a:solidFill>
                  <a:srgbClr val="000000"/>
                </a:solidFill>
                <a:latin typeface="+mj-lt"/>
                <a:sym typeface="Symbol" panose="05050102010706020507" pitchFamily="18" charset="2"/>
              </a:rPr>
              <a:t>menggunakan</a:t>
            </a:r>
            <a:r>
              <a:rPr lang="en-US" altLang="id-ID" dirty="0">
                <a:solidFill>
                  <a:srgbClr val="000000"/>
                </a:solidFill>
                <a:latin typeface="+mj-lt"/>
                <a:sym typeface="Symbol" panose="05050102010706020507" pitchFamily="18" charset="2"/>
              </a:rPr>
              <a:t> </a:t>
            </a:r>
            <a:r>
              <a:rPr lang="en-US" altLang="id-ID" dirty="0" err="1">
                <a:solidFill>
                  <a:srgbClr val="000000"/>
                </a:solidFill>
                <a:latin typeface="+mj-lt"/>
                <a:sym typeface="Symbol" panose="05050102010706020507" pitchFamily="18" charset="2"/>
              </a:rPr>
              <a:t>aturan</a:t>
            </a:r>
            <a:r>
              <a:rPr lang="en-US" altLang="id-ID" dirty="0">
                <a:solidFill>
                  <a:srgbClr val="000000"/>
                </a:solidFill>
                <a:latin typeface="+mj-lt"/>
                <a:sym typeface="Symbol" panose="05050102010706020507" pitchFamily="18" charset="2"/>
              </a:rPr>
              <a:t> </a:t>
            </a:r>
            <a:r>
              <a:rPr lang="en-US" altLang="id-ID" dirty="0" err="1">
                <a:solidFill>
                  <a:srgbClr val="000000"/>
                </a:solidFill>
                <a:latin typeface="+mj-lt"/>
                <a:sym typeface="Symbol" panose="05050102010706020507" pitchFamily="18" charset="2"/>
              </a:rPr>
              <a:t>rmo</a:t>
            </a:r>
            <a:r>
              <a:rPr lang="en-US" altLang="id-ID" dirty="0">
                <a:solidFill>
                  <a:srgbClr val="000000"/>
                </a:solidFill>
                <a:latin typeface="+mj-lt"/>
                <a:sym typeface="Symbol" panose="05050102010706020507" pitchFamily="18" charset="2"/>
              </a:rPr>
              <a:t>  (row major order).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id-ID" dirty="0" err="1">
                <a:solidFill>
                  <a:srgbClr val="000000"/>
                </a:solidFill>
                <a:latin typeface="+mj-lt"/>
                <a:sym typeface="Symbol" panose="05050102010706020507" pitchFamily="18" charset="2"/>
              </a:rPr>
              <a:t>Contoh</a:t>
            </a:r>
            <a:r>
              <a:rPr lang="en-US" altLang="id-ID" dirty="0">
                <a:solidFill>
                  <a:srgbClr val="000000"/>
                </a:solidFill>
                <a:latin typeface="+mj-lt"/>
                <a:sym typeface="Symbol" panose="05050102010706020507" pitchFamily="18" charset="2"/>
              </a:rPr>
              <a:t>:</a:t>
            </a:r>
          </a:p>
          <a:p>
            <a:pPr lvl="2">
              <a:lnSpc>
                <a:spcPct val="90000"/>
              </a:lnSpc>
            </a:pPr>
            <a:r>
              <a:rPr lang="en-US" altLang="id-ID" sz="2400" dirty="0">
                <a:latin typeface="+mj-lt"/>
              </a:rPr>
              <a:t>int b[2][2] = { { 1, 2 }, { 3, 4 } };</a:t>
            </a:r>
          </a:p>
          <a:p>
            <a:pPr lvl="2">
              <a:lnSpc>
                <a:spcPct val="90000"/>
              </a:lnSpc>
            </a:pPr>
            <a:endParaRPr lang="en-US" altLang="id-ID" sz="2400" dirty="0">
              <a:latin typeface="+mj-lt"/>
            </a:endParaRPr>
          </a:p>
          <a:p>
            <a:pPr marL="914400" lvl="2" indent="0">
              <a:lnSpc>
                <a:spcPct val="90000"/>
              </a:lnSpc>
              <a:buNone/>
            </a:pPr>
            <a:endParaRPr lang="en-US" altLang="id-ID" sz="2400" dirty="0">
              <a:latin typeface="+mj-lt"/>
            </a:endParaRPr>
          </a:p>
          <a:p>
            <a:pPr lvl="2">
              <a:lnSpc>
                <a:spcPct val="90000"/>
              </a:lnSpc>
            </a:pPr>
            <a:r>
              <a:rPr lang="en-US" altLang="id-ID" sz="2400" dirty="0">
                <a:latin typeface="+mj-lt"/>
              </a:rPr>
              <a:t>int b[2][2] = { { 1 }, { 3, 4 } }; </a:t>
            </a:r>
          </a:p>
          <a:p>
            <a:pPr marL="914400" lvl="2" indent="0">
              <a:lnSpc>
                <a:spcPct val="90000"/>
              </a:lnSpc>
              <a:buNone/>
            </a:pPr>
            <a:endParaRPr lang="en-US" altLang="id-ID" sz="2400" dirty="0">
              <a:latin typeface="+mj-lt"/>
              <a:sym typeface="Symbol" panose="05050102010706020507" pitchFamily="18" charset="2"/>
            </a:endParaRPr>
          </a:p>
          <a:p>
            <a:pPr marL="914400" lvl="2" indent="0">
              <a:lnSpc>
                <a:spcPct val="90000"/>
              </a:lnSpc>
              <a:buNone/>
            </a:pPr>
            <a:endParaRPr lang="en-US" altLang="id-ID" sz="2400" dirty="0">
              <a:latin typeface="+mj-lt"/>
              <a:sym typeface="Symbol" panose="05050102010706020507" pitchFamily="18" charset="2"/>
            </a:endParaRPr>
          </a:p>
          <a:p>
            <a:pPr lvl="2">
              <a:lnSpc>
                <a:spcPct val="90000"/>
              </a:lnSpc>
            </a:pPr>
            <a:r>
              <a:rPr lang="en-US" altLang="id-ID" sz="2400" dirty="0">
                <a:latin typeface="+mj-lt"/>
                <a:sym typeface="Symbol" panose="05050102010706020507" pitchFamily="18" charset="2"/>
              </a:rPr>
              <a:t>int x[3][4] = {1, 2, 3, 4, 5, 6, 7, 8, 9, 10, 11, 12};</a:t>
            </a:r>
          </a:p>
          <a:p>
            <a:pPr lvl="2">
              <a:lnSpc>
                <a:spcPct val="90000"/>
              </a:lnSpc>
            </a:pPr>
            <a:r>
              <a:rPr lang="en-US" altLang="id-ID" sz="2400" dirty="0">
                <a:latin typeface="+mj-lt"/>
                <a:sym typeface="Symbol" panose="05050102010706020507" pitchFamily="18" charset="2"/>
              </a:rPr>
              <a:t>int x[3][4] = {  {1,   2,   3,   4},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id-ID" sz="2400" dirty="0">
                <a:latin typeface="+mj-lt"/>
                <a:sym typeface="Symbol" panose="05050102010706020507" pitchFamily="18" charset="2"/>
              </a:rPr>
              <a:t>                         {5,   6,   7,   8},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id-ID" sz="2400" dirty="0">
                <a:latin typeface="+mj-lt"/>
                <a:sym typeface="Symbol" panose="05050102010706020507" pitchFamily="18" charset="2"/>
              </a:rPr>
              <a:t>                         {9, 10, 11, 12}};</a:t>
            </a:r>
          </a:p>
          <a:p>
            <a:pPr lvl="2">
              <a:buFontTx/>
              <a:buNone/>
            </a:pPr>
            <a:endParaRPr lang="en-US" altLang="id-ID" sz="2400" dirty="0">
              <a:latin typeface="+mj-lt"/>
            </a:endParaRPr>
          </a:p>
        </p:txBody>
      </p:sp>
      <p:grpSp>
        <p:nvGrpSpPr>
          <p:cNvPr id="58" name="Group 4">
            <a:extLst>
              <a:ext uri="{FF2B5EF4-FFF2-40B4-BE49-F238E27FC236}">
                <a16:creationId xmlns:a16="http://schemas.microsoft.com/office/drawing/2014/main" id="{F1016226-FD36-45CF-AF08-B830BA7FED31}"/>
              </a:ext>
            </a:extLst>
          </p:cNvPr>
          <p:cNvGrpSpPr>
            <a:grpSpLocks/>
          </p:cNvGrpSpPr>
          <p:nvPr/>
        </p:nvGrpSpPr>
        <p:grpSpPr bwMode="auto">
          <a:xfrm>
            <a:off x="6385849" y="2094433"/>
            <a:ext cx="1172419" cy="927097"/>
            <a:chOff x="4224" y="2736"/>
            <a:chExt cx="576" cy="388"/>
          </a:xfrm>
        </p:grpSpPr>
        <p:sp>
          <p:nvSpPr>
            <p:cNvPr id="59" name="Text Box 5">
              <a:extLst>
                <a:ext uri="{FF2B5EF4-FFF2-40B4-BE49-F238E27FC236}">
                  <a16:creationId xmlns:a16="http://schemas.microsoft.com/office/drawing/2014/main" id="{A3DB28D3-EF91-46DA-A6DD-7E6AF63A6B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2736"/>
              <a:ext cx="576" cy="3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id-ID" sz="2000" b="1" dirty="0">
                  <a:latin typeface="Courier New" panose="02070309020205020404" pitchFamily="49" charset="0"/>
                  <a:cs typeface="Times New Roman" panose="02020603050405020304" pitchFamily="18" charset="0"/>
                </a:rPr>
                <a:t>1    2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en-US" altLang="id-ID" sz="2000" b="1" dirty="0">
                  <a:latin typeface="Courier New" panose="02070309020205020404" pitchFamily="49" charset="0"/>
                  <a:cs typeface="Times New Roman" panose="02020603050405020304" pitchFamily="18" charset="0"/>
                </a:rPr>
                <a:t>3    4</a:t>
              </a:r>
            </a:p>
          </p:txBody>
        </p:sp>
        <p:sp>
          <p:nvSpPr>
            <p:cNvPr id="60" name="Line 6">
              <a:extLst>
                <a:ext uri="{FF2B5EF4-FFF2-40B4-BE49-F238E27FC236}">
                  <a16:creationId xmlns:a16="http://schemas.microsoft.com/office/drawing/2014/main" id="{F49357F7-A7E7-4471-8C27-390389F5C4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273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id-ID" sz="1350"/>
            </a:p>
          </p:txBody>
        </p:sp>
        <p:sp>
          <p:nvSpPr>
            <p:cNvPr id="61" name="Line 7">
              <a:extLst>
                <a:ext uri="{FF2B5EF4-FFF2-40B4-BE49-F238E27FC236}">
                  <a16:creationId xmlns:a16="http://schemas.microsoft.com/office/drawing/2014/main" id="{EB98712A-4365-4DF6-BE11-6A4EC2F8D7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2928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id-ID" sz="1350"/>
            </a:p>
          </p:txBody>
        </p:sp>
      </p:grpSp>
      <p:grpSp>
        <p:nvGrpSpPr>
          <p:cNvPr id="62" name="Group 8">
            <a:extLst>
              <a:ext uri="{FF2B5EF4-FFF2-40B4-BE49-F238E27FC236}">
                <a16:creationId xmlns:a16="http://schemas.microsoft.com/office/drawing/2014/main" id="{7E3E630A-4CA8-402E-9634-D470F3283730}"/>
              </a:ext>
            </a:extLst>
          </p:cNvPr>
          <p:cNvGrpSpPr>
            <a:grpSpLocks/>
          </p:cNvGrpSpPr>
          <p:nvPr/>
        </p:nvGrpSpPr>
        <p:grpSpPr bwMode="auto">
          <a:xfrm>
            <a:off x="6385848" y="3474091"/>
            <a:ext cx="1172419" cy="861841"/>
            <a:chOff x="4224" y="2736"/>
            <a:chExt cx="576" cy="441"/>
          </a:xfrm>
        </p:grpSpPr>
        <p:sp>
          <p:nvSpPr>
            <p:cNvPr id="63" name="Text Box 9">
              <a:extLst>
                <a:ext uri="{FF2B5EF4-FFF2-40B4-BE49-F238E27FC236}">
                  <a16:creationId xmlns:a16="http://schemas.microsoft.com/office/drawing/2014/main" id="{F6667E5F-9E6D-4BFA-80C7-09DEAF5452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2736"/>
              <a:ext cx="576" cy="44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altLang="id-ID" sz="2000" b="1" dirty="0">
                  <a:latin typeface="Courier New" panose="02070309020205020404" pitchFamily="49" charset="0"/>
                  <a:cs typeface="Times New Roman" panose="02020603050405020304" pitchFamily="18" charset="0"/>
                </a:rPr>
                <a:t>1    0</a:t>
              </a:r>
            </a:p>
            <a:p>
              <a:pPr eaLnBrk="0" hangingPunct="0">
                <a:spcBef>
                  <a:spcPct val="50000"/>
                </a:spcBef>
              </a:pPr>
              <a:r>
                <a:rPr lang="en-US" altLang="id-ID" sz="2000" b="1" dirty="0">
                  <a:latin typeface="Courier New" panose="02070309020205020404" pitchFamily="49" charset="0"/>
                  <a:cs typeface="Times New Roman" panose="02020603050405020304" pitchFamily="18" charset="0"/>
                </a:rPr>
                <a:t>3    4</a:t>
              </a:r>
            </a:p>
          </p:txBody>
        </p:sp>
        <p:sp>
          <p:nvSpPr>
            <p:cNvPr id="64" name="Line 10">
              <a:extLst>
                <a:ext uri="{FF2B5EF4-FFF2-40B4-BE49-F238E27FC236}">
                  <a16:creationId xmlns:a16="http://schemas.microsoft.com/office/drawing/2014/main" id="{E50D4665-79FD-4AAF-83C9-654F020538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273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id-ID" sz="1350"/>
            </a:p>
          </p:txBody>
        </p:sp>
        <p:sp>
          <p:nvSpPr>
            <p:cNvPr id="65" name="Line 11">
              <a:extLst>
                <a:ext uri="{FF2B5EF4-FFF2-40B4-BE49-F238E27FC236}">
                  <a16:creationId xmlns:a16="http://schemas.microsoft.com/office/drawing/2014/main" id="{F8A1153A-6E3D-4F42-BC8F-0DE8A95CAA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2928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id-ID" sz="1350"/>
            </a:p>
          </p:txBody>
        </p:sp>
      </p:grpSp>
    </p:spTree>
    <p:extLst>
      <p:ext uri="{BB962C8B-B14F-4D97-AF65-F5344CB8AC3E}">
        <p14:creationId xmlns:p14="http://schemas.microsoft.com/office/powerpoint/2010/main" val="2291259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ctrTitle"/>
          </p:nvPr>
        </p:nvSpPr>
        <p:spPr bwMode="auto">
          <a:xfrm>
            <a:off x="5011738" y="928687"/>
            <a:ext cx="5529197" cy="70334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id-ID" sz="4000" dirty="0"/>
              <a:t>Array </a:t>
            </a:r>
            <a:r>
              <a:rPr lang="en-US" altLang="id-ID" sz="4000" dirty="0" err="1"/>
              <a:t>Dimensi</a:t>
            </a:r>
            <a:r>
              <a:rPr lang="en-US" altLang="id-ID" sz="4000" dirty="0"/>
              <a:t> </a:t>
            </a:r>
            <a:r>
              <a:rPr lang="en-US" altLang="id-ID" sz="4000" dirty="0" err="1"/>
              <a:t>Tiga</a:t>
            </a:r>
            <a:endParaRPr lang="en-US" altLang="en-US" sz="4000" dirty="0">
              <a:latin typeface="Arial" charset="0"/>
              <a:cs typeface="Arial" charset="0"/>
            </a:endParaRPr>
          </a:p>
        </p:txBody>
      </p:sp>
      <p:pic>
        <p:nvPicPr>
          <p:cNvPr id="5" name="Picture Placeholder 4" descr="A diagram of a cube with text and symbols&#10;&#10;Description automatically generated with medium confidence">
            <a:extLst>
              <a:ext uri="{FF2B5EF4-FFF2-40B4-BE49-F238E27FC236}">
                <a16:creationId xmlns:a16="http://schemas.microsoft.com/office/drawing/2014/main" id="{1AED8C93-D768-1C2A-A52E-2D1CDFB3D2BC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35" t="15895" r="-955" b="507"/>
          <a:stretch/>
        </p:blipFill>
        <p:spPr>
          <a:xfrm>
            <a:off x="0" y="500063"/>
            <a:ext cx="5011738" cy="5856287"/>
          </a:xfrm>
        </p:spPr>
      </p:pic>
      <p:sp>
        <p:nvSpPr>
          <p:cNvPr id="3" name="Content Placeholder 2"/>
          <p:cNvSpPr>
            <a:spLocks noGrp="1"/>
          </p:cNvSpPr>
          <p:nvPr>
            <p:ph sz="half" idx="4294967295"/>
          </p:nvPr>
        </p:nvSpPr>
        <p:spPr>
          <a:xfrm>
            <a:off x="5011738" y="1632030"/>
            <a:ext cx="6667018" cy="4176713"/>
          </a:xfrm>
        </p:spPr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altLang="id-ID" sz="2100" dirty="0">
                <a:sym typeface="Symbol" panose="05050102010706020507" pitchFamily="18" charset="2"/>
              </a:rPr>
              <a:t>X[Row][Column][Depth] : Array </a:t>
            </a:r>
            <a:r>
              <a:rPr lang="en-US" altLang="id-ID" sz="2100" dirty="0" err="1">
                <a:sym typeface="Symbol" panose="05050102010706020507" pitchFamily="18" charset="2"/>
              </a:rPr>
              <a:t>tiga</a:t>
            </a:r>
            <a:r>
              <a:rPr lang="en-US" altLang="id-ID" sz="2100" dirty="0">
                <a:sym typeface="Symbol" panose="05050102010706020507" pitchFamily="18" charset="2"/>
              </a:rPr>
              <a:t> </a:t>
            </a:r>
            <a:r>
              <a:rPr lang="en-US" altLang="id-ID" sz="2100" dirty="0" err="1">
                <a:sym typeface="Symbol" panose="05050102010706020507" pitchFamily="18" charset="2"/>
              </a:rPr>
              <a:t>dimensi</a:t>
            </a:r>
            <a:r>
              <a:rPr lang="en-US" altLang="id-ID" sz="2100" dirty="0">
                <a:sym typeface="Symbol" panose="05050102010706020507" pitchFamily="18" charset="2"/>
              </a:rPr>
              <a:t> </a:t>
            </a:r>
            <a:r>
              <a:rPr lang="en-US" altLang="id-ID" sz="2100" dirty="0" err="1">
                <a:sym typeface="Symbol" panose="05050102010706020507" pitchFamily="18" charset="2"/>
              </a:rPr>
              <a:t>dengan</a:t>
            </a:r>
            <a:r>
              <a:rPr lang="en-US" altLang="id-ID" sz="2100" dirty="0">
                <a:sym typeface="Symbol" panose="05050102010706020507" pitchFamily="18" charset="2"/>
              </a:rPr>
              <a:t> row, column dan depth.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id-ID" sz="2100" dirty="0">
                <a:sym typeface="Symbol" panose="05050102010706020507" pitchFamily="18" charset="2"/>
              </a:rPr>
              <a:t>int x[3][2][4] = {{{1,2,3,4}, {5,6,7,8}},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id-ID" sz="2100" dirty="0">
                <a:sym typeface="Symbol" panose="05050102010706020507" pitchFamily="18" charset="2"/>
              </a:rPr>
              <a:t>                          {{11,12,13,14}, {15,16,17,18}},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id-ID" sz="2100" dirty="0">
                <a:sym typeface="Symbol" panose="05050102010706020507" pitchFamily="18" charset="2"/>
              </a:rPr>
              <a:t>                          {{21,22,23,24}, {25,26,27,28}}};   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id-ID" sz="2100" dirty="0">
                <a:sym typeface="Symbol" panose="05050102010706020507" pitchFamily="18" charset="2"/>
              </a:rPr>
              <a:t> 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id-ID" sz="2100" dirty="0">
                <a:sym typeface="Symbol" panose="05050102010706020507" pitchFamily="18" charset="2"/>
              </a:rPr>
              <a:t>void main() {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id-ID" sz="2100" dirty="0">
                <a:sym typeface="Symbol" panose="05050102010706020507" pitchFamily="18" charset="2"/>
              </a:rPr>
              <a:t>   x[4][3][5] = {{{1, 2, 3}, {0, 4, 3, 4}, {1, 2}},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id-ID" sz="2100" dirty="0">
                <a:sym typeface="Symbol" panose="05050102010706020507" pitchFamily="18" charset="2"/>
              </a:rPr>
              <a:t>                      {{9, 7, 5}, {5, 7, 2}, {9}},        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id-ID" sz="2100" dirty="0">
                <a:sym typeface="Symbol" panose="05050102010706020507" pitchFamily="18" charset="2"/>
              </a:rPr>
              <a:t>                      {{3, 3, 5}, {2, 8, 9, 9}, {1, 2, 1}},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id-ID" sz="2100" dirty="0">
                <a:sym typeface="Symbol" panose="05050102010706020507" pitchFamily="18" charset="2"/>
              </a:rPr>
              <a:t>                      {{0}, {1}, {0, 1, 9}}};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id-ID" sz="2100" dirty="0">
                <a:sym typeface="Symbol" panose="05050102010706020507" pitchFamily="18" charset="2"/>
              </a:rPr>
              <a:t>   </a:t>
            </a:r>
            <a:r>
              <a:rPr lang="en-US" altLang="id-ID" sz="2100" dirty="0" err="1">
                <a:sym typeface="Symbol" panose="05050102010706020507" pitchFamily="18" charset="2"/>
              </a:rPr>
              <a:t>printf</a:t>
            </a:r>
            <a:r>
              <a:rPr lang="en-US" altLang="id-ID" sz="2100" dirty="0">
                <a:sym typeface="Symbol" panose="05050102010706020507" pitchFamily="18" charset="2"/>
              </a:rPr>
              <a:t>(“%5d”, x[2][1][3]);</a:t>
            </a:r>
          </a:p>
          <a:p>
            <a:pPr lvl="2">
              <a:lnSpc>
                <a:spcPct val="90000"/>
              </a:lnSpc>
              <a:buFontTx/>
              <a:buNone/>
            </a:pPr>
            <a:r>
              <a:rPr lang="en-US" altLang="id-ID" sz="2100" dirty="0">
                <a:sym typeface="Symbol" panose="05050102010706020507" pitchFamily="18" charset="2"/>
              </a:rPr>
              <a:t>} </a:t>
            </a:r>
            <a:endParaRPr lang="en-US" altLang="id-ID" sz="2100" dirty="0"/>
          </a:p>
          <a:p>
            <a:pPr lvl="2">
              <a:buFontTx/>
              <a:buNone/>
            </a:pPr>
            <a:endParaRPr lang="en-US" altLang="id-ID" sz="2100" dirty="0"/>
          </a:p>
        </p:txBody>
      </p:sp>
    </p:spTree>
    <p:extLst>
      <p:ext uri="{BB962C8B-B14F-4D97-AF65-F5344CB8AC3E}">
        <p14:creationId xmlns:p14="http://schemas.microsoft.com/office/powerpoint/2010/main" val="3150242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 bwMode="auto">
          <a:xfrm>
            <a:off x="1020040" y="596900"/>
            <a:ext cx="8229600" cy="9271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en-US" sz="4000" dirty="0">
                <a:latin typeface="+mj-lt"/>
                <a:cs typeface="Arial" charset="0"/>
              </a:rPr>
              <a:t>Cara </a:t>
            </a:r>
            <a:r>
              <a:rPr lang="en-US" altLang="en-US" sz="4000" dirty="0" err="1">
                <a:latin typeface="+mj-lt"/>
                <a:cs typeface="Arial" charset="0"/>
              </a:rPr>
              <a:t>Membuat</a:t>
            </a:r>
            <a:r>
              <a:rPr lang="en-US" altLang="en-US" sz="4000" dirty="0">
                <a:latin typeface="+mj-lt"/>
                <a:cs typeface="Arial" charset="0"/>
              </a:rPr>
              <a:t> Array pada C++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1123442" y="1524000"/>
            <a:ext cx="9722036" cy="4176712"/>
          </a:xfrm>
        </p:spPr>
        <p:txBody>
          <a:bodyPr/>
          <a:lstStyle/>
          <a:p>
            <a:pPr marL="457200" indent="-457200" algn="just">
              <a:buFont typeface="+mj-lt"/>
              <a:buAutoNum type="alphaLcPeriod"/>
            </a:pPr>
            <a:r>
              <a:rPr lang="en-ID" dirty="0">
                <a:solidFill>
                  <a:srgbClr val="000000"/>
                </a:solidFill>
                <a:latin typeface="+mj-lt"/>
              </a:rPr>
              <a:t>Pada C++, array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dapat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kita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buat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dengan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cara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seperti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ini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.</a:t>
            </a:r>
          </a:p>
          <a:p>
            <a:pPr marL="457200" indent="-457200">
              <a:buFont typeface="+mj-lt"/>
              <a:buAutoNum type="alphaLcPeriod"/>
            </a:pPr>
            <a:r>
              <a:rPr lang="en-ID" dirty="0">
                <a:solidFill>
                  <a:srgbClr val="000000"/>
                </a:solidFill>
                <a:latin typeface="+mj-lt"/>
              </a:rPr>
              <a:t>Cara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membuat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array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hampir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sama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seperti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cara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membuat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variabel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biasa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.</a:t>
            </a:r>
          </a:p>
          <a:p>
            <a:pPr marL="457200" indent="-457200" algn="just">
              <a:buFont typeface="+mj-lt"/>
              <a:buAutoNum type="alphaLcPeriod"/>
            </a:pPr>
            <a:r>
              <a:rPr lang="en-ID" dirty="0" err="1">
                <a:solidFill>
                  <a:srgbClr val="000000"/>
                </a:solidFill>
                <a:latin typeface="+mj-lt"/>
              </a:rPr>
              <a:t>Bedanya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, pada array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kita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harus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menentukan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panjangnya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.</a:t>
            </a:r>
          </a:p>
          <a:p>
            <a:pPr marL="457200" indent="-457200" algn="just">
              <a:buFont typeface="+mj-lt"/>
              <a:buAutoNum type="alphaLcPeriod"/>
            </a:pPr>
            <a:endParaRPr lang="en-US" altLang="id-ID" sz="2000" dirty="0">
              <a:solidFill>
                <a:srgbClr val="000000"/>
              </a:solidFill>
              <a:latin typeface="+mj-lt"/>
            </a:endParaRP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D4805968-3855-B649-BDF6-0D24F9E277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564" y="3119377"/>
            <a:ext cx="9722036" cy="2269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009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 bwMode="auto">
          <a:xfrm>
            <a:off x="765396" y="465442"/>
            <a:ext cx="8229600" cy="9271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ID" sz="4000" b="1" dirty="0">
                <a:latin typeface="+mj-lt"/>
              </a:rPr>
              <a:t>Cara </a:t>
            </a:r>
            <a:r>
              <a:rPr lang="en-ID" sz="4000" b="1" dirty="0" err="1">
                <a:latin typeface="+mj-lt"/>
              </a:rPr>
              <a:t>Mengambil</a:t>
            </a:r>
            <a:r>
              <a:rPr lang="en-ID" sz="4000" b="1" dirty="0">
                <a:latin typeface="+mj-lt"/>
              </a:rPr>
              <a:t> Data </a:t>
            </a:r>
            <a:r>
              <a:rPr lang="en-ID" sz="4000" b="1" dirty="0" err="1">
                <a:latin typeface="+mj-lt"/>
              </a:rPr>
              <a:t>dari</a:t>
            </a:r>
            <a:r>
              <a:rPr lang="en-ID" sz="4000" b="1" dirty="0">
                <a:latin typeface="+mj-lt"/>
              </a:rPr>
              <a:t>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1018808" y="1217150"/>
            <a:ext cx="9942417" cy="4176712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lphaLcPeriod"/>
            </a:pPr>
            <a:r>
              <a:rPr lang="en-ID" dirty="0" err="1">
                <a:solidFill>
                  <a:srgbClr val="000000"/>
                </a:solidFill>
                <a:latin typeface="+mj-lt"/>
              </a:rPr>
              <a:t>Seperti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yang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sudah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kita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ketahui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, Array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akan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menyimpan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sekumpulan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data dan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memberinya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nomer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indeks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agar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mudah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diakses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.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Indeks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array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selalu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dimulai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dari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nol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 0.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Misalkan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kita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punya array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seperti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ini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:</a:t>
            </a:r>
          </a:p>
          <a:p>
            <a:pPr marL="457200" indent="-457200">
              <a:buFont typeface="+mj-lt"/>
              <a:buAutoNum type="alphaLcPeriod"/>
            </a:pPr>
            <a:endParaRPr lang="en-ID" dirty="0">
              <a:solidFill>
                <a:srgbClr val="000000"/>
              </a:solidFill>
              <a:latin typeface="+mj-lt"/>
            </a:endParaRPr>
          </a:p>
          <a:p>
            <a:pPr marL="457200" indent="-457200">
              <a:buFont typeface="+mj-lt"/>
              <a:buAutoNum type="alphaLcPeriod"/>
            </a:pPr>
            <a:endParaRPr lang="en-ID" dirty="0">
              <a:solidFill>
                <a:srgbClr val="000000"/>
              </a:solidFill>
              <a:latin typeface="+mj-lt"/>
            </a:endParaRPr>
          </a:p>
          <a:p>
            <a:pPr marL="457200" indent="-457200">
              <a:buFont typeface="+mj-lt"/>
              <a:buAutoNum type="alphaLcPeriod"/>
            </a:pPr>
            <a:endParaRPr lang="en-ID" dirty="0">
              <a:solidFill>
                <a:srgbClr val="000000"/>
              </a:solidFill>
              <a:latin typeface="+mj-lt"/>
            </a:endParaRPr>
          </a:p>
          <a:p>
            <a:pPr marL="457200" indent="-457200">
              <a:buFont typeface="+mj-lt"/>
              <a:buAutoNum type="alphaLcPeriod"/>
            </a:pPr>
            <a:r>
              <a:rPr lang="en-ID" dirty="0" err="1">
                <a:solidFill>
                  <a:srgbClr val="000000"/>
                </a:solidFill>
                <a:latin typeface="+mj-lt"/>
              </a:rPr>
              <a:t>Bagaimana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cara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mengambil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huruf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 c?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caranya</a:t>
            </a:r>
            <a:endParaRPr lang="en-ID" dirty="0">
              <a:solidFill>
                <a:srgbClr val="000000"/>
              </a:solidFill>
              <a:latin typeface="+mj-lt"/>
            </a:endParaRPr>
          </a:p>
          <a:p>
            <a:pPr marL="457200" indent="-457200">
              <a:buFont typeface="+mj-lt"/>
              <a:buAutoNum type="alphaLcPeriod"/>
            </a:pPr>
            <a:endParaRPr lang="en-ID" dirty="0">
              <a:solidFill>
                <a:srgbClr val="000000"/>
              </a:solidFill>
              <a:latin typeface="+mj-lt"/>
            </a:endParaRPr>
          </a:p>
          <a:p>
            <a:pPr marL="457200" indent="-457200" algn="just">
              <a:buFont typeface="+mj-lt"/>
              <a:buAutoNum type="alphaLcPeriod"/>
            </a:pPr>
            <a:endParaRPr lang="en-US" altLang="id-ID" sz="2000" dirty="0">
              <a:solidFill>
                <a:srgbClr val="000000"/>
              </a:solidFill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CF3843-48AC-5740-B2B8-F042547C13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8036" y="2433745"/>
            <a:ext cx="8066856" cy="8717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78E5B1-046C-AF4E-8678-214F1CDAE0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8036" y="4208459"/>
            <a:ext cx="7926770" cy="83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25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 bwMode="auto">
          <a:xfrm>
            <a:off x="1228383" y="723900"/>
            <a:ext cx="8960959" cy="7286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ID" sz="4000" b="1" dirty="0" err="1">
                <a:latin typeface="+mj-lt"/>
              </a:rPr>
              <a:t>Contoh</a:t>
            </a:r>
            <a:r>
              <a:rPr lang="en-ID" sz="4000" b="1" dirty="0">
                <a:latin typeface="+mj-lt"/>
              </a:rPr>
              <a:t>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2002657" y="1228725"/>
            <a:ext cx="8208912" cy="4176712"/>
          </a:xfrm>
        </p:spPr>
        <p:txBody>
          <a:bodyPr/>
          <a:lstStyle/>
          <a:p>
            <a:pPr marL="0" indent="0">
              <a:buNone/>
            </a:pPr>
            <a:endParaRPr lang="en-ID" b="1" dirty="0"/>
          </a:p>
          <a:p>
            <a:pPr algn="just"/>
            <a:endParaRPr lang="en-US" altLang="id-ID" sz="2000" dirty="0"/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586E189D-EA6F-9147-B650-BA3F86EF61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155" y="1452563"/>
            <a:ext cx="9757461" cy="422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07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F2233-575C-C449-A0E0-2C87D5C1B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sz="4000" b="1" dirty="0" err="1"/>
              <a:t>Mengisi</a:t>
            </a:r>
            <a:r>
              <a:rPr lang="en-ID" sz="4000" b="1" dirty="0"/>
              <a:t> </a:t>
            </a:r>
            <a:r>
              <a:rPr lang="en-ID" sz="4000" b="1" dirty="0" err="1"/>
              <a:t>Ulang</a:t>
            </a:r>
            <a:r>
              <a:rPr lang="en-ID" sz="4000" b="1" dirty="0"/>
              <a:t> Data pada Array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4B9D3-11B9-884A-A214-B4F04D414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772" y="1310834"/>
            <a:ext cx="10972800" cy="4525963"/>
          </a:xfrm>
        </p:spPr>
        <p:txBody>
          <a:bodyPr/>
          <a:lstStyle/>
          <a:p>
            <a:pPr marL="0" indent="0" algn="just">
              <a:buNone/>
            </a:pPr>
            <a:r>
              <a:rPr lang="en-ID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Data pada array </a:t>
            </a:r>
            <a:r>
              <a:rPr lang="en-ID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dapat</a:t>
            </a:r>
            <a:r>
              <a:rPr lang="en-ID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kita</a:t>
            </a:r>
            <a:r>
              <a:rPr lang="en-ID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isi</a:t>
            </a:r>
            <a:r>
              <a:rPr lang="en-ID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ulang</a:t>
            </a:r>
            <a:r>
              <a:rPr lang="en-ID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dengan</a:t>
            </a:r>
            <a:r>
              <a:rPr lang="en-ID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cara</a:t>
            </a:r>
            <a:r>
              <a:rPr lang="en-ID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seperti</a:t>
            </a:r>
            <a:r>
              <a:rPr lang="en-ID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ini</a:t>
            </a:r>
            <a:r>
              <a:rPr lang="en-ID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:</a:t>
            </a:r>
          </a:p>
          <a:p>
            <a:pPr marL="0" indent="0" algn="just">
              <a:buNone/>
            </a:pPr>
            <a:r>
              <a:rPr lang="en-ID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	</a:t>
            </a:r>
            <a:r>
              <a:rPr lang="en-ID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huruf</a:t>
            </a:r>
            <a:r>
              <a:rPr lang="en-ID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[2] = 'z';</a:t>
            </a:r>
          </a:p>
          <a:p>
            <a:pPr algn="just">
              <a:buAutoNum type="alphaLcPeriod"/>
            </a:pPr>
            <a:endParaRPr lang="en-US" dirty="0"/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5C1C90BD-D86F-A641-BA19-CC7D96F370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610" y="2206841"/>
            <a:ext cx="7853423" cy="4376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449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 bwMode="auto">
          <a:xfrm>
            <a:off x="1101061" y="504946"/>
            <a:ext cx="8737419" cy="9271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ID" sz="4000" b="1" dirty="0" err="1">
                <a:latin typeface="+mj-lt"/>
              </a:rPr>
              <a:t>Contoh</a:t>
            </a:r>
            <a:r>
              <a:rPr lang="en-ID" sz="4000" b="1" dirty="0">
                <a:latin typeface="+mj-lt"/>
              </a:rPr>
              <a:t>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2002657" y="1228725"/>
            <a:ext cx="8208912" cy="4176712"/>
          </a:xfrm>
        </p:spPr>
        <p:txBody>
          <a:bodyPr/>
          <a:lstStyle/>
          <a:p>
            <a:pPr marL="0" indent="0">
              <a:buNone/>
            </a:pPr>
            <a:endParaRPr lang="en-ID" b="1" dirty="0"/>
          </a:p>
          <a:p>
            <a:pPr algn="just"/>
            <a:endParaRPr lang="en-US" altLang="id-ID" sz="2000" dirty="0"/>
          </a:p>
        </p:txBody>
      </p:sp>
      <p:pic>
        <p:nvPicPr>
          <p:cNvPr id="4" name="Picture 3" descr="Graphical user interface&#10;&#10;Description automatically generated">
            <a:extLst>
              <a:ext uri="{FF2B5EF4-FFF2-40B4-BE49-F238E27FC236}">
                <a16:creationId xmlns:a16="http://schemas.microsoft.com/office/drawing/2014/main" id="{BE99681E-1F9C-A540-9977-B9B593E00A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060" y="1228725"/>
            <a:ext cx="6526655" cy="5328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058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A7109-839E-4844-A1E4-6705CC488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239" y="487101"/>
            <a:ext cx="8229600" cy="884238"/>
          </a:xfrm>
        </p:spPr>
        <p:txBody>
          <a:bodyPr>
            <a:normAutofit/>
          </a:bodyPr>
          <a:lstStyle/>
          <a:p>
            <a:r>
              <a:rPr lang="en-ID" sz="4000" dirty="0" err="1">
                <a:latin typeface="+mj-lt"/>
                <a:cs typeface="Arial" panose="020B0604020202020204" pitchFamily="34" charset="0"/>
              </a:rPr>
              <a:t>Menggunakan</a:t>
            </a:r>
            <a:r>
              <a:rPr lang="en-ID" sz="4000" dirty="0">
                <a:latin typeface="+mj-lt"/>
                <a:cs typeface="Arial" panose="020B0604020202020204" pitchFamily="34" charset="0"/>
              </a:rPr>
              <a:t> </a:t>
            </a:r>
            <a:r>
              <a:rPr lang="en-ID" sz="4000" dirty="0" err="1">
                <a:latin typeface="+mj-lt"/>
                <a:cs typeface="Arial" panose="020B0604020202020204" pitchFamily="34" charset="0"/>
              </a:rPr>
              <a:t>Perulangan</a:t>
            </a:r>
            <a:r>
              <a:rPr lang="en-ID" sz="4000" dirty="0">
                <a:latin typeface="+mj-lt"/>
                <a:cs typeface="Arial" panose="020B0604020202020204" pitchFamily="34" charset="0"/>
              </a:rPr>
              <a:t> dan Array</a:t>
            </a:r>
            <a:endParaRPr lang="en-US" sz="400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F1B73-4DD8-F84D-A748-AE1CFADCC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653" y="1461304"/>
            <a:ext cx="10401782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D" dirty="0">
                <a:solidFill>
                  <a:srgbClr val="000000"/>
                </a:solidFill>
                <a:latin typeface="+mj-lt"/>
              </a:rPr>
              <a:t>Pada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contoh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di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atas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,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kita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menggunakan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perintah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 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cout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 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secara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berulang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untuk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mencetak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semua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</a:rPr>
              <a:t>isi</a:t>
            </a:r>
            <a:r>
              <a:rPr lang="en-ID" dirty="0">
                <a:solidFill>
                  <a:srgbClr val="000000"/>
                </a:solidFill>
                <a:latin typeface="+mj-lt"/>
              </a:rPr>
              <a:t> array.</a:t>
            </a:r>
          </a:p>
          <a:p>
            <a:pPr algn="just">
              <a:buFont typeface="+mj-lt"/>
              <a:buAutoNum type="alphaLcPeriod"/>
            </a:pPr>
            <a:endParaRPr lang="en-ID" dirty="0">
              <a:solidFill>
                <a:srgbClr val="000000"/>
              </a:solidFill>
              <a:latin typeface="+mj-lt"/>
            </a:endParaRPr>
          </a:p>
          <a:p>
            <a:pPr algn="just">
              <a:buFont typeface="+mj-lt"/>
              <a:buAutoNum type="alphaLcPeriod"/>
            </a:pPr>
            <a:endParaRPr lang="en-ID" dirty="0">
              <a:solidFill>
                <a:srgbClr val="000000"/>
              </a:solidFill>
              <a:latin typeface="+mj-lt"/>
            </a:endParaRPr>
          </a:p>
          <a:p>
            <a:pPr algn="just">
              <a:buFont typeface="+mj-lt"/>
              <a:buAutoNum type="alphaLcPeriod"/>
            </a:pPr>
            <a:endParaRPr lang="en-ID" dirty="0">
              <a:solidFill>
                <a:srgbClr val="000000"/>
              </a:solidFill>
              <a:latin typeface="+mj-lt"/>
            </a:endParaRPr>
          </a:p>
          <a:p>
            <a:pPr algn="just">
              <a:buFont typeface="+mj-lt"/>
              <a:buAutoNum type="alphaLcPeriod"/>
            </a:pPr>
            <a:endParaRPr lang="en-ID" dirty="0">
              <a:solidFill>
                <a:srgbClr val="000000"/>
              </a:solidFill>
              <a:latin typeface="+mj-lt"/>
            </a:endParaRPr>
          </a:p>
          <a:p>
            <a:pPr algn="just">
              <a:buFont typeface="+mj-lt"/>
              <a:buAutoNum type="alphaLcPeriod"/>
            </a:pPr>
            <a:endParaRPr lang="en-ID" dirty="0">
              <a:solidFill>
                <a:srgbClr val="000000"/>
              </a:solidFill>
              <a:latin typeface="+mj-lt"/>
            </a:endParaRPr>
          </a:p>
          <a:p>
            <a:pPr algn="just">
              <a:buFont typeface="+mj-lt"/>
              <a:buAutoNum type="alphaLcPeriod"/>
            </a:pPr>
            <a:endParaRPr lang="en-ID" dirty="0">
              <a:solidFill>
                <a:srgbClr val="000000"/>
              </a:solidFill>
              <a:latin typeface="+mj-lt"/>
            </a:endParaRPr>
          </a:p>
          <a:p>
            <a:pPr marL="0" indent="0" algn="just">
              <a:buNone/>
            </a:pPr>
            <a:r>
              <a:rPr lang="en-ID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Kalau</a:t>
            </a:r>
            <a:r>
              <a:rPr lang="en-ID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isi</a:t>
            </a:r>
            <a:r>
              <a:rPr lang="en-ID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array-</a:t>
            </a:r>
            <a:r>
              <a:rPr lang="en-ID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nya</a:t>
            </a:r>
            <a:r>
              <a:rPr lang="en-ID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ada</a:t>
            </a:r>
            <a:r>
              <a:rPr lang="en-ID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ribuan</a:t>
            </a:r>
            <a:r>
              <a:rPr lang="en-ID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, </a:t>
            </a:r>
            <a:r>
              <a:rPr lang="en-ID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apa</a:t>
            </a:r>
            <a:r>
              <a:rPr lang="en-ID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kamu</a:t>
            </a:r>
            <a:r>
              <a:rPr lang="en-ID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akan</a:t>
            </a:r>
            <a:r>
              <a:rPr lang="en-ID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sanggup</a:t>
            </a:r>
            <a:r>
              <a:rPr lang="en-ID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menulis</a:t>
            </a:r>
            <a:r>
              <a:rPr lang="en-ID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ini</a:t>
            </a:r>
            <a:r>
              <a:rPr lang="en-ID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berulang-ulang</a:t>
            </a:r>
            <a:r>
              <a:rPr lang="en-ID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? </a:t>
            </a:r>
          </a:p>
          <a:p>
            <a:pPr marL="0" indent="0" algn="just">
              <a:buNone/>
            </a:pPr>
            <a:r>
              <a:rPr lang="en-ID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Tentu</a:t>
            </a:r>
            <a:r>
              <a:rPr lang="en-ID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saja</a:t>
            </a:r>
            <a:r>
              <a:rPr lang="en-ID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tidak</a:t>
            </a:r>
            <a:r>
              <a:rPr lang="en-ID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! Karena </a:t>
            </a:r>
            <a:r>
              <a:rPr lang="en-ID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itu</a:t>
            </a:r>
            <a:r>
              <a:rPr lang="en-ID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, </a:t>
            </a:r>
            <a:r>
              <a:rPr lang="en-ID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kita</a:t>
            </a:r>
            <a:r>
              <a:rPr lang="en-ID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bisa</a:t>
            </a:r>
            <a:r>
              <a:rPr lang="en-ID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memanfaatkan</a:t>
            </a:r>
            <a:r>
              <a:rPr lang="en-ID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perulangan</a:t>
            </a:r>
            <a:r>
              <a:rPr lang="en-ID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untuk</a:t>
            </a:r>
            <a:r>
              <a:rPr lang="en-ID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ID" dirty="0" err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mencetaknya</a:t>
            </a:r>
            <a:r>
              <a:rPr lang="en-ID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.</a:t>
            </a:r>
          </a:p>
          <a:p>
            <a:pPr algn="just">
              <a:buFont typeface="+mj-lt"/>
              <a:buAutoNum type="alphaLcPeriod"/>
            </a:pPr>
            <a:endParaRPr lang="en-US" dirty="0">
              <a:solidFill>
                <a:srgbClr val="000000"/>
              </a:solidFill>
              <a:latin typeface="+mj-lt"/>
            </a:endParaRPr>
          </a:p>
        </p:txBody>
      </p:sp>
      <p:pic>
        <p:nvPicPr>
          <p:cNvPr id="6" name="Picture 5" descr="Text&#10;&#10;Description automatically generated with medium confidence">
            <a:extLst>
              <a:ext uri="{FF2B5EF4-FFF2-40B4-BE49-F238E27FC236}">
                <a16:creationId xmlns:a16="http://schemas.microsoft.com/office/drawing/2014/main" id="{5E32ED18-CF2C-024B-B402-3DF82E8D61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937" y="2129710"/>
            <a:ext cx="9156793" cy="2106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610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A7109-839E-4844-A1E4-6705CC488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543560"/>
            <a:ext cx="8229600" cy="884238"/>
          </a:xfrm>
        </p:spPr>
        <p:txBody>
          <a:bodyPr>
            <a:normAutofit/>
          </a:bodyPr>
          <a:lstStyle/>
          <a:p>
            <a:r>
              <a:rPr lang="en-ID" sz="4000" dirty="0" err="1">
                <a:latin typeface="+mj-lt"/>
                <a:cs typeface="Arial" panose="020B0604020202020204" pitchFamily="34" charset="0"/>
              </a:rPr>
              <a:t>Menggunakan</a:t>
            </a:r>
            <a:r>
              <a:rPr lang="en-ID" sz="4000" dirty="0">
                <a:latin typeface="+mj-lt"/>
                <a:cs typeface="Arial" panose="020B0604020202020204" pitchFamily="34" charset="0"/>
              </a:rPr>
              <a:t> </a:t>
            </a:r>
            <a:r>
              <a:rPr lang="en-ID" sz="4000" dirty="0" err="1">
                <a:latin typeface="+mj-lt"/>
                <a:cs typeface="Arial" panose="020B0604020202020204" pitchFamily="34" charset="0"/>
              </a:rPr>
              <a:t>Perulangan</a:t>
            </a:r>
            <a:r>
              <a:rPr lang="en-ID" sz="4000" dirty="0">
                <a:latin typeface="+mj-lt"/>
                <a:cs typeface="Arial" panose="020B0604020202020204" pitchFamily="34" charset="0"/>
              </a:rPr>
              <a:t> dan Array</a:t>
            </a:r>
            <a:endParaRPr lang="en-US" sz="4000" dirty="0">
              <a:latin typeface="+mj-lt"/>
              <a:cs typeface="Arial" panose="020B0604020202020204" pitchFamily="34" charset="0"/>
            </a:endParaRPr>
          </a:p>
        </p:txBody>
      </p:sp>
      <p:pic>
        <p:nvPicPr>
          <p:cNvPr id="5" name="Content Placeholder 4" descr="Text&#10;&#10;Description automatically generated">
            <a:extLst>
              <a:ext uri="{FF2B5EF4-FFF2-40B4-BE49-F238E27FC236}">
                <a16:creationId xmlns:a16="http://schemas.microsoft.com/office/drawing/2014/main" id="{306EC9B3-1953-8345-8D57-BE3CA645D4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1427798"/>
            <a:ext cx="6604000" cy="4970863"/>
          </a:xfrm>
        </p:spPr>
      </p:pic>
    </p:spTree>
    <p:extLst>
      <p:ext uri="{BB962C8B-B14F-4D97-AF65-F5344CB8AC3E}">
        <p14:creationId xmlns:p14="http://schemas.microsoft.com/office/powerpoint/2010/main" val="1442390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39A47-8069-7DB5-345A-05CE329FE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Tugas</a:t>
            </a:r>
            <a:r>
              <a:rPr lang="en-US" dirty="0"/>
              <a:t> </a:t>
            </a:r>
            <a:r>
              <a:rPr lang="en-US" dirty="0" err="1"/>
              <a:t>Sesi</a:t>
            </a:r>
            <a:r>
              <a:rPr lang="en-US" dirty="0"/>
              <a:t> 2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D950D-1BCC-BB06-5114-79E4BAA7C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000" b="0" dirty="0">
                <a:solidFill>
                  <a:srgbClr val="000000"/>
                </a:solidFill>
              </a:rPr>
              <a:t>Apa yang </a:t>
            </a:r>
            <a:r>
              <a:rPr lang="en-US" sz="2000" b="0" dirty="0" err="1">
                <a:solidFill>
                  <a:srgbClr val="000000"/>
                </a:solidFill>
              </a:rPr>
              <a:t>dimaksud</a:t>
            </a:r>
            <a:r>
              <a:rPr lang="en-US" sz="2000" b="0" dirty="0">
                <a:solidFill>
                  <a:srgbClr val="000000"/>
                </a:solidFill>
              </a:rPr>
              <a:t> </a:t>
            </a:r>
            <a:r>
              <a:rPr lang="en-US" sz="2000" b="0" dirty="0" err="1">
                <a:solidFill>
                  <a:srgbClr val="000000"/>
                </a:solidFill>
              </a:rPr>
              <a:t>dengan</a:t>
            </a:r>
            <a:r>
              <a:rPr lang="en-US" sz="2000" b="0" dirty="0">
                <a:solidFill>
                  <a:srgbClr val="000000"/>
                </a:solidFill>
              </a:rPr>
              <a:t> array/</a:t>
            </a:r>
            <a:r>
              <a:rPr lang="en-US" sz="2000" b="0" dirty="0" err="1">
                <a:solidFill>
                  <a:srgbClr val="000000"/>
                </a:solidFill>
              </a:rPr>
              <a:t>larik</a:t>
            </a:r>
            <a:r>
              <a:rPr lang="en-US" sz="2000" b="0" dirty="0">
                <a:solidFill>
                  <a:srgbClr val="000000"/>
                </a:solidFill>
              </a:rPr>
              <a:t>? </a:t>
            </a:r>
          </a:p>
          <a:p>
            <a:pPr algn="l"/>
            <a:r>
              <a:rPr lang="en-US" sz="2000" b="0" dirty="0" err="1">
                <a:solidFill>
                  <a:srgbClr val="000000"/>
                </a:solidFill>
              </a:rPr>
              <a:t>Berikan</a:t>
            </a:r>
            <a:r>
              <a:rPr lang="en-US" sz="2000" b="0" dirty="0">
                <a:solidFill>
                  <a:srgbClr val="000000"/>
                </a:solidFill>
              </a:rPr>
              <a:t> </a:t>
            </a:r>
            <a:r>
              <a:rPr lang="en-US" sz="2000" b="0" dirty="0" err="1">
                <a:solidFill>
                  <a:srgbClr val="000000"/>
                </a:solidFill>
              </a:rPr>
              <a:t>contoh</a:t>
            </a:r>
            <a:r>
              <a:rPr lang="en-US" sz="2000" b="0" dirty="0">
                <a:solidFill>
                  <a:srgbClr val="000000"/>
                </a:solidFill>
              </a:rPr>
              <a:t> </a:t>
            </a:r>
            <a:r>
              <a:rPr lang="en-US" sz="2000" b="0" dirty="0" err="1">
                <a:solidFill>
                  <a:srgbClr val="000000"/>
                </a:solidFill>
              </a:rPr>
              <a:t>penggunaan</a:t>
            </a:r>
            <a:r>
              <a:rPr lang="en-US" sz="2000" b="0" dirty="0">
                <a:solidFill>
                  <a:srgbClr val="000000"/>
                </a:solidFill>
              </a:rPr>
              <a:t> 3 </a:t>
            </a:r>
            <a:r>
              <a:rPr lang="en-US" sz="2000" b="0" dirty="0" err="1">
                <a:solidFill>
                  <a:srgbClr val="000000"/>
                </a:solidFill>
              </a:rPr>
              <a:t>penggunaan</a:t>
            </a:r>
            <a:r>
              <a:rPr lang="en-US" sz="2000" b="0" dirty="0">
                <a:solidFill>
                  <a:srgbClr val="000000"/>
                </a:solidFill>
              </a:rPr>
              <a:t> array (</a:t>
            </a:r>
            <a:r>
              <a:rPr lang="en-US" sz="2000" b="0" dirty="0" err="1">
                <a:solidFill>
                  <a:srgbClr val="000000"/>
                </a:solidFill>
              </a:rPr>
              <a:t>contoh</a:t>
            </a:r>
            <a:r>
              <a:rPr lang="en-US" sz="2000" b="0" dirty="0">
                <a:solidFill>
                  <a:srgbClr val="000000"/>
                </a:solidFill>
              </a:rPr>
              <a:t>: </a:t>
            </a:r>
            <a:r>
              <a:rPr lang="en-US" sz="2000" b="0" u="sng" dirty="0">
                <a:solidFill>
                  <a:srgbClr val="000000"/>
                </a:solidFill>
              </a:rPr>
              <a:t>array 1 </a:t>
            </a:r>
            <a:r>
              <a:rPr lang="en-US" sz="2000" b="0" u="sng" dirty="0" err="1">
                <a:solidFill>
                  <a:srgbClr val="000000"/>
                </a:solidFill>
              </a:rPr>
              <a:t>dimensi</a:t>
            </a:r>
            <a:r>
              <a:rPr lang="en-US" sz="2000" b="0" u="sng" dirty="0">
                <a:solidFill>
                  <a:srgbClr val="000000"/>
                </a:solidFill>
              </a:rPr>
              <a:t> </a:t>
            </a:r>
            <a:r>
              <a:rPr lang="en-US" sz="2000" b="1" u="sng" dirty="0">
                <a:solidFill>
                  <a:srgbClr val="000000"/>
                </a:solidFill>
              </a:rPr>
              <a:t>int a[5]</a:t>
            </a:r>
            <a:r>
              <a:rPr lang="en-US" sz="2000" b="0" u="sng" dirty="0">
                <a:solidFill>
                  <a:srgbClr val="000000"/>
                </a:solidFill>
              </a:rPr>
              <a:t>, </a:t>
            </a:r>
            <a:r>
              <a:rPr lang="en-US" sz="2000" b="0" u="sng" dirty="0" err="1">
                <a:solidFill>
                  <a:srgbClr val="000000"/>
                </a:solidFill>
              </a:rPr>
              <a:t>interger</a:t>
            </a:r>
            <a:r>
              <a:rPr lang="en-US" sz="2000" b="0" u="sng" dirty="0">
                <a:solidFill>
                  <a:srgbClr val="000000"/>
                </a:solidFill>
              </a:rPr>
              <a:t> variable A 5 index)</a:t>
            </a:r>
          </a:p>
          <a:p>
            <a:pPr algn="l"/>
            <a:r>
              <a:rPr lang="en-US" sz="2000" b="0" dirty="0">
                <a:solidFill>
                  <a:srgbClr val="000000"/>
                </a:solidFill>
              </a:rPr>
              <a:t>Code: </a:t>
            </a:r>
            <a:r>
              <a:rPr lang="en-US" sz="2000" b="0" dirty="0" err="1">
                <a:solidFill>
                  <a:srgbClr val="000000"/>
                </a:solidFill>
              </a:rPr>
              <a:t>Buatlah</a:t>
            </a:r>
            <a:r>
              <a:rPr lang="en-US" sz="2000" b="0" dirty="0">
                <a:solidFill>
                  <a:srgbClr val="000000"/>
                </a:solidFill>
              </a:rPr>
              <a:t> coding C++ </a:t>
            </a:r>
            <a:r>
              <a:rPr lang="en-US" sz="2000" b="0" dirty="0" err="1">
                <a:solidFill>
                  <a:srgbClr val="000000"/>
                </a:solidFill>
              </a:rPr>
              <a:t>dengan</a:t>
            </a:r>
            <a:r>
              <a:rPr lang="en-US" sz="2000" b="0" dirty="0">
                <a:solidFill>
                  <a:srgbClr val="000000"/>
                </a:solidFill>
              </a:rPr>
              <a:t> </a:t>
            </a:r>
            <a:r>
              <a:rPr lang="en-US" sz="2000" b="0" dirty="0" err="1">
                <a:solidFill>
                  <a:srgbClr val="000000"/>
                </a:solidFill>
              </a:rPr>
              <a:t>tampilan</a:t>
            </a:r>
            <a:r>
              <a:rPr lang="en-US" sz="2000" b="0" dirty="0">
                <a:solidFill>
                  <a:srgbClr val="000000"/>
                </a:solidFill>
              </a:rPr>
              <a:t> </a:t>
            </a:r>
            <a:r>
              <a:rPr lang="en-US" sz="2000" b="0" dirty="0" err="1">
                <a:solidFill>
                  <a:srgbClr val="000000"/>
                </a:solidFill>
              </a:rPr>
              <a:t>isi</a:t>
            </a:r>
            <a:r>
              <a:rPr lang="en-US" sz="2000" b="0" dirty="0">
                <a:solidFill>
                  <a:srgbClr val="000000"/>
                </a:solidFill>
              </a:rPr>
              <a:t> array</a:t>
            </a:r>
          </a:p>
          <a:p>
            <a:pPr marL="0" indent="0" algn="l">
              <a:buNone/>
            </a:pPr>
            <a:r>
              <a:rPr lang="en-US" sz="2000" b="0" dirty="0">
                <a:solidFill>
                  <a:srgbClr val="000000"/>
                </a:solidFill>
              </a:rPr>
              <a:t>	1 2 3 4 5</a:t>
            </a:r>
          </a:p>
          <a:p>
            <a:pPr marL="0" indent="0" algn="l">
              <a:buNone/>
            </a:pPr>
            <a:r>
              <a:rPr lang="en-US" sz="2000" b="0" dirty="0">
                <a:solidFill>
                  <a:srgbClr val="000000"/>
                </a:solidFill>
              </a:rPr>
              <a:t>	A B C D E</a:t>
            </a:r>
          </a:p>
          <a:p>
            <a:pPr marL="0" indent="0" algn="l">
              <a:buNone/>
            </a:pPr>
            <a:endParaRPr lang="en-US" sz="2000" dirty="0">
              <a:solidFill>
                <a:srgbClr val="000000"/>
              </a:solidFill>
            </a:endParaRPr>
          </a:p>
          <a:p>
            <a:pPr marL="0" indent="0" algn="l">
              <a:buNone/>
            </a:pPr>
            <a:r>
              <a:rPr lang="en-US" sz="2000" b="0" dirty="0">
                <a:solidFill>
                  <a:srgbClr val="000000"/>
                </a:solidFill>
              </a:rPr>
              <a:t>         </a:t>
            </a:r>
            <a:r>
              <a:rPr lang="en-US" sz="2000" b="0" dirty="0" err="1">
                <a:solidFill>
                  <a:srgbClr val="000000"/>
                </a:solidFill>
              </a:rPr>
              <a:t>dimana</a:t>
            </a:r>
            <a:r>
              <a:rPr lang="en-US" sz="2000" b="0" dirty="0">
                <a:solidFill>
                  <a:srgbClr val="000000"/>
                </a:solidFill>
              </a:rPr>
              <a:t> </a:t>
            </a:r>
            <a:r>
              <a:rPr lang="en-US" sz="2000" b="0" dirty="0" err="1">
                <a:solidFill>
                  <a:srgbClr val="000000"/>
                </a:solidFill>
              </a:rPr>
              <a:t>angka</a:t>
            </a:r>
            <a:r>
              <a:rPr lang="en-US" sz="2000" b="0" dirty="0">
                <a:solidFill>
                  <a:srgbClr val="000000"/>
                </a:solidFill>
              </a:rPr>
              <a:t> </a:t>
            </a:r>
            <a:r>
              <a:rPr lang="en-US" sz="2000" b="0" dirty="0" err="1">
                <a:solidFill>
                  <a:srgbClr val="000000"/>
                </a:solidFill>
              </a:rPr>
              <a:t>adalah</a:t>
            </a:r>
            <a:r>
              <a:rPr lang="en-US" sz="2000" b="0" dirty="0">
                <a:solidFill>
                  <a:srgbClr val="000000"/>
                </a:solidFill>
              </a:rPr>
              <a:t> </a:t>
            </a:r>
            <a:r>
              <a:rPr lang="en-US" sz="2000" b="1" dirty="0">
                <a:solidFill>
                  <a:srgbClr val="000000"/>
                </a:solidFill>
              </a:rPr>
              <a:t>int</a:t>
            </a:r>
            <a:r>
              <a:rPr lang="en-US" sz="2000" b="0" dirty="0">
                <a:solidFill>
                  <a:srgbClr val="000000"/>
                </a:solidFill>
              </a:rPr>
              <a:t> dan </a:t>
            </a:r>
            <a:r>
              <a:rPr lang="en-US" sz="2000" b="0" dirty="0" err="1">
                <a:solidFill>
                  <a:srgbClr val="000000"/>
                </a:solidFill>
              </a:rPr>
              <a:t>huruf</a:t>
            </a:r>
            <a:r>
              <a:rPr lang="en-US" sz="2000" b="0" dirty="0">
                <a:solidFill>
                  <a:srgbClr val="000000"/>
                </a:solidFill>
              </a:rPr>
              <a:t> </a:t>
            </a:r>
            <a:r>
              <a:rPr lang="en-US" sz="2000" b="0" dirty="0" err="1">
                <a:solidFill>
                  <a:srgbClr val="000000"/>
                </a:solidFill>
              </a:rPr>
              <a:t>adalah</a:t>
            </a:r>
            <a:r>
              <a:rPr lang="en-US" sz="2000" b="0" dirty="0">
                <a:solidFill>
                  <a:srgbClr val="000000"/>
                </a:solidFill>
              </a:rPr>
              <a:t> </a:t>
            </a:r>
            <a:r>
              <a:rPr lang="en-US" sz="2000" b="1" dirty="0">
                <a:solidFill>
                  <a:srgbClr val="000000"/>
                </a:solidFill>
              </a:rPr>
              <a:t>char.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pPr marL="0" indent="0" algn="l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sz="2800" dirty="0"/>
              <a:t>Kirim </a:t>
            </a:r>
            <a:r>
              <a:rPr lang="en-US" sz="2800" dirty="0" err="1"/>
              <a:t>Elearning</a:t>
            </a:r>
            <a:endParaRPr lang="en-ID" sz="2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4A120C-6993-47BC-06B3-4F137ABC61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26113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16330"/>
            <a:ext cx="10515600" cy="811530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latin typeface="+mj-lt"/>
              </a:rPr>
              <a:t>Any Question</a:t>
            </a:r>
          </a:p>
        </p:txBody>
      </p:sp>
      <p:pic>
        <p:nvPicPr>
          <p:cNvPr id="9" name="Picture 8" descr="A group of colorful bubbles with question marks&#10;&#10;Description automatically generated">
            <a:extLst>
              <a:ext uri="{FF2B5EF4-FFF2-40B4-BE49-F238E27FC236}">
                <a16:creationId xmlns:a16="http://schemas.microsoft.com/office/drawing/2014/main" id="{D0AF8578-230F-23BC-7BFF-398FFA9AF2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4323" y="1719182"/>
            <a:ext cx="4603353" cy="4603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789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Terima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Kasih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421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Nilai</a:t>
            </a:r>
            <a:r>
              <a:rPr lang="en-US" dirty="0" smtClean="0"/>
              <a:t> </a:t>
            </a:r>
            <a:r>
              <a:rPr lang="en-US" dirty="0" err="1" smtClean="0"/>
              <a:t>tambah</a:t>
            </a:r>
            <a:r>
              <a:rPr lang="en-US" dirty="0" smtClean="0"/>
              <a:t> cr001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20250801080 Muhammad </a:t>
            </a:r>
            <a:r>
              <a:rPr lang="en-US" dirty="0" err="1" smtClean="0"/>
              <a:t>Rayhan</a:t>
            </a:r>
            <a:r>
              <a:rPr lang="en-US" dirty="0" smtClean="0"/>
              <a:t> Tri  </a:t>
            </a:r>
            <a:r>
              <a:rPr lang="en-US" dirty="0"/>
              <a:t>Putra</a:t>
            </a:r>
          </a:p>
          <a:p>
            <a:r>
              <a:rPr lang="en-US" dirty="0" smtClean="0"/>
              <a:t>20250801065 Ahmad </a:t>
            </a:r>
            <a:r>
              <a:rPr lang="en-US" dirty="0" err="1" smtClean="0"/>
              <a:t>Ferdiyansah</a:t>
            </a:r>
            <a:endParaRPr lang="en-US" dirty="0" smtClean="0"/>
          </a:p>
          <a:p>
            <a:r>
              <a:rPr lang="en-US" dirty="0" smtClean="0"/>
              <a:t>20250801107  Nadia </a:t>
            </a:r>
            <a:r>
              <a:rPr lang="en-US" dirty="0" err="1" smtClean="0"/>
              <a:t>Aurellia</a:t>
            </a:r>
            <a:r>
              <a:rPr lang="en-US" dirty="0" smtClean="0"/>
              <a:t> </a:t>
            </a:r>
            <a:r>
              <a:rPr lang="en-US" dirty="0" err="1" smtClean="0"/>
              <a:t>Ikrima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4. </a:t>
            </a:r>
            <a:r>
              <a:rPr lang="en-US" dirty="0"/>
              <a:t> </a:t>
            </a:r>
            <a:r>
              <a:rPr lang="en-US" dirty="0" smtClean="0"/>
              <a:t>  20250801119 – </a:t>
            </a:r>
            <a:r>
              <a:rPr lang="en-US" dirty="0" err="1" smtClean="0"/>
              <a:t>Ika</a:t>
            </a:r>
            <a:r>
              <a:rPr lang="en-US" dirty="0" smtClean="0"/>
              <a:t> </a:t>
            </a:r>
            <a:r>
              <a:rPr lang="en-US" dirty="0" err="1" smtClean="0"/>
              <a:t>Putri</a:t>
            </a:r>
            <a:r>
              <a:rPr lang="en-US" dirty="0" smtClean="0"/>
              <a:t> </a:t>
            </a:r>
            <a:r>
              <a:rPr lang="en-US" dirty="0" err="1" smtClean="0"/>
              <a:t>Maulianawati</a:t>
            </a:r>
            <a:r>
              <a:rPr lang="en-US" smtClean="0"/>
              <a:t> Rizky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128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Nilai</a:t>
            </a:r>
            <a:r>
              <a:rPr lang="en-US" dirty="0" smtClean="0"/>
              <a:t> </a:t>
            </a:r>
            <a:r>
              <a:rPr lang="en-US" dirty="0" err="1" smtClean="0"/>
              <a:t>Tambah</a:t>
            </a:r>
            <a:r>
              <a:rPr lang="en-US" dirty="0" smtClean="0"/>
              <a:t> CR002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 smtClean="0"/>
              <a:t>20250803021 – Rafi </a:t>
            </a:r>
            <a:r>
              <a:rPr lang="en-US" dirty="0" err="1" smtClean="0"/>
              <a:t>Andiansyah</a:t>
            </a:r>
            <a:endParaRPr lang="en-US" dirty="0" smtClean="0"/>
          </a:p>
          <a:p>
            <a:r>
              <a:rPr lang="en-US" dirty="0" smtClean="0"/>
              <a:t>20250803065 – </a:t>
            </a:r>
            <a:r>
              <a:rPr lang="en-US" dirty="0" err="1" smtClean="0"/>
              <a:t>Nisa</a:t>
            </a:r>
            <a:r>
              <a:rPr lang="en-US" dirty="0" smtClean="0"/>
              <a:t> </a:t>
            </a:r>
            <a:r>
              <a:rPr lang="en-US" dirty="0" err="1" smtClean="0"/>
              <a:t>Azzahra</a:t>
            </a:r>
            <a:r>
              <a:rPr lang="en-US" dirty="0" smtClean="0"/>
              <a:t> Abdullah</a:t>
            </a:r>
          </a:p>
          <a:p>
            <a:r>
              <a:rPr lang="en-US" dirty="0" smtClean="0"/>
              <a:t>20250803096 - </a:t>
            </a:r>
            <a:r>
              <a:rPr lang="en-US" dirty="0" err="1" smtClean="0"/>
              <a:t>Lovia</a:t>
            </a:r>
            <a:r>
              <a:rPr lang="en-US" dirty="0" smtClean="0"/>
              <a:t> </a:t>
            </a:r>
            <a:r>
              <a:rPr lang="en-US" dirty="0" err="1" smtClean="0"/>
              <a:t>pebri</a:t>
            </a:r>
            <a:r>
              <a:rPr lang="en-US" dirty="0" smtClean="0"/>
              <a:t> </a:t>
            </a:r>
            <a:r>
              <a:rPr lang="en-US" dirty="0" err="1" smtClean="0"/>
              <a:t>melati</a:t>
            </a:r>
            <a:endParaRPr lang="en-US" dirty="0" smtClean="0"/>
          </a:p>
          <a:p>
            <a:r>
              <a:rPr lang="en-US" dirty="0" smtClean="0"/>
              <a:t>20250801161 – </a:t>
            </a:r>
            <a:r>
              <a:rPr lang="en-US" dirty="0" err="1" smtClean="0"/>
              <a:t>erlang</a:t>
            </a:r>
            <a:r>
              <a:rPr lang="en-US" dirty="0" smtClean="0"/>
              <a:t> </a:t>
            </a:r>
            <a:r>
              <a:rPr lang="en-US" dirty="0" err="1" smtClean="0"/>
              <a:t>syahputra</a:t>
            </a:r>
            <a:endParaRPr lang="en-US" dirty="0" smtClean="0"/>
          </a:p>
          <a:p>
            <a:r>
              <a:rPr lang="en-US" dirty="0" smtClean="0"/>
              <a:t>20250803030 – Jehoshua Deron L.</a:t>
            </a:r>
          </a:p>
          <a:p>
            <a:r>
              <a:rPr lang="en-US" dirty="0" smtClean="0"/>
              <a:t>20250803067 – </a:t>
            </a:r>
            <a:r>
              <a:rPr lang="en-US" dirty="0" err="1" smtClean="0"/>
              <a:t>Adzra</a:t>
            </a:r>
            <a:r>
              <a:rPr lang="en-US" dirty="0" smtClean="0"/>
              <a:t> </a:t>
            </a:r>
            <a:r>
              <a:rPr lang="en-US" dirty="0" err="1" smtClean="0"/>
              <a:t>Ardelia</a:t>
            </a:r>
            <a:r>
              <a:rPr lang="en-US" dirty="0" smtClean="0"/>
              <a:t> </a:t>
            </a:r>
            <a:r>
              <a:rPr lang="en-US" dirty="0" err="1" smtClean="0"/>
              <a:t>Rahmah</a:t>
            </a:r>
            <a:endParaRPr lang="en-US" dirty="0" smtClean="0"/>
          </a:p>
          <a:p>
            <a:r>
              <a:rPr lang="en-US" dirty="0" smtClean="0"/>
              <a:t>20250803040 - </a:t>
            </a:r>
            <a:r>
              <a:rPr lang="en-US" dirty="0" err="1" smtClean="0"/>
              <a:t>Kurnia</a:t>
            </a:r>
            <a:r>
              <a:rPr lang="en-US" dirty="0" smtClean="0"/>
              <a:t> </a:t>
            </a:r>
            <a:r>
              <a:rPr lang="en-US" dirty="0" err="1" smtClean="0"/>
              <a:t>Indra</a:t>
            </a:r>
            <a:r>
              <a:rPr lang="en-US" dirty="0" smtClean="0"/>
              <a:t> </a:t>
            </a:r>
            <a:r>
              <a:rPr lang="en-US" dirty="0" err="1" smtClean="0"/>
              <a:t>suwarly</a:t>
            </a:r>
            <a:endParaRPr lang="en-US" dirty="0" smtClean="0"/>
          </a:p>
          <a:p>
            <a:r>
              <a:rPr lang="en-US" dirty="0" smtClean="0"/>
              <a:t>20250803023 – </a:t>
            </a:r>
            <a:r>
              <a:rPr lang="en-US" dirty="0" err="1" smtClean="0"/>
              <a:t>Anggun</a:t>
            </a:r>
            <a:r>
              <a:rPr lang="en-US" dirty="0" smtClean="0"/>
              <a:t> </a:t>
            </a:r>
            <a:r>
              <a:rPr lang="en-US" dirty="0" err="1" smtClean="0"/>
              <a:t>Deanoerma</a:t>
            </a:r>
            <a:endParaRPr lang="en-US" dirty="0" smtClean="0"/>
          </a:p>
          <a:p>
            <a:r>
              <a:rPr lang="en-US" dirty="0" smtClean="0"/>
              <a:t>20250801087 – Ela </a:t>
            </a:r>
            <a:r>
              <a:rPr lang="en-US" dirty="0" err="1" smtClean="0"/>
              <a:t>Eliawati</a:t>
            </a:r>
            <a:endParaRPr lang="en-US" dirty="0" smtClean="0"/>
          </a:p>
          <a:p>
            <a:r>
              <a:rPr lang="en-US" dirty="0" smtClean="0"/>
              <a:t>20250803048 – </a:t>
            </a:r>
            <a:r>
              <a:rPr lang="en-US" dirty="0" err="1" smtClean="0"/>
              <a:t>Asyifa</a:t>
            </a:r>
            <a:r>
              <a:rPr lang="en-US" dirty="0" smtClean="0"/>
              <a:t> </a:t>
            </a:r>
            <a:r>
              <a:rPr lang="en-US" dirty="0" err="1" smtClean="0"/>
              <a:t>Maulidina</a:t>
            </a:r>
            <a:r>
              <a:rPr lang="en-US" dirty="0" smtClean="0"/>
              <a:t> </a:t>
            </a:r>
            <a:r>
              <a:rPr lang="en-US" dirty="0" err="1" smtClean="0"/>
              <a:t>Syakib</a:t>
            </a:r>
            <a:endParaRPr lang="en-US" dirty="0" smtClean="0"/>
          </a:p>
          <a:p>
            <a:r>
              <a:rPr lang="en-US" dirty="0" smtClean="0"/>
              <a:t>20250803003 - </a:t>
            </a:r>
            <a:r>
              <a:rPr lang="en-US" dirty="0" err="1" smtClean="0"/>
              <a:t>Rafli</a:t>
            </a:r>
            <a:r>
              <a:rPr lang="en-US" dirty="0" smtClean="0"/>
              <a:t> </a:t>
            </a:r>
            <a:r>
              <a:rPr lang="en-US" dirty="0" err="1" smtClean="0"/>
              <a:t>Adi</a:t>
            </a:r>
            <a:r>
              <a:rPr lang="en-US" dirty="0" smtClean="0"/>
              <a:t> </a:t>
            </a:r>
            <a:r>
              <a:rPr lang="en-US" dirty="0" err="1" smtClean="0"/>
              <a:t>Saputra</a:t>
            </a:r>
            <a:endParaRPr lang="en-US" dirty="0" smtClean="0"/>
          </a:p>
          <a:p>
            <a:r>
              <a:rPr lang="en-US" dirty="0" smtClean="0"/>
              <a:t>20250801200 – Habib Al-Mahdi</a:t>
            </a:r>
          </a:p>
          <a:p>
            <a:r>
              <a:rPr lang="en-US" dirty="0" smtClean="0"/>
              <a:t>20250801144 – </a:t>
            </a:r>
            <a:r>
              <a:rPr lang="en-US" dirty="0" err="1" smtClean="0"/>
              <a:t>Ringgo</a:t>
            </a:r>
            <a:r>
              <a:rPr lang="en-US" dirty="0" smtClean="0"/>
              <a:t> </a:t>
            </a:r>
            <a:r>
              <a:rPr lang="en-US" dirty="0" err="1" smtClean="0"/>
              <a:t>zein</a:t>
            </a:r>
            <a:r>
              <a:rPr lang="en-US" dirty="0" smtClean="0"/>
              <a:t> </a:t>
            </a:r>
            <a:r>
              <a:rPr lang="en-US" dirty="0" err="1" smtClean="0"/>
              <a:t>athallah</a:t>
            </a:r>
            <a:endParaRPr lang="en-US" dirty="0" smtClean="0"/>
          </a:p>
          <a:p>
            <a:r>
              <a:rPr lang="en-US" dirty="0" smtClean="0"/>
              <a:t>20250801127 – </a:t>
            </a:r>
            <a:r>
              <a:rPr lang="en-US" dirty="0" err="1" smtClean="0"/>
              <a:t>Naufal</a:t>
            </a:r>
            <a:r>
              <a:rPr lang="en-US" dirty="0" smtClean="0"/>
              <a:t> </a:t>
            </a:r>
            <a:r>
              <a:rPr lang="en-US" dirty="0" err="1" smtClean="0"/>
              <a:t>Taqi</a:t>
            </a:r>
            <a:r>
              <a:rPr lang="en-US" dirty="0" smtClean="0"/>
              <a:t> </a:t>
            </a:r>
            <a:r>
              <a:rPr lang="en-US" dirty="0" err="1" smtClean="0"/>
              <a:t>Attalah</a:t>
            </a:r>
            <a:endParaRPr lang="en-US" dirty="0" smtClean="0"/>
          </a:p>
          <a:p>
            <a:r>
              <a:rPr lang="en-US" dirty="0" smtClean="0"/>
              <a:t>20250801026 – </a:t>
            </a:r>
            <a:r>
              <a:rPr lang="en-US" dirty="0" err="1" smtClean="0"/>
              <a:t>Radith</a:t>
            </a:r>
            <a:r>
              <a:rPr lang="en-US" dirty="0" smtClean="0"/>
              <a:t> </a:t>
            </a:r>
            <a:r>
              <a:rPr lang="en-US" dirty="0" err="1" smtClean="0"/>
              <a:t>Zacky</a:t>
            </a:r>
            <a:r>
              <a:rPr lang="en-US" dirty="0" smtClean="0"/>
              <a:t> Zidane</a:t>
            </a:r>
          </a:p>
          <a:p>
            <a:r>
              <a:rPr lang="en-US" dirty="0" smtClean="0"/>
              <a:t>20250803020 – Fernand </a:t>
            </a:r>
            <a:r>
              <a:rPr lang="en-US" dirty="0" err="1" smtClean="0"/>
              <a:t>Hanifan</a:t>
            </a:r>
            <a:r>
              <a:rPr lang="en-US" dirty="0" smtClean="0"/>
              <a:t> </a:t>
            </a:r>
            <a:r>
              <a:rPr lang="en-US" dirty="0" err="1" smtClean="0"/>
              <a:t>Sabriansyah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881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Latihan</a:t>
            </a:r>
            <a:r>
              <a:rPr lang="en-US" dirty="0" smtClean="0"/>
              <a:t> CR002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20250803030 – Jehoshua Deron L.</a:t>
            </a:r>
          </a:p>
          <a:p>
            <a:r>
              <a:rPr lang="en-US" dirty="0" smtClean="0"/>
              <a:t>20250803021 – Rafi </a:t>
            </a:r>
            <a:r>
              <a:rPr lang="en-US" dirty="0" err="1" smtClean="0"/>
              <a:t>Andiansyah</a:t>
            </a:r>
            <a:endParaRPr lang="en-US" dirty="0" smtClean="0"/>
          </a:p>
          <a:p>
            <a:r>
              <a:rPr lang="en-US" dirty="0" smtClean="0"/>
              <a:t>20250803094 – Dimas </a:t>
            </a:r>
            <a:r>
              <a:rPr lang="en-US" dirty="0" err="1" smtClean="0"/>
              <a:t>adhiswara</a:t>
            </a:r>
            <a:endParaRPr lang="en-US" dirty="0"/>
          </a:p>
          <a:p>
            <a:r>
              <a:rPr lang="en-US" dirty="0" smtClean="0"/>
              <a:t>20250801203 – Muhammad Rafi </a:t>
            </a:r>
            <a:r>
              <a:rPr lang="en-US" dirty="0" err="1" smtClean="0"/>
              <a:t>Pristhiansyah</a:t>
            </a:r>
            <a:endParaRPr lang="en-US" dirty="0" smtClean="0"/>
          </a:p>
          <a:p>
            <a:r>
              <a:rPr lang="en-US" dirty="0" err="1" smtClean="0"/>
              <a:t>Nur</a:t>
            </a:r>
            <a:r>
              <a:rPr lang="en-US" dirty="0" smtClean="0"/>
              <a:t> </a:t>
            </a:r>
            <a:r>
              <a:rPr lang="en-US" dirty="0" err="1" smtClean="0"/>
              <a:t>anam</a:t>
            </a:r>
            <a:r>
              <a:rPr lang="en-US" dirty="0" smtClean="0"/>
              <a:t> </a:t>
            </a:r>
            <a:r>
              <a:rPr lang="en-US" dirty="0" err="1" smtClean="0"/>
              <a:t>aji</a:t>
            </a:r>
            <a:r>
              <a:rPr lang="en-US" dirty="0" smtClean="0"/>
              <a:t> </a:t>
            </a:r>
            <a:r>
              <a:rPr lang="en-US" dirty="0" err="1" smtClean="0"/>
              <a:t>prawoto</a:t>
            </a:r>
            <a:r>
              <a:rPr lang="en-US" dirty="0" smtClean="0"/>
              <a:t> – 20250801133</a:t>
            </a:r>
          </a:p>
          <a:p>
            <a:r>
              <a:rPr lang="en-US" dirty="0" smtClean="0"/>
              <a:t>Muhamad </a:t>
            </a:r>
            <a:r>
              <a:rPr lang="en-US" dirty="0" err="1" smtClean="0"/>
              <a:t>dias</a:t>
            </a:r>
            <a:r>
              <a:rPr lang="en-US" dirty="0" smtClean="0"/>
              <a:t> saputra-2025080103</a:t>
            </a:r>
          </a:p>
          <a:p>
            <a:r>
              <a:rPr lang="en-US" dirty="0" err="1" smtClean="0"/>
              <a:t>Juanda</a:t>
            </a:r>
            <a:r>
              <a:rPr lang="en-US" dirty="0" smtClean="0"/>
              <a:t> </a:t>
            </a:r>
            <a:r>
              <a:rPr lang="en-US" dirty="0" err="1" smtClean="0"/>
              <a:t>syahputra</a:t>
            </a:r>
            <a:r>
              <a:rPr lang="en-US" dirty="0" smtClean="0"/>
              <a:t>- 20250801067</a:t>
            </a:r>
          </a:p>
          <a:p>
            <a:r>
              <a:rPr lang="en-US" dirty="0" smtClean="0"/>
              <a:t>20250803067 – </a:t>
            </a:r>
            <a:r>
              <a:rPr lang="en-US" dirty="0" err="1" smtClean="0"/>
              <a:t>Adzra</a:t>
            </a:r>
            <a:r>
              <a:rPr lang="en-US" dirty="0" smtClean="0"/>
              <a:t> </a:t>
            </a:r>
            <a:r>
              <a:rPr lang="en-US" dirty="0" err="1" smtClean="0"/>
              <a:t>Ardelia</a:t>
            </a:r>
            <a:r>
              <a:rPr lang="en-US" dirty="0" smtClean="0"/>
              <a:t> </a:t>
            </a:r>
            <a:r>
              <a:rPr lang="en-US" dirty="0" err="1" smtClean="0"/>
              <a:t>Rahmah</a:t>
            </a:r>
            <a:endParaRPr lang="en-US" dirty="0" smtClean="0"/>
          </a:p>
          <a:p>
            <a:r>
              <a:rPr lang="en-US" dirty="0" smtClean="0"/>
              <a:t>20250801169 – </a:t>
            </a:r>
            <a:r>
              <a:rPr lang="en-US" dirty="0" err="1" smtClean="0"/>
              <a:t>siti</a:t>
            </a:r>
            <a:r>
              <a:rPr lang="en-US" dirty="0" smtClean="0"/>
              <a:t> </a:t>
            </a:r>
            <a:r>
              <a:rPr lang="en-US" dirty="0" err="1" smtClean="0"/>
              <a:t>zakiyatun</a:t>
            </a:r>
            <a:r>
              <a:rPr lang="en-US" dirty="0" smtClean="0"/>
              <a:t> </a:t>
            </a:r>
            <a:r>
              <a:rPr lang="en-US" dirty="0" err="1" smtClean="0"/>
              <a:t>nufus</a:t>
            </a:r>
            <a:endParaRPr lang="en-US" dirty="0" smtClean="0"/>
          </a:p>
          <a:p>
            <a:r>
              <a:rPr lang="en-US" dirty="0" smtClean="0"/>
              <a:t>20250801023 – </a:t>
            </a:r>
            <a:r>
              <a:rPr lang="en-US" dirty="0" err="1" smtClean="0"/>
              <a:t>Alya</a:t>
            </a:r>
            <a:r>
              <a:rPr lang="en-US" dirty="0" smtClean="0"/>
              <a:t> </a:t>
            </a:r>
            <a:r>
              <a:rPr lang="en-US" dirty="0" err="1" smtClean="0"/>
              <a:t>Khareunisa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20250803023- </a:t>
            </a:r>
            <a:r>
              <a:rPr lang="en-US" dirty="0" err="1" smtClean="0"/>
              <a:t>Anggun</a:t>
            </a:r>
            <a:r>
              <a:rPr lang="en-US" dirty="0" smtClean="0"/>
              <a:t> </a:t>
            </a:r>
            <a:r>
              <a:rPr lang="en-US" dirty="0" err="1" smtClean="0"/>
              <a:t>Deanoerma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137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Latihan</a:t>
            </a:r>
            <a:r>
              <a:rPr lang="en-US" dirty="0" smtClean="0"/>
              <a:t> CR002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20250801167 </a:t>
            </a:r>
            <a:r>
              <a:rPr lang="en-US" dirty="0" err="1" smtClean="0"/>
              <a:t>iyas</a:t>
            </a:r>
            <a:r>
              <a:rPr lang="en-US" dirty="0" smtClean="0"/>
              <a:t> </a:t>
            </a:r>
            <a:r>
              <a:rPr lang="en-US" dirty="0" err="1" smtClean="0"/>
              <a:t>destrino</a:t>
            </a:r>
            <a:r>
              <a:rPr lang="en-US" dirty="0" smtClean="0"/>
              <a:t> </a:t>
            </a:r>
            <a:r>
              <a:rPr lang="en-US" dirty="0" err="1" smtClean="0"/>
              <a:t>putra</a:t>
            </a:r>
            <a:endParaRPr lang="en-US" dirty="0" smtClean="0"/>
          </a:p>
          <a:p>
            <a:r>
              <a:rPr lang="en-US" dirty="0" smtClean="0"/>
              <a:t>20250801172-Ruliansyah</a:t>
            </a:r>
          </a:p>
          <a:p>
            <a:r>
              <a:rPr lang="en-US" dirty="0" smtClean="0"/>
              <a:t>20250801127 – </a:t>
            </a:r>
            <a:r>
              <a:rPr lang="en-US" dirty="0" err="1" smtClean="0"/>
              <a:t>Naufal</a:t>
            </a:r>
            <a:r>
              <a:rPr lang="en-US" dirty="0" smtClean="0"/>
              <a:t> </a:t>
            </a:r>
            <a:r>
              <a:rPr lang="en-US" dirty="0" err="1" smtClean="0"/>
              <a:t>Taqi</a:t>
            </a:r>
            <a:r>
              <a:rPr lang="en-US" dirty="0" smtClean="0"/>
              <a:t> </a:t>
            </a:r>
            <a:r>
              <a:rPr lang="en-US" dirty="0" err="1" smtClean="0"/>
              <a:t>Attalah</a:t>
            </a:r>
            <a:r>
              <a:rPr lang="en-US" dirty="0" smtClean="0"/>
              <a:t>\</a:t>
            </a:r>
          </a:p>
          <a:p>
            <a:r>
              <a:rPr lang="en-US" dirty="0" smtClean="0"/>
              <a:t>20250803048 – </a:t>
            </a:r>
            <a:r>
              <a:rPr lang="en-US" dirty="0" err="1" smtClean="0"/>
              <a:t>Asyifa</a:t>
            </a:r>
            <a:r>
              <a:rPr lang="en-US" dirty="0" smtClean="0"/>
              <a:t> </a:t>
            </a:r>
            <a:r>
              <a:rPr lang="en-US" dirty="0" err="1" smtClean="0"/>
              <a:t>Maulidina</a:t>
            </a:r>
            <a:r>
              <a:rPr lang="en-US" dirty="0" smtClean="0"/>
              <a:t> </a:t>
            </a:r>
            <a:r>
              <a:rPr lang="en-US" dirty="0" err="1" smtClean="0"/>
              <a:t>Syakib</a:t>
            </a:r>
            <a:endParaRPr lang="en-US" dirty="0" smtClean="0"/>
          </a:p>
          <a:p>
            <a:r>
              <a:rPr lang="en-US" dirty="0" smtClean="0"/>
              <a:t>20250801144 – </a:t>
            </a:r>
            <a:r>
              <a:rPr lang="en-US" dirty="0" err="1" smtClean="0"/>
              <a:t>Ringgo</a:t>
            </a:r>
            <a:r>
              <a:rPr lang="en-US" dirty="0" smtClean="0"/>
              <a:t> </a:t>
            </a:r>
            <a:r>
              <a:rPr lang="en-US" dirty="0" err="1" smtClean="0"/>
              <a:t>Zein</a:t>
            </a:r>
            <a:r>
              <a:rPr lang="en-US" dirty="0" smtClean="0"/>
              <a:t> </a:t>
            </a:r>
            <a:r>
              <a:rPr lang="en-US" dirty="0" err="1" smtClean="0"/>
              <a:t>athallah</a:t>
            </a:r>
            <a:endParaRPr lang="en-US" dirty="0"/>
          </a:p>
          <a:p>
            <a:r>
              <a:rPr lang="en-US" dirty="0" smtClean="0"/>
              <a:t>20250801223 – Muhammad </a:t>
            </a:r>
            <a:r>
              <a:rPr lang="en-US" dirty="0" err="1" smtClean="0"/>
              <a:t>Rifa’I</a:t>
            </a:r>
            <a:endParaRPr lang="en-US" dirty="0" smtClean="0"/>
          </a:p>
          <a:p>
            <a:r>
              <a:rPr lang="en-US" dirty="0" smtClean="0"/>
              <a:t>20250801200 –Habib Al-Mahdi</a:t>
            </a:r>
          </a:p>
          <a:p>
            <a:r>
              <a:rPr lang="en-US" dirty="0" smtClean="0"/>
              <a:t>20250801026 – </a:t>
            </a:r>
            <a:r>
              <a:rPr lang="en-US" dirty="0" err="1" smtClean="0"/>
              <a:t>Radith</a:t>
            </a:r>
            <a:r>
              <a:rPr lang="en-US" dirty="0" smtClean="0"/>
              <a:t> </a:t>
            </a:r>
            <a:r>
              <a:rPr lang="en-US" dirty="0" err="1" smtClean="0"/>
              <a:t>Zacky</a:t>
            </a:r>
            <a:r>
              <a:rPr lang="en-US" dirty="0" smtClean="0"/>
              <a:t> Zidane</a:t>
            </a:r>
          </a:p>
          <a:p>
            <a:r>
              <a:rPr lang="en-US" dirty="0" smtClean="0"/>
              <a:t>20250801240 – </a:t>
            </a:r>
            <a:r>
              <a:rPr lang="en-US" dirty="0" err="1" smtClean="0"/>
              <a:t>Rifki</a:t>
            </a:r>
            <a:r>
              <a:rPr lang="en-US" dirty="0" smtClean="0"/>
              <a:t> </a:t>
            </a:r>
            <a:r>
              <a:rPr lang="en-US" dirty="0" err="1" smtClean="0"/>
              <a:t>Fakhri</a:t>
            </a:r>
            <a:r>
              <a:rPr lang="en-US" dirty="0" smtClean="0"/>
              <a:t> Hamid</a:t>
            </a:r>
          </a:p>
          <a:p>
            <a:r>
              <a:rPr lang="en-US" dirty="0" smtClean="0"/>
              <a:t>20250803013 – Putra </a:t>
            </a:r>
            <a:r>
              <a:rPr lang="en-US" dirty="0" err="1" smtClean="0"/>
              <a:t>Setiawan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852012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20250801143 – Abdul  </a:t>
            </a:r>
            <a:r>
              <a:rPr lang="en-US" dirty="0" err="1" smtClean="0"/>
              <a:t>Haikal</a:t>
            </a:r>
            <a:r>
              <a:rPr lang="en-US" dirty="0" smtClean="0"/>
              <a:t> Fatah</a:t>
            </a:r>
          </a:p>
          <a:p>
            <a:r>
              <a:rPr lang="en-US" dirty="0" smtClean="0"/>
              <a:t>20250803003 – </a:t>
            </a:r>
            <a:r>
              <a:rPr lang="en-US" dirty="0" err="1" smtClean="0"/>
              <a:t>Rafli</a:t>
            </a:r>
            <a:r>
              <a:rPr lang="en-US" dirty="0" smtClean="0"/>
              <a:t> </a:t>
            </a:r>
            <a:r>
              <a:rPr lang="en-US" dirty="0" err="1" smtClean="0"/>
              <a:t>Adi</a:t>
            </a:r>
            <a:r>
              <a:rPr lang="en-US" dirty="0" smtClean="0"/>
              <a:t> </a:t>
            </a:r>
            <a:r>
              <a:rPr lang="en-US" dirty="0" err="1" smtClean="0"/>
              <a:t>Saputra</a:t>
            </a:r>
            <a:endParaRPr lang="en-US" dirty="0" smtClean="0"/>
          </a:p>
          <a:p>
            <a:r>
              <a:rPr lang="en-US" dirty="0" smtClean="0"/>
              <a:t>20250803085 – Muhamad </a:t>
            </a:r>
            <a:r>
              <a:rPr lang="en-US" dirty="0" err="1" smtClean="0"/>
              <a:t>Rajib</a:t>
            </a:r>
            <a:r>
              <a:rPr lang="en-US" dirty="0" smtClean="0"/>
              <a:t> </a:t>
            </a:r>
            <a:r>
              <a:rPr lang="en-US" dirty="0" err="1" smtClean="0"/>
              <a:t>Gusti</a:t>
            </a:r>
            <a:r>
              <a:rPr lang="en-US" dirty="0" smtClean="0"/>
              <a:t> </a:t>
            </a:r>
            <a:r>
              <a:rPr lang="en-US" dirty="0" err="1" smtClean="0"/>
              <a:t>Saputra</a:t>
            </a:r>
            <a:endParaRPr lang="en-US" dirty="0" smtClean="0"/>
          </a:p>
          <a:p>
            <a:r>
              <a:rPr lang="en-US" dirty="0" smtClean="0"/>
              <a:t>20250803017 – </a:t>
            </a:r>
            <a:r>
              <a:rPr lang="en-US" dirty="0" err="1" smtClean="0"/>
              <a:t>Zaskia</a:t>
            </a:r>
            <a:r>
              <a:rPr lang="en-US" dirty="0" smtClean="0"/>
              <a:t> </a:t>
            </a:r>
            <a:r>
              <a:rPr lang="en-US" dirty="0" err="1" smtClean="0"/>
              <a:t>Hadiza</a:t>
            </a:r>
            <a:endParaRPr lang="en-US" dirty="0" smtClean="0"/>
          </a:p>
          <a:p>
            <a:r>
              <a:rPr lang="en-US" dirty="0" smtClean="0"/>
              <a:t>20250801074 – </a:t>
            </a:r>
            <a:r>
              <a:rPr lang="en-US" dirty="0" err="1" smtClean="0"/>
              <a:t>Arsa</a:t>
            </a:r>
            <a:r>
              <a:rPr lang="en-US" dirty="0" smtClean="0"/>
              <a:t> </a:t>
            </a:r>
            <a:r>
              <a:rPr lang="en-US" dirty="0" err="1" smtClean="0"/>
              <a:t>Afdial</a:t>
            </a:r>
            <a:r>
              <a:rPr lang="en-US" dirty="0" smtClean="0"/>
              <a:t> Nusa Tama</a:t>
            </a:r>
          </a:p>
          <a:p>
            <a:r>
              <a:rPr lang="en-US" dirty="0" smtClean="0"/>
              <a:t>20250801254 – </a:t>
            </a:r>
            <a:r>
              <a:rPr lang="en-US" dirty="0" err="1" smtClean="0"/>
              <a:t>Putri</a:t>
            </a:r>
            <a:r>
              <a:rPr lang="en-US" dirty="0" smtClean="0"/>
              <a:t> </a:t>
            </a:r>
            <a:r>
              <a:rPr lang="en-US" dirty="0" err="1" smtClean="0"/>
              <a:t>Caessa</a:t>
            </a:r>
            <a:r>
              <a:rPr lang="en-US" dirty="0" smtClean="0"/>
              <a:t> </a:t>
            </a:r>
            <a:r>
              <a:rPr lang="en-US" dirty="0" err="1" smtClean="0"/>
              <a:t>Aulia</a:t>
            </a:r>
            <a:r>
              <a:rPr lang="en-US" dirty="0" smtClean="0"/>
              <a:t> Sari</a:t>
            </a:r>
          </a:p>
          <a:p>
            <a:r>
              <a:rPr lang="en-US" dirty="0" smtClean="0"/>
              <a:t>20250803011 - Grace </a:t>
            </a:r>
            <a:r>
              <a:rPr lang="en-US" dirty="0" err="1" smtClean="0"/>
              <a:t>Praisa</a:t>
            </a:r>
            <a:r>
              <a:rPr lang="en-US" dirty="0" smtClean="0"/>
              <a:t> </a:t>
            </a:r>
            <a:r>
              <a:rPr lang="en-US" dirty="0" err="1" smtClean="0"/>
              <a:t>Christianti</a:t>
            </a:r>
            <a:r>
              <a:rPr lang="en-US" dirty="0" smtClean="0"/>
              <a:t> </a:t>
            </a:r>
          </a:p>
          <a:p>
            <a:r>
              <a:rPr lang="en-US" dirty="0" smtClean="0"/>
              <a:t>20250801226 – </a:t>
            </a:r>
            <a:r>
              <a:rPr lang="en-US" dirty="0" err="1" smtClean="0"/>
              <a:t>Misel</a:t>
            </a:r>
            <a:r>
              <a:rPr lang="en-US" dirty="0" smtClean="0"/>
              <a:t> </a:t>
            </a:r>
            <a:r>
              <a:rPr lang="en-US" dirty="0" err="1" smtClean="0"/>
              <a:t>Oktaviani</a:t>
            </a:r>
            <a:r>
              <a:rPr lang="en-US" dirty="0" smtClean="0"/>
              <a:t> </a:t>
            </a:r>
            <a:r>
              <a:rPr lang="en-US" dirty="0" err="1" smtClean="0"/>
              <a:t>Putri</a:t>
            </a:r>
            <a:endParaRPr lang="en-US" dirty="0" smtClean="0"/>
          </a:p>
          <a:p>
            <a:r>
              <a:rPr lang="en-US" dirty="0" smtClean="0"/>
              <a:t>20250803020 – Fernand </a:t>
            </a:r>
            <a:r>
              <a:rPr lang="en-US" dirty="0" err="1" smtClean="0"/>
              <a:t>Hanifan</a:t>
            </a:r>
            <a:r>
              <a:rPr lang="en-US" dirty="0" smtClean="0"/>
              <a:t> </a:t>
            </a:r>
            <a:r>
              <a:rPr lang="en-US" dirty="0" err="1" smtClean="0"/>
              <a:t>Sabriansyah</a:t>
            </a:r>
            <a:endParaRPr lang="en-US" dirty="0" smtClean="0"/>
          </a:p>
          <a:p>
            <a:r>
              <a:rPr lang="en-US" dirty="0" smtClean="0"/>
              <a:t>20250801242 – Muhammad </a:t>
            </a:r>
            <a:r>
              <a:rPr lang="en-US" dirty="0" err="1" smtClean="0"/>
              <a:t>Dafiq</a:t>
            </a:r>
            <a:r>
              <a:rPr lang="en-US" dirty="0" smtClean="0"/>
              <a:t> Rabbani </a:t>
            </a:r>
            <a:r>
              <a:rPr lang="en-US" dirty="0" err="1" smtClean="0"/>
              <a:t>Azra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985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UEU Color">
      <a:dk1>
        <a:srgbClr val="0E60AC"/>
      </a:dk1>
      <a:lt1>
        <a:sysClr val="window" lastClr="FFFFFF"/>
      </a:lt1>
      <a:dk2>
        <a:srgbClr val="0E60AC"/>
      </a:dk2>
      <a:lt2>
        <a:srgbClr val="FFFFFF"/>
      </a:lt2>
      <a:accent1>
        <a:srgbClr val="0B4E8B"/>
      </a:accent1>
      <a:accent2>
        <a:srgbClr val="EF7220"/>
      </a:accent2>
      <a:accent3>
        <a:srgbClr val="0F68B9"/>
      </a:accent3>
      <a:accent4>
        <a:srgbClr val="DA6210"/>
      </a:accent4>
      <a:accent5>
        <a:srgbClr val="D8D8D8"/>
      </a:accent5>
      <a:accent6>
        <a:srgbClr val="0B4E8B"/>
      </a:accent6>
      <a:hlink>
        <a:srgbClr val="DA6210"/>
      </a:hlink>
      <a:folHlink>
        <a:srgbClr val="EF7220"/>
      </a:folHlink>
    </a:clrScheme>
    <a:fontScheme name="Font UEU Basic">
      <a:majorFont>
        <a:latin typeface="Tw Cen MT"/>
        <a:ea typeface=""/>
        <a:cs typeface=""/>
      </a:majorFont>
      <a:minorFont>
        <a:latin typeface="Tw Cen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 PPT (Sudah Transform)" id="{4A1D9D93-713F-459F-BBFB-1DE982FF7424}" vid="{69288B8F-0A48-4C79-93C3-AC0192282F4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 PPT (Sudah Transform)</Template>
  <TotalTime>1489</TotalTime>
  <Words>1182</Words>
  <Application>Microsoft Office PowerPoint</Application>
  <PresentationFormat>Widescreen</PresentationFormat>
  <Paragraphs>259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Courier New</vt:lpstr>
      <vt:lpstr>Symbol</vt:lpstr>
      <vt:lpstr>Times New Roman</vt:lpstr>
      <vt:lpstr>Tw Cen MT</vt:lpstr>
      <vt:lpstr>Office Theme</vt:lpstr>
      <vt:lpstr>STRUKTUR DATA</vt:lpstr>
      <vt:lpstr>PowerPoint Presentation</vt:lpstr>
      <vt:lpstr>PowerPoint Presentation</vt:lpstr>
      <vt:lpstr>PowerPoint Presentation</vt:lpstr>
      <vt:lpstr>PowerPoint Presentation</vt:lpstr>
      <vt:lpstr>Apa Itu Array?</vt:lpstr>
      <vt:lpstr>Pendahuluan</vt:lpstr>
      <vt:lpstr>Array</vt:lpstr>
      <vt:lpstr>Array</vt:lpstr>
      <vt:lpstr>Array Dimensi Satu</vt:lpstr>
      <vt:lpstr>Visualisasi Array</vt:lpstr>
      <vt:lpstr>Cara Akses Array</vt:lpstr>
      <vt:lpstr>Mengisi Data Array</vt:lpstr>
      <vt:lpstr>Inisialisasi Array</vt:lpstr>
      <vt:lpstr>Array Dimensi Dua</vt:lpstr>
      <vt:lpstr>Array Dimensi Dua</vt:lpstr>
      <vt:lpstr>Array Dimensi Tiga</vt:lpstr>
      <vt:lpstr>Cara Membuat Array pada C++</vt:lpstr>
      <vt:lpstr>Cara Mengambil Data dari Array</vt:lpstr>
      <vt:lpstr>Contoh Array</vt:lpstr>
      <vt:lpstr>Mengisi Ulang Data pada Array</vt:lpstr>
      <vt:lpstr>Contoh Array</vt:lpstr>
      <vt:lpstr>Menggunakan Perulangan dan Array</vt:lpstr>
      <vt:lpstr>Menggunakan Perulangan dan Array</vt:lpstr>
      <vt:lpstr>Tugas Sesi 2</vt:lpstr>
      <vt:lpstr>Any Question</vt:lpstr>
      <vt:lpstr>Terima Kasih</vt:lpstr>
      <vt:lpstr>Nilai tambah cr001</vt:lpstr>
      <vt:lpstr>Nilai Tambah CR002</vt:lpstr>
      <vt:lpstr>Latihan CR002</vt:lpstr>
      <vt:lpstr>Latihan CR002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KECERDASAN ARTIFISIAL</dc:title>
  <dc:creator>Jessica Christianna</dc:creator>
  <cp:lastModifiedBy>MAHASISWA</cp:lastModifiedBy>
  <cp:revision>58</cp:revision>
  <dcterms:created xsi:type="dcterms:W3CDTF">2023-08-22T04:41:51Z</dcterms:created>
  <dcterms:modified xsi:type="dcterms:W3CDTF">2026-04-08T10:58:17Z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2023-08-22T04:50:37Z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cdf0f113-eac9-4316-8cb9-e23830181d37</vt:lpwstr>
  </property>
  <property fmtid="{D5CDD505-2E9C-101B-9397-08002B2CF9AE}" pid="7" name="MSIP_Label_defa4170-0d19-0005-0004-bc88714345d2_ActionId">
    <vt:lpwstr>b6fc0939-d182-4b3d-88d3-9d196aab1410</vt:lpwstr>
  </property>
  <property fmtid="{D5CDD505-2E9C-101B-9397-08002B2CF9AE}" pid="8" name="MSIP_Label_defa4170-0d19-0005-0004-bc88714345d2_ContentBits">
    <vt:lpwstr>0</vt:lpwstr>
  </property>
</Properties>
</file>